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438912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2A3033"/>
                </a:solidFill>
                <a:latin typeface="맑은 고딕"/>
              </a:rPr>
              <a:t>RHARA SHOE  /  라라슈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201168"/>
            <a:ext cx="269748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535C5E"/>
                </a:solidFill>
                <a:latin typeface="맑은 고딕"/>
              </a:rPr>
              <a:t>ONE-PAGE SCRIPT / 전체 대본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512064"/>
            <a:ext cx="11283696" cy="16459"/>
          </a:xfrm>
          <a:prstGeom prst="rect">
            <a:avLst/>
          </a:prstGeom>
          <a:solidFill>
            <a:srgbClr val="E3E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30936"/>
            <a:ext cx="8961120" cy="46634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</a:rPr>
              <a:t>전체 대본 · 한눈에 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143556"/>
            <a:ext cx="10241280" cy="200055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 dirty="0">
                <a:solidFill>
                  <a:srgbClr val="2A3033"/>
                </a:solidFill>
                <a:latin typeface="맑은 고딕"/>
              </a:rPr>
              <a:t>30초 </a:t>
            </a:r>
            <a:r>
              <a:rPr sz="1300" b="0" i="0" dirty="0" err="1">
                <a:solidFill>
                  <a:srgbClr val="2A3033"/>
                </a:solidFill>
                <a:latin typeface="맑은 고딕"/>
              </a:rPr>
              <a:t>본편</a:t>
            </a:r>
            <a:r>
              <a:rPr sz="1300" b="0" i="0" dirty="0">
                <a:solidFill>
                  <a:srgbClr val="2A3033"/>
                </a:solidFill>
                <a:latin typeface="맑은 고딕"/>
              </a:rPr>
              <a:t> + </a:t>
            </a:r>
            <a:r>
              <a:rPr sz="1300" b="0" i="0" dirty="0" err="1">
                <a:solidFill>
                  <a:srgbClr val="2A3033"/>
                </a:solidFill>
                <a:latin typeface="맑은 고딕"/>
              </a:rPr>
              <a:t>브랜드</a:t>
            </a:r>
            <a:r>
              <a:rPr sz="1300" b="0" i="0" dirty="0">
                <a:solidFill>
                  <a:srgbClr val="2A3033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2A3033"/>
                </a:solidFill>
                <a:latin typeface="맑은 고딕"/>
              </a:rPr>
              <a:t>엔딩</a:t>
            </a:r>
            <a:r>
              <a:rPr sz="1300" b="0" i="0" dirty="0">
                <a:solidFill>
                  <a:srgbClr val="2A3033"/>
                </a:solidFill>
                <a:latin typeface="맑은 고딕"/>
              </a:rPr>
              <a:t> 2~3초  |  </a:t>
            </a:r>
            <a:r>
              <a:rPr sz="1300" b="0" i="0" dirty="0" err="1">
                <a:solidFill>
                  <a:srgbClr val="2A3033"/>
                </a:solidFill>
                <a:latin typeface="맑은 고딕"/>
              </a:rPr>
              <a:t>의사</a:t>
            </a:r>
            <a:r>
              <a:rPr lang="en-US" sz="1300" b="0" i="0" dirty="0">
                <a:solidFill>
                  <a:srgbClr val="2A3033"/>
                </a:solidFill>
                <a:latin typeface="맑은 고딕"/>
              </a:rPr>
              <a:t>(</a:t>
            </a:r>
            <a:r>
              <a:rPr lang="ko-KR" altLang="en-US" sz="1300" b="0" i="0" dirty="0" err="1">
                <a:solidFill>
                  <a:srgbClr val="2A3033"/>
                </a:solidFill>
                <a:latin typeface="맑은 고딕"/>
              </a:rPr>
              <a:t>이문홍</a:t>
            </a:r>
            <a:r>
              <a:rPr lang="ko-KR" altLang="en-US" sz="1300" b="0" i="0" dirty="0">
                <a:solidFill>
                  <a:srgbClr val="2A3033"/>
                </a:solidFill>
                <a:latin typeface="맑은 고딕"/>
              </a:rPr>
              <a:t> 정형외과 전문의</a:t>
            </a:r>
            <a:r>
              <a:rPr lang="en-US" altLang="ko-KR" sz="1300" b="0" i="0" dirty="0">
                <a:solidFill>
                  <a:srgbClr val="2A3033"/>
                </a:solidFill>
                <a:latin typeface="맑은 고딕"/>
              </a:rPr>
              <a:t>)</a:t>
            </a:r>
            <a:r>
              <a:rPr sz="1300" b="0" i="0" dirty="0">
                <a:solidFill>
                  <a:srgbClr val="2A3033"/>
                </a:solidFill>
                <a:latin typeface="맑은 고딕"/>
              </a:rPr>
              <a:t> × </a:t>
            </a:r>
            <a:r>
              <a:rPr sz="1300" b="0" i="0" dirty="0" err="1">
                <a:solidFill>
                  <a:srgbClr val="2A3033"/>
                </a:solidFill>
                <a:latin typeface="맑은 고딕"/>
              </a:rPr>
              <a:t>일반인</a:t>
            </a:r>
            <a:r>
              <a:rPr sz="1300" b="0" i="0" dirty="0">
                <a:solidFill>
                  <a:srgbClr val="2A3033"/>
                </a:solidFill>
                <a:latin typeface="맑은 고딕"/>
              </a:rPr>
              <a:t>  |  </a:t>
            </a:r>
            <a:r>
              <a:rPr sz="1300" b="0" i="0" dirty="0" err="1">
                <a:solidFill>
                  <a:srgbClr val="2A3033"/>
                </a:solidFill>
                <a:latin typeface="맑은 고딕"/>
              </a:rPr>
              <a:t>세로형</a:t>
            </a:r>
            <a:r>
              <a:rPr sz="1300" b="0" i="0" dirty="0">
                <a:solidFill>
                  <a:srgbClr val="2A3033"/>
                </a:solidFill>
                <a:latin typeface="맑은 고딕"/>
              </a:rPr>
              <a:t> 9:16 </a:t>
            </a:r>
            <a:r>
              <a:rPr sz="1300" b="0" i="0" dirty="0" err="1">
                <a:solidFill>
                  <a:srgbClr val="2A3033"/>
                </a:solidFill>
                <a:latin typeface="맑은 고딕"/>
              </a:rPr>
              <a:t>촬영</a:t>
            </a:r>
            <a:endParaRPr sz="1300" b="0" i="0" dirty="0">
              <a:solidFill>
                <a:srgbClr val="2A3033"/>
              </a:solidFill>
              <a:latin typeface="맑은 고딕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499616"/>
            <a:ext cx="11292840" cy="384048"/>
          </a:xfrm>
          <a:prstGeom prst="rect">
            <a:avLst/>
          </a:prstGeom>
          <a:solidFill>
            <a:srgbClr val="E8E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" y="1554480"/>
            <a:ext cx="1325880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4A7400"/>
                </a:solidFill>
                <a:latin typeface="맑은 고딕"/>
              </a:rPr>
              <a:t>CUT / 구간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554480"/>
            <a:ext cx="6309360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4A7400"/>
                </a:solidFill>
                <a:latin typeface="맑은 고딕"/>
              </a:rPr>
              <a:t>대사 · 상황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1554480"/>
            <a:ext cx="2743200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4A7400"/>
                </a:solidFill>
                <a:latin typeface="맑은 고딕"/>
              </a:rPr>
              <a:t>화면 · 핵심 자막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92807"/>
            <a:ext cx="11292840" cy="612648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492654"/>
            <a:ext cx="11292840" cy="16459"/>
          </a:xfrm>
          <a:prstGeom prst="rect">
            <a:avLst/>
          </a:prstGeom>
          <a:solidFill>
            <a:srgbClr val="E3E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76072" y="2020824"/>
            <a:ext cx="393192" cy="292608"/>
          </a:xfrm>
          <a:prstGeom prst="roundRect">
            <a:avLst>
              <a:gd name="adj" fmla="val 4500"/>
            </a:avLst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6072" y="2025395"/>
            <a:ext cx="393192" cy="26517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C0E"/>
                </a:solidFill>
                <a:latin typeface="맑은 고딕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1956815"/>
            <a:ext cx="969264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30" b="1" i="0">
                <a:solidFill>
                  <a:srgbClr val="111111"/>
                </a:solidFill>
                <a:latin typeface="맑은 고딕"/>
              </a:rPr>
              <a:t>00–05초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" y="2212848"/>
            <a:ext cx="978408" cy="19202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040" b="0" i="0">
                <a:solidFill>
                  <a:srgbClr val="2A3033"/>
                </a:solidFill>
                <a:latin typeface="맑은 고딕"/>
              </a:rPr>
              <a:t>후킹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1933955"/>
            <a:ext cx="6300216" cy="53949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 dirty="0" err="1">
                <a:solidFill>
                  <a:srgbClr val="111111"/>
                </a:solidFill>
                <a:latin typeface="맑은 고딕"/>
              </a:rPr>
              <a:t>의사</a:t>
            </a:r>
            <a:r>
              <a:rPr sz="1200" b="0" i="0" dirty="0">
                <a:solidFill>
                  <a:srgbClr val="111111"/>
                </a:solidFill>
                <a:latin typeface="맑은 고딕"/>
              </a:rPr>
              <a:t>  “</a:t>
            </a:r>
            <a:r>
              <a:rPr sz="1200" b="0" i="0" dirty="0" err="1">
                <a:solidFill>
                  <a:srgbClr val="111111"/>
                </a:solidFill>
                <a:latin typeface="맑은 고딕"/>
              </a:rPr>
              <a:t>푹신하다고</a:t>
            </a:r>
            <a:r>
              <a:rPr sz="1200" b="0" i="0" dirty="0">
                <a:solidFill>
                  <a:srgbClr val="111111"/>
                </a:solidFill>
                <a:latin typeface="맑은 고딕"/>
              </a:rPr>
              <a:t> 다 </a:t>
            </a:r>
            <a:r>
              <a:rPr sz="1200" b="0" i="0" dirty="0" err="1">
                <a:solidFill>
                  <a:srgbClr val="111111"/>
                </a:solidFill>
                <a:latin typeface="맑은 고딕"/>
              </a:rPr>
              <a:t>편한</a:t>
            </a:r>
            <a:r>
              <a:rPr sz="1200" b="0" i="0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111111"/>
                </a:solidFill>
                <a:latin typeface="맑은 고딕"/>
              </a:rPr>
              <a:t>신발은</a:t>
            </a:r>
            <a:r>
              <a:rPr sz="1200" b="0" i="0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111111"/>
                </a:solidFill>
                <a:latin typeface="맑은 고딕"/>
              </a:rPr>
              <a:t>아닙니다</a:t>
            </a:r>
            <a:r>
              <a:rPr sz="1200" b="0" i="0" dirty="0">
                <a:solidFill>
                  <a:srgbClr val="111111"/>
                </a:solidFill>
                <a:latin typeface="맑은 고딕"/>
              </a:rPr>
              <a:t>!”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938527"/>
            <a:ext cx="2770632" cy="53035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A3033"/>
                </a:solidFill>
                <a:latin typeface="맑은 고딕"/>
              </a:rPr>
              <a:t>정면 클로즈업
푹신함만 보고 고르지 마세요.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25342"/>
            <a:ext cx="11292840" cy="16459"/>
          </a:xfrm>
          <a:prstGeom prst="rect">
            <a:avLst/>
          </a:prstGeom>
          <a:solidFill>
            <a:srgbClr val="E3E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76072" y="2633472"/>
            <a:ext cx="393192" cy="292608"/>
          </a:xfrm>
          <a:prstGeom prst="roundRect">
            <a:avLst>
              <a:gd name="adj" fmla="val 4500"/>
            </a:avLst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" y="2638044"/>
            <a:ext cx="393192" cy="26517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C0E"/>
                </a:solidFill>
                <a:latin typeface="맑은 고딕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" y="2569463"/>
            <a:ext cx="969264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30" b="1" i="0">
                <a:solidFill>
                  <a:srgbClr val="111111"/>
                </a:solidFill>
                <a:latin typeface="맑은 고딕"/>
              </a:rPr>
              <a:t>05–15초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" y="2825496"/>
            <a:ext cx="978408" cy="19202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040" b="0" i="0">
                <a:solidFill>
                  <a:srgbClr val="2A3033"/>
                </a:solidFill>
                <a:latin typeface="맑은 고딕"/>
              </a:rPr>
              <a:t>이유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2546603"/>
            <a:ext cx="6300216" cy="85953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55" b="0" i="0">
                <a:solidFill>
                  <a:srgbClr val="111111"/>
                </a:solidFill>
                <a:latin typeface="맑은 고딕"/>
              </a:rPr>
              <a:t>일반인  “네? 푹신해야 발이 편한 거 아닌가요?”
의사  “오래 서서 일하시는 분들은 푹신함뿐 아니라 발을 받쳐주는 구조도 살펴보셔야 해요.”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551175"/>
            <a:ext cx="2770632" cy="8503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A3033"/>
                </a:solidFill>
                <a:latin typeface="맑은 고딕"/>
              </a:rPr>
              <a:t>투샷 대화
오래 서 있는 사람의 신발 선택 기준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438144"/>
            <a:ext cx="11292840" cy="768096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193438"/>
            <a:ext cx="11292840" cy="16459"/>
          </a:xfrm>
          <a:prstGeom prst="rect">
            <a:avLst/>
          </a:prstGeom>
          <a:solidFill>
            <a:srgbClr val="E3E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76072" y="3566160"/>
            <a:ext cx="393192" cy="292608"/>
          </a:xfrm>
          <a:prstGeom prst="roundRect">
            <a:avLst>
              <a:gd name="adj" fmla="val 4500"/>
            </a:avLst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" y="3570732"/>
            <a:ext cx="393192" cy="26517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C0E"/>
                </a:solidFill>
                <a:latin typeface="맑은 고딕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" y="3502151"/>
            <a:ext cx="969264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30" b="1" i="0">
                <a:solidFill>
                  <a:srgbClr val="111111"/>
                </a:solidFill>
                <a:latin typeface="맑은 고딕"/>
              </a:rPr>
              <a:t>15–22초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" y="3758183"/>
            <a:ext cx="978408" cy="19202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040" b="0" i="0">
                <a:solidFill>
                  <a:srgbClr val="2A3033"/>
                </a:solidFill>
                <a:latin typeface="맑은 고딕"/>
              </a:rPr>
              <a:t>차별점 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8840" y="3479291"/>
            <a:ext cx="6300216" cy="69494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111111"/>
                </a:solidFill>
                <a:latin typeface="맑은 고딕"/>
              </a:rPr>
              <a:t>의사  “본체는 쉽게 푹 꺼지지 않는 고탄성 EVA 소재를 쓰고, 발목 입구도 도톰하게 감싸도록 만들었어요.”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483863"/>
            <a:ext cx="2770632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A3033"/>
                </a:solidFill>
                <a:latin typeface="맑은 고딕"/>
              </a:rPr>
              <a:t>본체 누르기 → 입구 테두리
고탄성 EVA · 발목 지지 구조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943246"/>
            <a:ext cx="11292840" cy="16459"/>
          </a:xfrm>
          <a:prstGeom prst="rect">
            <a:avLst/>
          </a:prstGeom>
          <a:solidFill>
            <a:srgbClr val="E3E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76072" y="4334255"/>
            <a:ext cx="393192" cy="292608"/>
          </a:xfrm>
          <a:prstGeom prst="roundRect">
            <a:avLst>
              <a:gd name="adj" fmla="val 4500"/>
            </a:avLst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6072" y="4338827"/>
            <a:ext cx="393192" cy="26517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C0E"/>
                </a:solidFill>
                <a:latin typeface="맑은 고딕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" y="4270248"/>
            <a:ext cx="969264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30" b="1" i="0">
                <a:solidFill>
                  <a:srgbClr val="111111"/>
                </a:solidFill>
                <a:latin typeface="맑은 고딕"/>
              </a:rPr>
              <a:t>22–27초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" y="4526279"/>
            <a:ext cx="978408" cy="19202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040" b="0" i="0">
                <a:solidFill>
                  <a:srgbClr val="2A3033"/>
                </a:solidFill>
                <a:latin typeface="맑은 고딕"/>
              </a:rPr>
              <a:t>차별점 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48840" y="4247388"/>
            <a:ext cx="6300216" cy="67665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 dirty="0" err="1">
                <a:solidFill>
                  <a:srgbClr val="111111"/>
                </a:solidFill>
                <a:latin typeface="맑은 고딕"/>
              </a:rPr>
              <a:t>의사</a:t>
            </a:r>
            <a:r>
              <a:rPr sz="1200" b="0" i="0" dirty="0">
                <a:solidFill>
                  <a:srgbClr val="111111"/>
                </a:solidFill>
                <a:latin typeface="맑은 고딕"/>
              </a:rPr>
              <a:t>  “</a:t>
            </a:r>
            <a:r>
              <a:rPr sz="1200" b="0" i="0" dirty="0" err="1">
                <a:solidFill>
                  <a:srgbClr val="111111"/>
                </a:solidFill>
                <a:latin typeface="맑은 고딕"/>
              </a:rPr>
              <a:t>밑창을</a:t>
            </a:r>
            <a:r>
              <a:rPr sz="1200" b="0" i="0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111111"/>
                </a:solidFill>
                <a:latin typeface="맑은 고딕"/>
              </a:rPr>
              <a:t>보시면</a:t>
            </a:r>
            <a:r>
              <a:rPr sz="1200" b="0" i="0" dirty="0">
                <a:solidFill>
                  <a:srgbClr val="111111"/>
                </a:solidFill>
                <a:latin typeface="맑은 고딕"/>
              </a:rPr>
              <a:t>, </a:t>
            </a:r>
            <a:r>
              <a:rPr sz="1200" b="0" i="0" dirty="0" err="1">
                <a:solidFill>
                  <a:srgbClr val="111111"/>
                </a:solidFill>
                <a:latin typeface="맑은 고딕"/>
              </a:rPr>
              <a:t>바닥에</a:t>
            </a:r>
            <a:r>
              <a:rPr sz="1200" b="0" i="0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111111"/>
                </a:solidFill>
                <a:latin typeface="맑은 고딕"/>
              </a:rPr>
              <a:t>닿는</a:t>
            </a:r>
            <a:r>
              <a:rPr sz="1200" b="0" i="0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111111"/>
                </a:solidFill>
                <a:latin typeface="맑은 고딕"/>
              </a:rPr>
              <a:t>부분을</a:t>
            </a:r>
            <a:r>
              <a:rPr sz="1200" b="0" i="0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111111"/>
                </a:solidFill>
                <a:latin typeface="맑은 고딕"/>
              </a:rPr>
              <a:t>고려해서</a:t>
            </a:r>
            <a:r>
              <a:rPr sz="1200" b="0" i="0" dirty="0">
                <a:solidFill>
                  <a:srgbClr val="111111"/>
                </a:solidFill>
                <a:latin typeface="맑은 고딕"/>
              </a:rPr>
              <a:t> 네 </a:t>
            </a:r>
            <a:r>
              <a:rPr sz="1200" b="0" i="0" dirty="0" err="1">
                <a:solidFill>
                  <a:srgbClr val="111111"/>
                </a:solidFill>
                <a:latin typeface="맑은 고딕"/>
              </a:rPr>
              <a:t>곳에</a:t>
            </a:r>
            <a:r>
              <a:rPr sz="1200" b="0" i="0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111111"/>
                </a:solidFill>
                <a:latin typeface="맑은 고딕"/>
              </a:rPr>
              <a:t>그립</a:t>
            </a:r>
            <a:r>
              <a:rPr sz="1200" b="0" i="0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111111"/>
                </a:solidFill>
                <a:latin typeface="맑은 고딕"/>
              </a:rPr>
              <a:t>패드를</a:t>
            </a:r>
            <a:r>
              <a:rPr sz="1200" b="0" i="0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111111"/>
                </a:solidFill>
                <a:latin typeface="맑은 고딕"/>
              </a:rPr>
              <a:t>넣었어요</a:t>
            </a:r>
            <a:r>
              <a:rPr sz="1200" b="0" i="0" dirty="0">
                <a:solidFill>
                  <a:srgbClr val="111111"/>
                </a:solidFill>
                <a:latin typeface="맑은 고딕"/>
              </a:rPr>
              <a:t>.”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4251959"/>
            <a:ext cx="2770632" cy="66751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A3033"/>
                </a:solidFill>
                <a:latin typeface="맑은 고딕"/>
              </a:rPr>
              <a:t>밑창 4점 패드 클로즈업
접지력을 고려한 4점 그립 설계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956048"/>
            <a:ext cx="11292840" cy="685800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57200" y="5629046"/>
            <a:ext cx="11292840" cy="16459"/>
          </a:xfrm>
          <a:prstGeom prst="rect">
            <a:avLst/>
          </a:prstGeom>
          <a:solidFill>
            <a:srgbClr val="E3E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576072" y="5084064"/>
            <a:ext cx="393192" cy="292608"/>
          </a:xfrm>
          <a:prstGeom prst="roundRect">
            <a:avLst>
              <a:gd name="adj" fmla="val 4500"/>
            </a:avLst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76072" y="5088636"/>
            <a:ext cx="393192" cy="26517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C0E"/>
                </a:solidFill>
                <a:latin typeface="맑은 고딕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4984" y="5020056"/>
            <a:ext cx="969264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30" b="1" i="0">
                <a:solidFill>
                  <a:srgbClr val="111111"/>
                </a:solidFill>
                <a:latin typeface="맑은 고딕"/>
              </a:rPr>
              <a:t>27–30초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4984" y="5276088"/>
            <a:ext cx="978408" cy="19202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040" b="0" i="0">
                <a:solidFill>
                  <a:srgbClr val="2A3033"/>
                </a:solidFill>
                <a:latin typeface="맑은 고딕"/>
              </a:rPr>
              <a:t>착화·반응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48840" y="5118854"/>
            <a:ext cx="6300216" cy="36933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 dirty="0" err="1">
                <a:solidFill>
                  <a:srgbClr val="111111"/>
                </a:solidFill>
                <a:latin typeface="맑은 고딕"/>
              </a:rPr>
              <a:t>일반인</a:t>
            </a:r>
            <a:r>
              <a:rPr sz="1200" b="0" i="0" dirty="0">
                <a:solidFill>
                  <a:srgbClr val="111111"/>
                </a:solidFill>
                <a:latin typeface="맑은 고딕"/>
              </a:rPr>
              <a:t>  “어! </a:t>
            </a:r>
            <a:r>
              <a:rPr sz="1200" b="0" i="0" dirty="0" err="1">
                <a:solidFill>
                  <a:srgbClr val="111111"/>
                </a:solidFill>
                <a:latin typeface="맑은 고딕"/>
              </a:rPr>
              <a:t>정말</a:t>
            </a:r>
            <a:r>
              <a:rPr sz="1200" b="0" i="0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111111"/>
                </a:solidFill>
                <a:latin typeface="맑은 고딕"/>
              </a:rPr>
              <a:t>탄탄하게</a:t>
            </a:r>
            <a:r>
              <a:rPr sz="1200" b="0" i="0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111111"/>
                </a:solidFill>
                <a:latin typeface="맑은 고딕"/>
              </a:rPr>
              <a:t>받쳐주</a:t>
            </a:r>
            <a:r>
              <a:rPr lang="ko-KR" altLang="en-US" sz="1200" b="0" i="0" dirty="0">
                <a:solidFill>
                  <a:srgbClr val="111111"/>
                </a:solidFill>
                <a:latin typeface="맑은 고딕"/>
              </a:rPr>
              <a:t>는 느낌이</a:t>
            </a:r>
            <a:r>
              <a:rPr sz="1200" b="0" i="0" dirty="0" err="1">
                <a:solidFill>
                  <a:srgbClr val="111111"/>
                </a:solidFill>
                <a:latin typeface="맑은 고딕"/>
              </a:rPr>
              <a:t>네요</a:t>
            </a:r>
            <a:r>
              <a:rPr sz="1200" b="0" i="0" dirty="0">
                <a:solidFill>
                  <a:srgbClr val="111111"/>
                </a:solidFill>
                <a:latin typeface="맑은 고딕"/>
              </a:rPr>
              <a:t>.”
</a:t>
            </a:r>
            <a:r>
              <a:rPr sz="1200" b="0" i="0" dirty="0" err="1">
                <a:solidFill>
                  <a:srgbClr val="111111"/>
                </a:solidFill>
                <a:latin typeface="맑은 고딕"/>
              </a:rPr>
              <a:t>의사</a:t>
            </a:r>
            <a:r>
              <a:rPr sz="1200" b="0" i="0" dirty="0">
                <a:solidFill>
                  <a:srgbClr val="111111"/>
                </a:solidFill>
                <a:latin typeface="맑은 고딕"/>
              </a:rPr>
              <a:t>  (</a:t>
            </a:r>
            <a:r>
              <a:rPr sz="1200" b="0" i="0" dirty="0" err="1">
                <a:solidFill>
                  <a:srgbClr val="111111"/>
                </a:solidFill>
                <a:latin typeface="맑은 고딕"/>
              </a:rPr>
              <a:t>대사</a:t>
            </a:r>
            <a:r>
              <a:rPr sz="1200" b="0" i="0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111111"/>
                </a:solidFill>
                <a:latin typeface="맑은 고딕"/>
              </a:rPr>
              <a:t>없이</a:t>
            </a:r>
            <a:r>
              <a:rPr sz="1200" b="0" i="0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111111"/>
                </a:solidFill>
                <a:latin typeface="맑은 고딕"/>
              </a:rPr>
              <a:t>가볍게</a:t>
            </a:r>
            <a:r>
              <a:rPr sz="1200" b="0" i="0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111111"/>
                </a:solidFill>
                <a:latin typeface="맑은 고딕"/>
              </a:rPr>
              <a:t>바라보</a:t>
            </a:r>
            <a:r>
              <a:rPr lang="ko-KR" altLang="en-US" sz="1200" b="0" i="0" dirty="0">
                <a:solidFill>
                  <a:srgbClr val="111111"/>
                </a:solidFill>
                <a:latin typeface="맑은 고딕"/>
              </a:rPr>
              <a:t>기</a:t>
            </a:r>
            <a:r>
              <a:rPr lang="en-US" altLang="ko-KR" sz="1200" b="0" i="0" dirty="0">
                <a:solidFill>
                  <a:srgbClr val="111111"/>
                </a:solidFill>
                <a:latin typeface="맑은 고딕"/>
              </a:rPr>
              <a:t>. </a:t>
            </a:r>
            <a:r>
              <a:rPr lang="ko-KR" altLang="en-US" sz="1200" b="0" i="0" dirty="0">
                <a:solidFill>
                  <a:srgbClr val="111111"/>
                </a:solidFill>
                <a:latin typeface="맑은 고딕"/>
              </a:rPr>
              <a:t>혹은</a:t>
            </a:r>
            <a:r>
              <a:rPr sz="1200" b="0" i="0" dirty="0">
                <a:solidFill>
                  <a:srgbClr val="111111"/>
                </a:solidFill>
                <a:latin typeface="맑은 고딕"/>
              </a:rPr>
              <a:t> </a:t>
            </a:r>
            <a:r>
              <a:rPr lang="ko-KR" altLang="en-US" sz="1200" b="0" i="0" dirty="0">
                <a:solidFill>
                  <a:srgbClr val="111111"/>
                </a:solidFill>
                <a:latin typeface="맑은 고딕"/>
              </a:rPr>
              <a:t>자연스러운 </a:t>
            </a:r>
            <a:r>
              <a:rPr sz="1200" b="0" i="0" dirty="0" err="1">
                <a:solidFill>
                  <a:srgbClr val="111111"/>
                </a:solidFill>
                <a:latin typeface="맑은 고딕"/>
              </a:rPr>
              <a:t>미소</a:t>
            </a:r>
            <a:r>
              <a:rPr sz="1200" b="0" i="0" dirty="0">
                <a:solidFill>
                  <a:srgbClr val="111111"/>
                </a:solidFill>
                <a:latin typeface="맑은 고딕"/>
              </a:rPr>
              <a:t>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5001768"/>
            <a:ext cx="2770632" cy="60350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A3033"/>
                </a:solidFill>
                <a:latin typeface="맑은 고딕"/>
              </a:rPr>
              <a:t>착화 → 일어서기 → 2~3걸음
착화 소감·자연스러운 미소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6269126"/>
            <a:ext cx="11292840" cy="16459"/>
          </a:xfrm>
          <a:prstGeom prst="rect">
            <a:avLst/>
          </a:prstGeom>
          <a:solidFill>
            <a:srgbClr val="E3E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576072" y="5769864"/>
            <a:ext cx="393192" cy="292608"/>
          </a:xfrm>
          <a:prstGeom prst="roundRect">
            <a:avLst>
              <a:gd name="adj" fmla="val 4500"/>
            </a:avLst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76072" y="5774436"/>
            <a:ext cx="393192" cy="26517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C0E"/>
                </a:solidFill>
                <a:latin typeface="맑은 고딕"/>
              </a:rPr>
              <a:t>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4" y="5705856"/>
            <a:ext cx="969264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30" b="1" i="0">
                <a:solidFill>
                  <a:srgbClr val="111111"/>
                </a:solidFill>
                <a:latin typeface="맑은 고딕"/>
              </a:rPr>
              <a:t>엔딩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4984" y="5961888"/>
            <a:ext cx="978408" cy="19202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040" b="0" i="0">
                <a:solidFill>
                  <a:srgbClr val="2A3033"/>
                </a:solidFill>
                <a:latin typeface="맑은 고딕"/>
              </a:rPr>
              <a:t>브랜드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48840" y="5682996"/>
            <a:ext cx="6300216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111111"/>
                </a:solidFill>
                <a:latin typeface="맑은 고딕"/>
              </a:rPr>
              <a:t>대사·내레이션 없음
MADE FOR STANDING. / RHARA SHOE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0" y="5687568"/>
            <a:ext cx="2770632" cy="55778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A3033"/>
                </a:solidFill>
                <a:latin typeface="맑은 고딕"/>
              </a:rPr>
              <a:t>제품 히어로 컷
라라슈 쿼드그립 워킹화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39112" y="1892807"/>
            <a:ext cx="17373" cy="4389120"/>
          </a:xfrm>
          <a:prstGeom prst="rect">
            <a:avLst/>
          </a:prstGeom>
          <a:solidFill>
            <a:srgbClr val="E3E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659368" y="1892807"/>
            <a:ext cx="17373" cy="4389120"/>
          </a:xfrm>
          <a:prstGeom prst="rect">
            <a:avLst/>
          </a:prstGeom>
          <a:solidFill>
            <a:srgbClr val="E3E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2920" y="6309360"/>
            <a:ext cx="10972800" cy="14630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40" b="0" i="0">
                <a:solidFill>
                  <a:srgbClr val="535C5E"/>
                </a:solidFill>
                <a:latin typeface="맑은 고딕"/>
              </a:rPr>
              <a:t>※ 시간은 편집 목표 구간입니다. 실제 낭독 후 컷 길이와 최종 러닝타임 조정이 필요합니다.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8912" y="6492240"/>
            <a:ext cx="11283696" cy="16459"/>
          </a:xfrm>
          <a:prstGeom prst="rect">
            <a:avLst/>
          </a:prstGeom>
          <a:solidFill>
            <a:srgbClr val="E3E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57200" y="6537960"/>
            <a:ext cx="8869680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535C5E"/>
                </a:solidFill>
                <a:latin typeface="맑은 고딕"/>
              </a:rPr>
              <a:t>라라슈 쿼드그립 워킹화  |  촬영팀 전달용 최종 스토리보드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71048" y="6537960"/>
            <a:ext cx="1005840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35C5E"/>
                </a:solidFill>
                <a:latin typeface="맑은 고딕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438912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2A3033"/>
                </a:solidFill>
                <a:latin typeface="맑은 고딕"/>
              </a:rPr>
              <a:t>RHARA SHOE  /  라라슈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201168"/>
            <a:ext cx="269748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535C5E"/>
                </a:solidFill>
                <a:latin typeface="맑은 고딕"/>
              </a:rPr>
              <a:t>DETAILED STORYBOARD / 컷별 상세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512064"/>
            <a:ext cx="11283696" cy="16459"/>
          </a:xfrm>
          <a:prstGeom prst="rect">
            <a:avLst/>
          </a:prstGeom>
          <a:solidFill>
            <a:srgbClr val="E3E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75488" y="676656"/>
            <a:ext cx="987552" cy="402336"/>
          </a:xfrm>
          <a:prstGeom prst="roundRect">
            <a:avLst>
              <a:gd name="adj" fmla="val 4500"/>
            </a:avLst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713232"/>
            <a:ext cx="932688" cy="32918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10" b="1" i="0">
                <a:solidFill>
                  <a:srgbClr val="0A0C0E"/>
                </a:solidFill>
                <a:latin typeface="맑은 고딕"/>
              </a:rPr>
              <a:t>CUT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667512"/>
            <a:ext cx="7726679" cy="44805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300" b="1" i="0">
                <a:solidFill>
                  <a:srgbClr val="111111"/>
                </a:solidFill>
                <a:latin typeface="맑은 고딕"/>
              </a:rPr>
              <a:t>후킹 · 신발 선택의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749808"/>
            <a:ext cx="2350008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 i="0">
                <a:solidFill>
                  <a:srgbClr val="4A7400"/>
                </a:solidFill>
                <a:latin typeface="맑은 고딕"/>
              </a:rPr>
              <a:t>00–05초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" y="1481328"/>
            <a:ext cx="3246120" cy="4526280"/>
          </a:xfrm>
          <a:prstGeom prst="roundRect">
            <a:avLst>
              <a:gd name="adj" fmla="val 4500"/>
            </a:avLst>
          </a:prstGeom>
          <a:solidFill>
            <a:srgbClr val="F4F5F3"/>
          </a:solidFill>
          <a:ln w="12700">
            <a:solidFill>
              <a:srgbClr val="E3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8952" y="1645920"/>
            <a:ext cx="2706624" cy="3941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_fill_doctor_crop.jpg_83_1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645920"/>
            <a:ext cx="2706624" cy="394106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58952" y="5074920"/>
            <a:ext cx="2706624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5175504"/>
            <a:ext cx="2542032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맑은 고딕"/>
              </a:rPr>
              <a:t>정면 클로즈업 · 의사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5632704"/>
            <a:ext cx="2706624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" y="5650992"/>
            <a:ext cx="2624328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 i="0">
                <a:solidFill>
                  <a:srgbClr val="535C5E"/>
                </a:solidFill>
                <a:latin typeface="맑은 고딕"/>
              </a:rPr>
              <a:t>CUT 01    00–05초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96512" y="1463040"/>
            <a:ext cx="402336" cy="210312"/>
          </a:xfrm>
          <a:prstGeom prst="roundRect">
            <a:avLst>
              <a:gd name="adj" fmla="val 4500"/>
            </a:avLst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96512" y="1463040"/>
            <a:ext cx="402336" cy="21031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A0C0E"/>
                </a:solidFill>
                <a:latin typeface="맑은 고딕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1458468"/>
            <a:ext cx="3657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A7400"/>
                </a:solidFill>
                <a:latin typeface="맑은 고딕"/>
              </a:rPr>
              <a:t>화면 · 카메라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6512" y="1865376"/>
            <a:ext cx="7571231" cy="40233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111111"/>
                </a:solidFill>
                <a:latin typeface="맑은 고딕"/>
              </a:rPr>
              <a:t>•  의사 정면 클로즈업. 첫 프레임부터 인물과 목소리가 바로 등장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96512" y="2340864"/>
            <a:ext cx="7571231" cy="40233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111111"/>
                </a:solidFill>
                <a:latin typeface="맑은 고딕"/>
              </a:rPr>
              <a:t>•  배경은 단정하게 정리하고 카메라와 시선을 맞춤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96512" y="2852928"/>
            <a:ext cx="7571231" cy="24688"/>
          </a:xfrm>
          <a:prstGeom prst="rect">
            <a:avLst/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096512" y="3035808"/>
            <a:ext cx="402336" cy="210312"/>
          </a:xfrm>
          <a:prstGeom prst="roundRect">
            <a:avLst>
              <a:gd name="adj" fmla="val 4500"/>
            </a:avLst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96512" y="3035808"/>
            <a:ext cx="402336" cy="21031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A0C0E"/>
                </a:solidFill>
                <a:latin typeface="맑은 고딕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3031236"/>
            <a:ext cx="3657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A7400"/>
                </a:solidFill>
                <a:latin typeface="맑은 고딕"/>
              </a:rPr>
              <a:t>대사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6512" y="3383280"/>
            <a:ext cx="822960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70" b="1" i="0">
                <a:solidFill>
                  <a:srgbClr val="4A7400"/>
                </a:solidFill>
                <a:latin typeface="맑은 고딕"/>
              </a:rPr>
              <a:t>의사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38344" y="3351276"/>
            <a:ext cx="6601967" cy="8229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맑은 고딕"/>
              </a:rPr>
              <a:t>“푹신하다고 다 편한 신발은 아닙니다!”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96512" y="4626864"/>
            <a:ext cx="3493008" cy="1517904"/>
          </a:xfrm>
          <a:prstGeom prst="roundRect">
            <a:avLst>
              <a:gd name="adj" fmla="val 4500"/>
            </a:avLst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772400" y="4626864"/>
            <a:ext cx="3895344" cy="1517904"/>
          </a:xfrm>
          <a:prstGeom prst="roundRect">
            <a:avLst>
              <a:gd name="adj" fmla="val 4500"/>
            </a:avLst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79392" y="4736592"/>
            <a:ext cx="310896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4A7400"/>
                </a:solidFill>
                <a:latin typeface="맑은 고딕"/>
              </a:rPr>
              <a:t>자막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9392" y="5010912"/>
            <a:ext cx="3182112" cy="9784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맑은 고딕"/>
              </a:rPr>
              <a:t>푹신함만 보고 고르지 마세요.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46136" y="4736592"/>
            <a:ext cx="3584448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4A7400"/>
                </a:solidFill>
                <a:latin typeface="맑은 고딕"/>
              </a:rPr>
              <a:t>동작 · 촬영 메모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46136" y="5010912"/>
            <a:ext cx="3566160" cy="99669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111111"/>
                </a:solidFill>
                <a:latin typeface="맑은 고딕"/>
              </a:rPr>
              <a:t>• 카메라 정면을 보고 차분하고 단호한 어조로 전달
• “푹신하다고” 뒤에 아주 짧게 호흡을 두고 뒷문장을 강조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" y="6144768"/>
            <a:ext cx="11009376" cy="26517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A3033"/>
                </a:solidFill>
                <a:latin typeface="맑은 고딕"/>
              </a:rPr>
              <a:t>촬영 메모   손가락 흔들기·훈계조 표현 없이 절제된 시작.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" y="6492240"/>
            <a:ext cx="11283696" cy="16459"/>
          </a:xfrm>
          <a:prstGeom prst="rect">
            <a:avLst/>
          </a:prstGeom>
          <a:solidFill>
            <a:srgbClr val="E3E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6537960"/>
            <a:ext cx="8869680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535C5E"/>
                </a:solidFill>
                <a:latin typeface="맑은 고딕"/>
              </a:rPr>
              <a:t>라라슈 쿼드그립 워킹화  |  촬영팀 전달용 최종 스토리보드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71048" y="6537960"/>
            <a:ext cx="1005840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35C5E"/>
                </a:solidFill>
                <a:latin typeface="맑은 고딕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438912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2A3033"/>
                </a:solidFill>
                <a:latin typeface="맑은 고딕"/>
              </a:rPr>
              <a:t>RHARA SHOE  /  라라슈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201168"/>
            <a:ext cx="269748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535C5E"/>
                </a:solidFill>
                <a:latin typeface="맑은 고딕"/>
              </a:rPr>
              <a:t>DETAILED STORYBOARD / 컷별 상세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512064"/>
            <a:ext cx="11283696" cy="16459"/>
          </a:xfrm>
          <a:prstGeom prst="rect">
            <a:avLst/>
          </a:prstGeom>
          <a:solidFill>
            <a:srgbClr val="E3E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75488" y="676656"/>
            <a:ext cx="987552" cy="402336"/>
          </a:xfrm>
          <a:prstGeom prst="roundRect">
            <a:avLst>
              <a:gd name="adj" fmla="val 4500"/>
            </a:avLst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713232"/>
            <a:ext cx="932688" cy="32918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10" b="1" i="0">
                <a:solidFill>
                  <a:srgbClr val="0A0C0E"/>
                </a:solidFill>
                <a:latin typeface="맑은 고딕"/>
              </a:rPr>
              <a:t>CUT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667512"/>
            <a:ext cx="7726679" cy="44805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300" b="1" i="0">
                <a:solidFill>
                  <a:srgbClr val="111111"/>
                </a:solidFill>
                <a:latin typeface="맑은 고딕"/>
              </a:rPr>
              <a:t>이유 · 오래 서 있는 사람의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749808"/>
            <a:ext cx="2350008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 i="0">
                <a:solidFill>
                  <a:srgbClr val="4A7400"/>
                </a:solidFill>
                <a:latin typeface="맑은 고딕"/>
              </a:rPr>
              <a:t>05–15초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" y="1481328"/>
            <a:ext cx="3246120" cy="4526280"/>
          </a:xfrm>
          <a:prstGeom prst="roundRect">
            <a:avLst>
              <a:gd name="adj" fmla="val 4500"/>
            </a:avLst>
          </a:prstGeom>
          <a:solidFill>
            <a:srgbClr val="F4F5F3"/>
          </a:solidFill>
          <a:ln w="12700">
            <a:solidFill>
              <a:srgbClr val="E3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8952" y="1645920"/>
            <a:ext cx="2706624" cy="3941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_fill_doctor_crop.jpg_83_1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645920"/>
            <a:ext cx="1325880" cy="394106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103120" y="1645920"/>
            <a:ext cx="1362456" cy="3941063"/>
          </a:xfrm>
          <a:prstGeom prst="rect">
            <a:avLst/>
          </a:prstGeom>
          <a:solidFill>
            <a:srgbClr val="E8E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468880" y="2459736"/>
            <a:ext cx="594360" cy="594360"/>
          </a:xfrm>
          <a:prstGeom prst="ellipse">
            <a:avLst/>
          </a:prstGeom>
          <a:solidFill>
            <a:srgbClr val="879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322576" y="3099816"/>
            <a:ext cx="905256" cy="1335024"/>
          </a:xfrm>
          <a:prstGeom prst="roundRect">
            <a:avLst>
              <a:gd name="adj" fmla="val 4500"/>
            </a:avLst>
          </a:prstGeom>
          <a:solidFill>
            <a:srgbClr val="707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67712" y="4617720"/>
            <a:ext cx="1033271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맑은 고딕"/>
              </a:rPr>
              <a:t>일반인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" y="5193792"/>
            <a:ext cx="2706624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5239512"/>
            <a:ext cx="2615184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맑은 고딕"/>
              </a:rPr>
              <a:t>자연스러운 2인 투샷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" y="5632704"/>
            <a:ext cx="2706624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" y="5650992"/>
            <a:ext cx="2624328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 i="0">
                <a:solidFill>
                  <a:srgbClr val="535C5E"/>
                </a:solidFill>
                <a:latin typeface="맑은 고딕"/>
              </a:rPr>
              <a:t>CUT 02    05–15초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1463040"/>
            <a:ext cx="402336" cy="210312"/>
          </a:xfrm>
          <a:prstGeom prst="roundRect">
            <a:avLst>
              <a:gd name="adj" fmla="val 4500"/>
            </a:avLst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96512" y="1463040"/>
            <a:ext cx="402336" cy="21031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A0C0E"/>
                </a:solidFill>
                <a:latin typeface="맑은 고딕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1458468"/>
            <a:ext cx="3657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A7400"/>
                </a:solidFill>
                <a:latin typeface="맑은 고딕"/>
              </a:rPr>
              <a:t>화면 · 카메라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2" y="1865376"/>
            <a:ext cx="7571231" cy="40233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111111"/>
                </a:solidFill>
                <a:latin typeface="맑은 고딕"/>
              </a:rPr>
              <a:t>•  일반인이 의사를 바라보며 질문하는 투샷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96512" y="2340864"/>
            <a:ext cx="7571231" cy="40233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111111"/>
                </a:solidFill>
                <a:latin typeface="맑은 고딕"/>
              </a:rPr>
              <a:t>•  의사 답변 중 테이블 위 신발로 자연스럽게 시선 이동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96512" y="2852928"/>
            <a:ext cx="7571231" cy="24688"/>
          </a:xfrm>
          <a:prstGeom prst="rect">
            <a:avLst/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096512" y="3035808"/>
            <a:ext cx="402336" cy="210312"/>
          </a:xfrm>
          <a:prstGeom prst="roundRect">
            <a:avLst>
              <a:gd name="adj" fmla="val 4500"/>
            </a:avLst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96512" y="3035808"/>
            <a:ext cx="402336" cy="21031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A0C0E"/>
                </a:solidFill>
                <a:latin typeface="맑은 고딕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8576" y="3031236"/>
            <a:ext cx="3657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A7400"/>
                </a:solidFill>
                <a:latin typeface="맑은 고딕"/>
              </a:rPr>
              <a:t>대사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96512" y="3383280"/>
            <a:ext cx="822960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70" b="1" i="0">
                <a:solidFill>
                  <a:srgbClr val="D2401F"/>
                </a:solidFill>
                <a:latin typeface="맑은 고딕"/>
              </a:rPr>
              <a:t>일반인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8344" y="3351276"/>
            <a:ext cx="6601967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739" b="1" i="0">
                <a:solidFill>
                  <a:srgbClr val="111111"/>
                </a:solidFill>
                <a:latin typeface="맑은 고딕"/>
              </a:rPr>
              <a:t>“네? 푹신해야 발이 편한 거 아닌가요?”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96512" y="4059936"/>
            <a:ext cx="822960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70" b="1" i="0">
                <a:solidFill>
                  <a:srgbClr val="4A7400"/>
                </a:solidFill>
                <a:latin typeface="맑은 고딕"/>
              </a:rPr>
              <a:t>의사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38344" y="4027932"/>
            <a:ext cx="6601967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739" b="1" i="0">
                <a:solidFill>
                  <a:srgbClr val="111111"/>
                </a:solidFill>
                <a:latin typeface="맑은 고딕"/>
              </a:rPr>
              <a:t>“오래 서서 일하시는 분들은 푹신함뿐 아니라 발을 받쳐주는 구조도 살펴보셔야 해요.”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96512" y="4626864"/>
            <a:ext cx="3493008" cy="1517904"/>
          </a:xfrm>
          <a:prstGeom prst="roundRect">
            <a:avLst>
              <a:gd name="adj" fmla="val 4500"/>
            </a:avLst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772400" y="4626864"/>
            <a:ext cx="3895344" cy="1517904"/>
          </a:xfrm>
          <a:prstGeom prst="roundRect">
            <a:avLst>
              <a:gd name="adj" fmla="val 4500"/>
            </a:avLst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79392" y="4736592"/>
            <a:ext cx="310896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4A7400"/>
                </a:solidFill>
                <a:latin typeface="맑은 고딕"/>
              </a:rPr>
              <a:t>자막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79392" y="5010912"/>
            <a:ext cx="3182112" cy="9784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맑은 고딕"/>
              </a:rPr>
              <a:t>오래 서 있는 사람의 신발 선택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46136" y="4736592"/>
            <a:ext cx="3584448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4A7400"/>
                </a:solidFill>
                <a:latin typeface="맑은 고딕"/>
              </a:rPr>
              <a:t>동작 · 촬영 메모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46136" y="5010912"/>
            <a:ext cx="3566160" cy="99669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111111"/>
                </a:solidFill>
                <a:latin typeface="맑은 고딕"/>
              </a:rPr>
              <a:t>• 일반인: 실제로 궁금한 듯 담백하게 질문. 과장된 놀람 금지
• 의사: 편안하게 설명하며 “발을 받쳐주는 구조”에서 제품 쪽으로 손을 이동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" y="6144768"/>
            <a:ext cx="11009376" cy="26517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A3033"/>
                </a:solidFill>
                <a:latin typeface="맑은 고딕"/>
              </a:rPr>
              <a:t>촬영 메모   대사 사이 불필요한 리액션 컷을 넣지 않음.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" y="6492240"/>
            <a:ext cx="11283696" cy="16459"/>
          </a:xfrm>
          <a:prstGeom prst="rect">
            <a:avLst/>
          </a:prstGeom>
          <a:solidFill>
            <a:srgbClr val="E3E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6537960"/>
            <a:ext cx="8869680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535C5E"/>
                </a:solidFill>
                <a:latin typeface="맑은 고딕"/>
              </a:rPr>
              <a:t>라라슈 쿼드그립 워킹화  |  촬영팀 전달용 최종 스토리보드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71048" y="6537960"/>
            <a:ext cx="1005840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35C5E"/>
                </a:solidFill>
                <a:latin typeface="맑은 고딕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438912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2A3033"/>
                </a:solidFill>
                <a:latin typeface="맑은 고딕"/>
              </a:rPr>
              <a:t>RHARA SHOE  /  라라슈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201168"/>
            <a:ext cx="269748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535C5E"/>
                </a:solidFill>
                <a:latin typeface="맑은 고딕"/>
              </a:rPr>
              <a:t>DETAILED STORYBOARD / 컷별 상세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512064"/>
            <a:ext cx="11283696" cy="16459"/>
          </a:xfrm>
          <a:prstGeom prst="rect">
            <a:avLst/>
          </a:prstGeom>
          <a:solidFill>
            <a:srgbClr val="E3E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75488" y="676656"/>
            <a:ext cx="987552" cy="402336"/>
          </a:xfrm>
          <a:prstGeom prst="roundRect">
            <a:avLst>
              <a:gd name="adj" fmla="val 4500"/>
            </a:avLst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713232"/>
            <a:ext cx="932688" cy="32918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10" b="1" i="0">
                <a:solidFill>
                  <a:srgbClr val="0A0C0E"/>
                </a:solidFill>
                <a:latin typeface="맑은 고딕"/>
              </a:rPr>
              <a:t>CUT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667512"/>
            <a:ext cx="7726679" cy="44805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300" b="1" i="0">
                <a:solidFill>
                  <a:srgbClr val="111111"/>
                </a:solidFill>
                <a:latin typeface="맑은 고딕"/>
              </a:rPr>
              <a:t>차별점 ① · 소재와 발목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749808"/>
            <a:ext cx="2350008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 i="0">
                <a:solidFill>
                  <a:srgbClr val="4A7400"/>
                </a:solidFill>
                <a:latin typeface="맑은 고딕"/>
              </a:rPr>
              <a:t>15–22초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" y="1481328"/>
            <a:ext cx="3246120" cy="4526280"/>
          </a:xfrm>
          <a:prstGeom prst="roundRect">
            <a:avLst>
              <a:gd name="adj" fmla="val 4500"/>
            </a:avLst>
          </a:prstGeom>
          <a:solidFill>
            <a:srgbClr val="F4F5F3"/>
          </a:solidFill>
          <a:ln w="12700">
            <a:solidFill>
              <a:srgbClr val="E3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8952" y="1645920"/>
            <a:ext cx="2706624" cy="3941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946" y="1938528"/>
            <a:ext cx="1960067" cy="23774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124712" y="4434840"/>
            <a:ext cx="1938528" cy="22860"/>
          </a:xfrm>
          <a:prstGeom prst="rect">
            <a:avLst/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4" y="4590288"/>
            <a:ext cx="2377440" cy="31089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30" b="1" i="0">
                <a:solidFill>
                  <a:srgbClr val="4A7400"/>
                </a:solidFill>
                <a:latin typeface="맑은 고딕"/>
              </a:rPr>
              <a:t>① 본체 측면 누르기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4965192"/>
            <a:ext cx="2377440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30" b="1" i="0">
                <a:solidFill>
                  <a:srgbClr val="111111"/>
                </a:solidFill>
                <a:latin typeface="맑은 고딕"/>
              </a:rPr>
              <a:t>② 입구 테두리 짚기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" y="5632704"/>
            <a:ext cx="2706624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6384" y="5650992"/>
            <a:ext cx="2624328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 i="0">
                <a:solidFill>
                  <a:srgbClr val="535C5E"/>
                </a:solidFill>
                <a:latin typeface="맑은 고딕"/>
              </a:rPr>
              <a:t>CUT 03    15–22초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96512" y="1463040"/>
            <a:ext cx="402336" cy="210312"/>
          </a:xfrm>
          <a:prstGeom prst="roundRect">
            <a:avLst>
              <a:gd name="adj" fmla="val 4500"/>
            </a:avLst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96512" y="1463040"/>
            <a:ext cx="402336" cy="21031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A0C0E"/>
                </a:solidFill>
                <a:latin typeface="맑은 고딕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1458468"/>
            <a:ext cx="3657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A7400"/>
                </a:solidFill>
                <a:latin typeface="맑은 고딕"/>
              </a:rPr>
              <a:t>화면 · 카메라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96512" y="1865376"/>
            <a:ext cx="7571231" cy="40233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111111"/>
                </a:solidFill>
                <a:latin typeface="맑은 고딕"/>
              </a:rPr>
              <a:t>•  의사가 제품을 들고 설명. 화면은 제품 클로즈업 위주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6512" y="2340864"/>
            <a:ext cx="7571231" cy="40233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111111"/>
                </a:solidFill>
                <a:latin typeface="맑은 고딕"/>
              </a:rPr>
              <a:t>•  본체 측면 누르기 → 도톰한 입구 테두리 사선 클로즈업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96512" y="2852928"/>
            <a:ext cx="7571231" cy="24688"/>
          </a:xfrm>
          <a:prstGeom prst="rect">
            <a:avLst/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096512" y="3035808"/>
            <a:ext cx="402336" cy="210312"/>
          </a:xfrm>
          <a:prstGeom prst="roundRect">
            <a:avLst>
              <a:gd name="adj" fmla="val 4500"/>
            </a:avLst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096512" y="3035808"/>
            <a:ext cx="402336" cy="21031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A0C0E"/>
                </a:solidFill>
                <a:latin typeface="맑은 고딕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8576" y="3031236"/>
            <a:ext cx="3657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A7400"/>
                </a:solidFill>
                <a:latin typeface="맑은 고딕"/>
              </a:rPr>
              <a:t>대사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6512" y="3383280"/>
            <a:ext cx="822960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70" b="1" i="0">
                <a:solidFill>
                  <a:srgbClr val="4A7400"/>
                </a:solidFill>
                <a:latin typeface="맑은 고딕"/>
              </a:rPr>
              <a:t>의사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38344" y="3351276"/>
            <a:ext cx="6601967" cy="8229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맑은 고딕"/>
              </a:rPr>
              <a:t>“본체는 쉽게 푹 꺼지지 않는 고탄성 EVA 소재를 쓰고, 발목 입구도 도톰하게 감싸도록 만들었어요.”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96512" y="4626864"/>
            <a:ext cx="3493008" cy="1517904"/>
          </a:xfrm>
          <a:prstGeom prst="roundRect">
            <a:avLst>
              <a:gd name="adj" fmla="val 4500"/>
            </a:avLst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772400" y="4626864"/>
            <a:ext cx="3895344" cy="1517904"/>
          </a:xfrm>
          <a:prstGeom prst="roundRect">
            <a:avLst>
              <a:gd name="adj" fmla="val 4500"/>
            </a:avLst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79392" y="4736592"/>
            <a:ext cx="310896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4A7400"/>
                </a:solidFill>
                <a:latin typeface="맑은 고딕"/>
              </a:rPr>
              <a:t>자막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9392" y="5010912"/>
            <a:ext cx="3182112" cy="9784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맑은 고딕"/>
              </a:rPr>
              <a:t>고탄성 EVA 소재
발목 주변의 지지감을 고려한 구조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46136" y="4736592"/>
            <a:ext cx="3584448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4A7400"/>
                </a:solidFill>
                <a:latin typeface="맑은 고딕"/>
              </a:rPr>
              <a:t>동작 · 촬영 메모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46136" y="5010912"/>
            <a:ext cx="3566160" cy="99669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111111"/>
                </a:solidFill>
                <a:latin typeface="맑은 고딕"/>
              </a:rPr>
              <a:t>• ① 엄지로 본체 측면을 눌렀다가 놓아 되돌아오는 모습을 촬영
• ② 손가락으로 발목 입구 테두리를 따라 짚으며 두께·형태를 보여줌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" y="6144768"/>
            <a:ext cx="11009376" cy="26517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A3033"/>
                </a:solidFill>
                <a:latin typeface="맑은 고딕"/>
              </a:rPr>
              <a:t>촬영 메모   소재명은 고탄성 EVA로 대사·자막 통일. 실물 사양 촬영 전 확인.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" y="6492240"/>
            <a:ext cx="11283696" cy="16459"/>
          </a:xfrm>
          <a:prstGeom prst="rect">
            <a:avLst/>
          </a:prstGeom>
          <a:solidFill>
            <a:srgbClr val="E3E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6537960"/>
            <a:ext cx="8869680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535C5E"/>
                </a:solidFill>
                <a:latin typeface="맑은 고딕"/>
              </a:rPr>
              <a:t>라라슈 쿼드그립 워킹화  |  촬영팀 전달용 최종 스토리보드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71048" y="6537960"/>
            <a:ext cx="1005840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35C5E"/>
                </a:solidFill>
                <a:latin typeface="맑은 고딕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438912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2A3033"/>
                </a:solidFill>
                <a:latin typeface="맑은 고딕"/>
              </a:rPr>
              <a:t>RHARA SHOE  /  라라슈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201168"/>
            <a:ext cx="269748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535C5E"/>
                </a:solidFill>
                <a:latin typeface="맑은 고딕"/>
              </a:rPr>
              <a:t>DETAILED STORYBOARD / 컷별 상세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512064"/>
            <a:ext cx="11283696" cy="16459"/>
          </a:xfrm>
          <a:prstGeom prst="rect">
            <a:avLst/>
          </a:prstGeom>
          <a:solidFill>
            <a:srgbClr val="E3E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75488" y="676656"/>
            <a:ext cx="987552" cy="402336"/>
          </a:xfrm>
          <a:prstGeom prst="roundRect">
            <a:avLst>
              <a:gd name="adj" fmla="val 4500"/>
            </a:avLst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713232"/>
            <a:ext cx="932688" cy="32918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10" b="1" i="0">
                <a:solidFill>
                  <a:srgbClr val="0A0C0E"/>
                </a:solidFill>
                <a:latin typeface="맑은 고딕"/>
              </a:rPr>
              <a:t>CUT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667512"/>
            <a:ext cx="7726679" cy="44805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300" b="1" i="0">
                <a:solidFill>
                  <a:srgbClr val="111111"/>
                </a:solidFill>
                <a:latin typeface="맑은 고딕"/>
              </a:rPr>
              <a:t>차별점 ② · 4점 그립 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749808"/>
            <a:ext cx="2350008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 i="0">
                <a:solidFill>
                  <a:srgbClr val="4A7400"/>
                </a:solidFill>
                <a:latin typeface="맑은 고딕"/>
              </a:rPr>
              <a:t>22–27초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" y="1481328"/>
            <a:ext cx="3246120" cy="4526280"/>
          </a:xfrm>
          <a:prstGeom prst="roundRect">
            <a:avLst>
              <a:gd name="adj" fmla="val 4500"/>
            </a:avLst>
          </a:prstGeom>
          <a:solidFill>
            <a:srgbClr val="F4F5F3"/>
          </a:solidFill>
          <a:ln w="12700">
            <a:solidFill>
              <a:srgbClr val="E3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8952" y="1645920"/>
            <a:ext cx="2706624" cy="3941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_fill_sole_crop.jpg_83_2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31136"/>
            <a:ext cx="2706624" cy="21396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1792224"/>
            <a:ext cx="2478024" cy="31089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A7400"/>
                </a:solidFill>
                <a:latin typeface="맑은 고딕"/>
              </a:rPr>
              <a:t>SOLE DETAIL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709160"/>
            <a:ext cx="2423160" cy="60350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30" b="1" i="0">
                <a:solidFill>
                  <a:srgbClr val="111111"/>
                </a:solidFill>
                <a:latin typeface="맑은 고딕"/>
              </a:rPr>
              <a:t>패드 4곳을 순서대로 짚기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5632704"/>
            <a:ext cx="2706624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" y="5650992"/>
            <a:ext cx="2624328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 i="0">
                <a:solidFill>
                  <a:srgbClr val="535C5E"/>
                </a:solidFill>
                <a:latin typeface="맑은 고딕"/>
              </a:rPr>
              <a:t>CUT 04    22–27초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96512" y="1463040"/>
            <a:ext cx="402336" cy="210312"/>
          </a:xfrm>
          <a:prstGeom prst="roundRect">
            <a:avLst>
              <a:gd name="adj" fmla="val 4500"/>
            </a:avLst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96512" y="1463040"/>
            <a:ext cx="402336" cy="21031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A0C0E"/>
                </a:solidFill>
                <a:latin typeface="맑은 고딕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1458468"/>
            <a:ext cx="3657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A7400"/>
                </a:solidFill>
                <a:latin typeface="맑은 고딕"/>
              </a:rPr>
              <a:t>화면 · 카메라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6512" y="1865376"/>
            <a:ext cx="7571231" cy="40233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111111"/>
                </a:solidFill>
                <a:latin typeface="맑은 고딕"/>
              </a:rPr>
              <a:t>•  신발을 뒤집어 패드 4곳이 한 화면에 들어오도록 촬영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96512" y="2340864"/>
            <a:ext cx="7571231" cy="40233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111111"/>
                </a:solidFill>
                <a:latin typeface="맑은 고딕"/>
              </a:rPr>
              <a:t>•  패드 위치와 무늬가 잘 보이도록 근접 촬영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96512" y="2852928"/>
            <a:ext cx="7571231" cy="24688"/>
          </a:xfrm>
          <a:prstGeom prst="rect">
            <a:avLst/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096512" y="3035808"/>
            <a:ext cx="402336" cy="210312"/>
          </a:xfrm>
          <a:prstGeom prst="roundRect">
            <a:avLst>
              <a:gd name="adj" fmla="val 4500"/>
            </a:avLst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96512" y="3035808"/>
            <a:ext cx="402336" cy="21031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A0C0E"/>
                </a:solidFill>
                <a:latin typeface="맑은 고딕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3031236"/>
            <a:ext cx="3657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A7400"/>
                </a:solidFill>
                <a:latin typeface="맑은 고딕"/>
              </a:rPr>
              <a:t>대사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6512" y="3383280"/>
            <a:ext cx="822960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70" b="1" i="0">
                <a:solidFill>
                  <a:srgbClr val="4A7400"/>
                </a:solidFill>
                <a:latin typeface="맑은 고딕"/>
              </a:rPr>
              <a:t>의사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38344" y="3351276"/>
            <a:ext cx="6601967" cy="8229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맑은 고딕"/>
              </a:rPr>
              <a:t>“밑창을 보시면, 바닥에 닿는 부분을 고려해서 네 곳에 그립 패드를 넣었어요.”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96512" y="4626864"/>
            <a:ext cx="3493008" cy="1517904"/>
          </a:xfrm>
          <a:prstGeom prst="roundRect">
            <a:avLst>
              <a:gd name="adj" fmla="val 4500"/>
            </a:avLst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772400" y="4626864"/>
            <a:ext cx="3895344" cy="1517904"/>
          </a:xfrm>
          <a:prstGeom prst="roundRect">
            <a:avLst>
              <a:gd name="adj" fmla="val 4500"/>
            </a:avLst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79392" y="4736592"/>
            <a:ext cx="310896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4A7400"/>
                </a:solidFill>
                <a:latin typeface="맑은 고딕"/>
              </a:rPr>
              <a:t>자막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9392" y="5010912"/>
            <a:ext cx="3182112" cy="9784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맑은 고딕"/>
              </a:rPr>
              <a:t>접지력을 고려한 4점 그립 설계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46136" y="4736592"/>
            <a:ext cx="3584448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4A7400"/>
                </a:solidFill>
                <a:latin typeface="맑은 고딕"/>
              </a:rPr>
              <a:t>동작 · 촬영 메모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46136" y="5010912"/>
            <a:ext cx="3566160" cy="99669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111111"/>
                </a:solidFill>
                <a:latin typeface="맑은 고딕"/>
              </a:rPr>
              <a:t>• 의사가 밑창을 안정적으로 고정한 상태에서 패드 4곳을 순서대로 짚음
• 편집 시 짚는 순서에 맞춰 ① ② ③ ④ 그래픽을 가볍게 표시 가능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" y="6144768"/>
            <a:ext cx="11009376" cy="26517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A3033"/>
                </a:solidFill>
                <a:latin typeface="맑은 고딕"/>
              </a:rPr>
              <a:t>촬영 메모   “네 곳”을 말할 때 패드가 명확하게 보이도록 타이밍 조정.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" y="6492240"/>
            <a:ext cx="11283696" cy="16459"/>
          </a:xfrm>
          <a:prstGeom prst="rect">
            <a:avLst/>
          </a:prstGeom>
          <a:solidFill>
            <a:srgbClr val="E3E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6537960"/>
            <a:ext cx="8869680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535C5E"/>
                </a:solidFill>
                <a:latin typeface="맑은 고딕"/>
              </a:rPr>
              <a:t>라라슈 쿼드그립 워킹화  |  촬영팀 전달용 최종 스토리보드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71048" y="6537960"/>
            <a:ext cx="1005840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35C5E"/>
                </a:solidFill>
                <a:latin typeface="맑은 고딕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438912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2A3033"/>
                </a:solidFill>
                <a:latin typeface="맑은 고딕"/>
              </a:rPr>
              <a:t>RHARA SHOE  /  라라슈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201168"/>
            <a:ext cx="269748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535C5E"/>
                </a:solidFill>
                <a:latin typeface="맑은 고딕"/>
              </a:rPr>
              <a:t>DETAILED STORYBOARD / 컷별 상세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512064"/>
            <a:ext cx="11283696" cy="16459"/>
          </a:xfrm>
          <a:prstGeom prst="rect">
            <a:avLst/>
          </a:prstGeom>
          <a:solidFill>
            <a:srgbClr val="E3E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75488" y="676656"/>
            <a:ext cx="987552" cy="402336"/>
          </a:xfrm>
          <a:prstGeom prst="roundRect">
            <a:avLst>
              <a:gd name="adj" fmla="val 4500"/>
            </a:avLst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713232"/>
            <a:ext cx="932688" cy="32918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10" b="1" i="0">
                <a:solidFill>
                  <a:srgbClr val="0A0C0E"/>
                </a:solidFill>
                <a:latin typeface="맑은 고딕"/>
              </a:rPr>
              <a:t>CUT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667512"/>
            <a:ext cx="7726679" cy="44805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300" b="1" i="0">
                <a:solidFill>
                  <a:srgbClr val="111111"/>
                </a:solidFill>
                <a:latin typeface="맑은 고딕"/>
              </a:rPr>
              <a:t>착화 · 실사용자의 반응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749808"/>
            <a:ext cx="2350008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 i="0">
                <a:solidFill>
                  <a:srgbClr val="4A7400"/>
                </a:solidFill>
                <a:latin typeface="맑은 고딕"/>
              </a:rPr>
              <a:t>27–30초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" y="1481328"/>
            <a:ext cx="3246120" cy="4526280"/>
          </a:xfrm>
          <a:prstGeom prst="roundRect">
            <a:avLst>
              <a:gd name="adj" fmla="val 4500"/>
            </a:avLst>
          </a:prstGeom>
          <a:solidFill>
            <a:srgbClr val="F4F5F3"/>
          </a:solidFill>
          <a:ln w="12700">
            <a:solidFill>
              <a:srgbClr val="E3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8952" y="1645920"/>
            <a:ext cx="2706624" cy="3941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931" y="1874519"/>
            <a:ext cx="2020376" cy="24505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6968" y="4690872"/>
            <a:ext cx="2487168" cy="59436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40" b="1" i="0">
                <a:solidFill>
                  <a:srgbClr val="111111"/>
                </a:solidFill>
                <a:latin typeface="맑은 고딕"/>
              </a:rPr>
              <a:t>착화 → 일어서기 → 2~3보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4407408"/>
            <a:ext cx="484632" cy="228600"/>
          </a:xfrm>
          <a:prstGeom prst="roundRect">
            <a:avLst>
              <a:gd name="adj" fmla="val 4500"/>
            </a:avLst>
          </a:prstGeom>
          <a:solidFill>
            <a:srgbClr val="E3E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4407408"/>
            <a:ext cx="484632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맑은 고딕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83080" y="4407408"/>
            <a:ext cx="484632" cy="228600"/>
          </a:xfrm>
          <a:prstGeom prst="roundRect">
            <a:avLst>
              <a:gd name="adj" fmla="val 4500"/>
            </a:avLst>
          </a:prstGeom>
          <a:solidFill>
            <a:srgbClr val="E3E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83080" y="4407408"/>
            <a:ext cx="484632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맑은 고딕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87168" y="4407408"/>
            <a:ext cx="484632" cy="228600"/>
          </a:xfrm>
          <a:prstGeom prst="roundRect">
            <a:avLst>
              <a:gd name="adj" fmla="val 4500"/>
            </a:avLst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87168" y="4407408"/>
            <a:ext cx="484632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C0E"/>
                </a:solidFill>
                <a:latin typeface="맑은 고딕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" y="5632704"/>
            <a:ext cx="2706624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" y="5650992"/>
            <a:ext cx="2624328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 i="0">
                <a:solidFill>
                  <a:srgbClr val="535C5E"/>
                </a:solidFill>
                <a:latin typeface="맑은 고딕"/>
              </a:rPr>
              <a:t>CUT 05    27–30초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96512" y="1463040"/>
            <a:ext cx="402336" cy="210312"/>
          </a:xfrm>
          <a:prstGeom prst="roundRect">
            <a:avLst>
              <a:gd name="adj" fmla="val 4500"/>
            </a:avLst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96512" y="1463040"/>
            <a:ext cx="402336" cy="21031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A0C0E"/>
                </a:solidFill>
                <a:latin typeface="맑은 고딕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1458468"/>
            <a:ext cx="3657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A7400"/>
                </a:solidFill>
                <a:latin typeface="맑은 고딕"/>
              </a:rPr>
              <a:t>화면 · 카메라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96512" y="1865376"/>
            <a:ext cx="7571231" cy="40233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111111"/>
                </a:solidFill>
                <a:latin typeface="맑은 고딕"/>
              </a:rPr>
              <a:t>•  일반인이 신발을 신고 일어나는 모습부터 근접 촬영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6512" y="2340864"/>
            <a:ext cx="7571231" cy="40233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111111"/>
                </a:solidFill>
                <a:latin typeface="맑은 고딕"/>
              </a:rPr>
              <a:t>•  발에 체중을 싣고 두세 걸음 걷는 장면을 짧고 자연스럽게 연결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96512" y="2852928"/>
            <a:ext cx="7571231" cy="24688"/>
          </a:xfrm>
          <a:prstGeom prst="rect">
            <a:avLst/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096512" y="3035808"/>
            <a:ext cx="402336" cy="210312"/>
          </a:xfrm>
          <a:prstGeom prst="roundRect">
            <a:avLst>
              <a:gd name="adj" fmla="val 4500"/>
            </a:avLst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096512" y="3035808"/>
            <a:ext cx="402336" cy="21031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A0C0E"/>
                </a:solidFill>
                <a:latin typeface="맑은 고딕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08576" y="3031236"/>
            <a:ext cx="3657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A7400"/>
                </a:solidFill>
                <a:latin typeface="맑은 고딕"/>
              </a:rPr>
              <a:t>대사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96512" y="3383280"/>
            <a:ext cx="822960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70" b="1" i="0">
                <a:solidFill>
                  <a:srgbClr val="D2401F"/>
                </a:solidFill>
                <a:latin typeface="맑은 고딕"/>
              </a:rPr>
              <a:t>일반인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38344" y="3351276"/>
            <a:ext cx="6601967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739" b="1" i="0">
                <a:solidFill>
                  <a:srgbClr val="111111"/>
                </a:solidFill>
                <a:latin typeface="맑은 고딕"/>
              </a:rPr>
              <a:t>“어! 정말 탄탄하게 받쳐주네요.”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96512" y="4059936"/>
            <a:ext cx="822960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70" b="1" i="0">
                <a:solidFill>
                  <a:srgbClr val="4A7400"/>
                </a:solidFill>
                <a:latin typeface="맑은 고딕"/>
              </a:rPr>
              <a:t>의사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38344" y="4027932"/>
            <a:ext cx="6601967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739" b="1" i="0">
                <a:solidFill>
                  <a:srgbClr val="111111"/>
                </a:solidFill>
                <a:latin typeface="맑은 고딕"/>
              </a:rPr>
              <a:t>(내레이션 없이 반응을 가볍게 바라보며 미소)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96512" y="4626864"/>
            <a:ext cx="3493008" cy="1517904"/>
          </a:xfrm>
          <a:prstGeom prst="roundRect">
            <a:avLst>
              <a:gd name="adj" fmla="val 4500"/>
            </a:avLst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772400" y="4626864"/>
            <a:ext cx="3895344" cy="1517904"/>
          </a:xfrm>
          <a:prstGeom prst="roundRect">
            <a:avLst>
              <a:gd name="adj" fmla="val 4500"/>
            </a:avLst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79392" y="4736592"/>
            <a:ext cx="310896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4A7400"/>
                </a:solidFill>
                <a:latin typeface="맑은 고딕"/>
              </a:rPr>
              <a:t>자막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9392" y="5010912"/>
            <a:ext cx="3182112" cy="9784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맑은 고딕"/>
              </a:rPr>
              <a:t>(설명성 자막 최소화 · 실제 착화 장면 중심)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46136" y="4736592"/>
            <a:ext cx="3584448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4A7400"/>
                </a:solidFill>
                <a:latin typeface="맑은 고딕"/>
              </a:rPr>
              <a:t>동작 · 촬영 메모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46136" y="5010912"/>
            <a:ext cx="3566160" cy="99669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111111"/>
                </a:solidFill>
                <a:latin typeface="맑은 고딕"/>
              </a:rPr>
              <a:t>• 일반인: 실제로 움직인 뒤 담백한 착화 소감과 작은 미소
• 의사: 멘트 없이 일반인의 반응을 편안하게 바라봄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" y="6144768"/>
            <a:ext cx="11009376" cy="26517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A3033"/>
                </a:solidFill>
                <a:latin typeface="맑은 고딕"/>
              </a:rPr>
              <a:t>촬영 메모   감탄 과장·엄지척 금지. 대사 테이크와 미소만 짓는 테이크 모두 확보.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" y="6492240"/>
            <a:ext cx="11283696" cy="16459"/>
          </a:xfrm>
          <a:prstGeom prst="rect">
            <a:avLst/>
          </a:prstGeom>
          <a:solidFill>
            <a:srgbClr val="E3E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" y="6537960"/>
            <a:ext cx="8869680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535C5E"/>
                </a:solidFill>
                <a:latin typeface="맑은 고딕"/>
              </a:rPr>
              <a:t>라라슈 쿼드그립 워킹화  |  촬영팀 전달용 최종 스토리보드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71048" y="6537960"/>
            <a:ext cx="1005840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35C5E"/>
                </a:solidFill>
                <a:latin typeface="맑은 고딕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438912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2A3033"/>
                </a:solidFill>
                <a:latin typeface="맑은 고딕"/>
              </a:rPr>
              <a:t>RHARA SHOE  /  라라슈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201168"/>
            <a:ext cx="269748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535C5E"/>
                </a:solidFill>
                <a:latin typeface="맑은 고딕"/>
              </a:rPr>
              <a:t>DETAILED STORYBOARD / 컷별 상세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512064"/>
            <a:ext cx="11283696" cy="16459"/>
          </a:xfrm>
          <a:prstGeom prst="rect">
            <a:avLst/>
          </a:prstGeom>
          <a:solidFill>
            <a:srgbClr val="E3E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75488" y="676656"/>
            <a:ext cx="987552" cy="402336"/>
          </a:xfrm>
          <a:prstGeom prst="roundRect">
            <a:avLst>
              <a:gd name="adj" fmla="val 4500"/>
            </a:avLst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713232"/>
            <a:ext cx="932688" cy="32918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10" b="1" i="0">
                <a:solidFill>
                  <a:srgbClr val="0A0C0E"/>
                </a:solidFill>
                <a:latin typeface="맑은 고딕"/>
              </a:rPr>
              <a:t>CUT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667512"/>
            <a:ext cx="7726679" cy="44805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300" b="1" i="0">
                <a:solidFill>
                  <a:srgbClr val="111111"/>
                </a:solidFill>
                <a:latin typeface="맑은 고딕"/>
              </a:rPr>
              <a:t>브랜드 엔딩 · 제품 히어로 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749808"/>
            <a:ext cx="2350008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 i="0">
                <a:solidFill>
                  <a:srgbClr val="4A7400"/>
                </a:solidFill>
                <a:latin typeface="맑은 고딕"/>
              </a:rPr>
              <a:t>엔딩 +2~3초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" y="1481328"/>
            <a:ext cx="3246120" cy="4526280"/>
          </a:xfrm>
          <a:prstGeom prst="roundRect">
            <a:avLst>
              <a:gd name="adj" fmla="val 4500"/>
            </a:avLst>
          </a:prstGeom>
          <a:solidFill>
            <a:srgbClr val="F4F5F3"/>
          </a:solidFill>
          <a:ln w="12700">
            <a:solidFill>
              <a:srgbClr val="E3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8952" y="1645920"/>
            <a:ext cx="2706624" cy="3941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rs_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614" y="1764792"/>
            <a:ext cx="1099867" cy="1143000"/>
          </a:xfrm>
          <a:prstGeom prst="rect">
            <a:avLst/>
          </a:prstGeom>
        </p:spPr>
      </p:pic>
      <p:pic>
        <p:nvPicPr>
          <p:cNvPr id="13" name="Picture 1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545" y="2761488"/>
            <a:ext cx="1741444" cy="21122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5256" y="5084064"/>
            <a:ext cx="2459736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4A7400"/>
                </a:solidFill>
                <a:latin typeface="맑은 고딕"/>
              </a:rPr>
              <a:t>MADE FOR STANDING.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5632704"/>
            <a:ext cx="2706624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" y="5650992"/>
            <a:ext cx="2624328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 i="0">
                <a:solidFill>
                  <a:srgbClr val="535C5E"/>
                </a:solidFill>
                <a:latin typeface="맑은 고딕"/>
              </a:rPr>
              <a:t>CUT 06    엔딩 +2~3초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96512" y="1463040"/>
            <a:ext cx="402336" cy="210312"/>
          </a:xfrm>
          <a:prstGeom prst="roundRect">
            <a:avLst>
              <a:gd name="adj" fmla="val 4500"/>
            </a:avLst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96512" y="1463040"/>
            <a:ext cx="402336" cy="21031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A0C0E"/>
                </a:solidFill>
                <a:latin typeface="맑은 고딕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1458468"/>
            <a:ext cx="3657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A7400"/>
                </a:solidFill>
                <a:latin typeface="맑은 고딕"/>
              </a:rPr>
              <a:t>화면 · 카메라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6512" y="1865376"/>
            <a:ext cx="7571231" cy="40233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111111"/>
                </a:solidFill>
                <a:latin typeface="맑은 고딕"/>
              </a:rPr>
              <a:t>•  의사·일반인 화면 퇴장. 제품의 전체 실루엣을 선명하게 촬영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96512" y="2340864"/>
            <a:ext cx="7571231" cy="40233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111111"/>
                </a:solidFill>
                <a:latin typeface="맑은 고딕"/>
              </a:rPr>
              <a:t>•  측면 형태가 드러나는 히어로 컷 + 필요 시 밑창 보조 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96512" y="2852928"/>
            <a:ext cx="7571231" cy="24688"/>
          </a:xfrm>
          <a:prstGeom prst="rect">
            <a:avLst/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096512" y="3035808"/>
            <a:ext cx="402336" cy="210312"/>
          </a:xfrm>
          <a:prstGeom prst="roundRect">
            <a:avLst>
              <a:gd name="adj" fmla="val 4500"/>
            </a:avLst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96512" y="3035808"/>
            <a:ext cx="402336" cy="21031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A0C0E"/>
                </a:solidFill>
                <a:latin typeface="맑은 고딕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3031236"/>
            <a:ext cx="365760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A7400"/>
                </a:solidFill>
                <a:latin typeface="맑은 고딕"/>
              </a:rPr>
              <a:t>대사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6512" y="3383280"/>
            <a:ext cx="822960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70" b="1" i="0">
                <a:solidFill>
                  <a:srgbClr val="4A7400"/>
                </a:solidFill>
                <a:latin typeface="맑은 고딕"/>
              </a:rPr>
              <a:t>대사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38344" y="3351276"/>
            <a:ext cx="6601967" cy="8229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맑은 고딕"/>
              </a:rPr>
              <a:t>없음 (의사 VO도 사용하지 않음)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96512" y="4626864"/>
            <a:ext cx="3493008" cy="1517904"/>
          </a:xfrm>
          <a:prstGeom prst="roundRect">
            <a:avLst>
              <a:gd name="adj" fmla="val 4500"/>
            </a:avLst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772400" y="4626864"/>
            <a:ext cx="3895344" cy="1517904"/>
          </a:xfrm>
          <a:prstGeom prst="roundRect">
            <a:avLst>
              <a:gd name="adj" fmla="val 4500"/>
            </a:avLst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79392" y="4736592"/>
            <a:ext cx="310896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4A7400"/>
                </a:solidFill>
                <a:latin typeface="맑은 고딕"/>
              </a:rPr>
              <a:t>자막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9392" y="5010912"/>
            <a:ext cx="3182112" cy="9784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맑은 고딕"/>
              </a:rPr>
              <a:t>MADE FOR STANDING.
RHARA SHOE
라라슈 쿼드그립 워킹화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46136" y="4736592"/>
            <a:ext cx="3584448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4A7400"/>
                </a:solidFill>
                <a:latin typeface="맑은 고딕"/>
              </a:rPr>
              <a:t>동작 · 촬영 메모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46136" y="5010912"/>
            <a:ext cx="3566160" cy="99669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111111"/>
                </a:solidFill>
                <a:latin typeface="맑은 고딕"/>
              </a:rPr>
              <a:t>• 과한 이펙트 없이 브랜드 로고·제품명 노출
• 배경음악은 본편에서 끊지 않고 엔딩으로 자연스럽게 연결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" y="6144768"/>
            <a:ext cx="11009376" cy="26517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A3033"/>
                </a:solidFill>
                <a:latin typeface="맑은 고딕"/>
              </a:rPr>
              <a:t>촬영 메모   브랜드 로고와 제품명을 읽을 수 있는 시간 확보.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" y="6492240"/>
            <a:ext cx="11283696" cy="16459"/>
          </a:xfrm>
          <a:prstGeom prst="rect">
            <a:avLst/>
          </a:prstGeom>
          <a:solidFill>
            <a:srgbClr val="E3E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6537960"/>
            <a:ext cx="8869680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535C5E"/>
                </a:solidFill>
                <a:latin typeface="맑은 고딕"/>
              </a:rPr>
              <a:t>라라슈 쿼드그립 워킹화  |  촬영팀 전달용 최종 스토리보드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71048" y="6537960"/>
            <a:ext cx="1005840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35C5E"/>
                </a:solidFill>
                <a:latin typeface="맑은 고딕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438912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2A3033"/>
                </a:solidFill>
                <a:latin typeface="맑은 고딕"/>
              </a:rPr>
              <a:t>RHARA SHOE  /  라라슈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201168"/>
            <a:ext cx="269748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535C5E"/>
                </a:solidFill>
                <a:latin typeface="맑은 고딕"/>
              </a:rPr>
              <a:t>SHOOTING CHECKLIST / 촬영 준비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512064"/>
            <a:ext cx="11283696" cy="16459"/>
          </a:xfrm>
          <a:prstGeom prst="rect">
            <a:avLst/>
          </a:prstGeom>
          <a:solidFill>
            <a:srgbClr val="E3E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2064" y="768096"/>
            <a:ext cx="9144000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111111"/>
                </a:solidFill>
                <a:latin typeface="맑은 고딕"/>
              </a:rPr>
              <a:t>출연 · 준비 · 동시 촬영 체크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16736"/>
            <a:ext cx="9509760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2A3033"/>
                </a:solidFill>
                <a:latin typeface="맑은 고딕"/>
              </a:rPr>
              <a:t>실물 시연 중심으로 촬영하고, 광고용 연기 톤은 최소화합니다.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47088"/>
            <a:ext cx="3639312" cy="4206240"/>
          </a:xfrm>
          <a:prstGeom prst="roundRect">
            <a:avLst>
              <a:gd name="adj" fmla="val 4500"/>
            </a:avLst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847088"/>
            <a:ext cx="3639312" cy="82296"/>
          </a:xfrm>
          <a:prstGeom prst="rect">
            <a:avLst/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2103120"/>
            <a:ext cx="3227832" cy="31089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650" b="1" i="0">
                <a:solidFill>
                  <a:srgbClr val="4A7400"/>
                </a:solidFill>
                <a:latin typeface="맑은 고딕"/>
              </a:rPr>
              <a:t>준비물 · 소품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660904"/>
            <a:ext cx="3182112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맑은 고딕"/>
              </a:rPr>
              <a:t>•  라라슈 쿼드그립 워킹화 실물 (촬영 컬러·사이즈 확인)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447288"/>
            <a:ext cx="3182112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맑은 고딕"/>
              </a:rPr>
              <a:t>•  본체·입구·그립 패드 디테일이 선명한 제품 준비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233672"/>
            <a:ext cx="3182112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맑은 고딕"/>
              </a:rPr>
              <a:t>•  손동작이 보이도록 손톱·제품 표면 정리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020056"/>
            <a:ext cx="3182112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맑은 고딕"/>
              </a:rPr>
              <a:t>•  밑창 패드 4곳을 순서대로 짚을 동작 리허설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1847088"/>
            <a:ext cx="3639312" cy="4206240"/>
          </a:xfrm>
          <a:prstGeom prst="roundRect">
            <a:avLst>
              <a:gd name="adj" fmla="val 4500"/>
            </a:avLst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25112" y="1847088"/>
            <a:ext cx="3639312" cy="82296"/>
          </a:xfrm>
          <a:prstGeom prst="rect">
            <a:avLst/>
          </a:prstGeom>
          <a:solidFill>
            <a:srgbClr val="BEF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44568" y="2103120"/>
            <a:ext cx="3227832" cy="31089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650" b="1" i="0">
                <a:solidFill>
                  <a:srgbClr val="4A7400"/>
                </a:solidFill>
                <a:latin typeface="맑은 고딕"/>
              </a:rPr>
              <a:t>카메라 · 동선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660904"/>
            <a:ext cx="3182112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맑은 고딕"/>
              </a:rPr>
              <a:t>•  ① 정면 클로즈업 / ② 의사·일반인 투샷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5424" y="3447288"/>
            <a:ext cx="3182112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맑은 고딕"/>
              </a:rPr>
              <a:t>•  ③ 제품 핸즈 클로즈업 / ④ 바닥 로우앵글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4233672"/>
            <a:ext cx="3182112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맑은 고딕"/>
              </a:rPr>
              <a:t>•  측면 누르기·발목 테두리·4점 패드 B-roll 넉넉히 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5020056"/>
            <a:ext cx="3182112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맑은 고딕"/>
              </a:rPr>
              <a:t>•  착화 소감 테이크와 미소만 짓는 테이크 모두 촬영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47304" y="1847088"/>
            <a:ext cx="3639312" cy="4206240"/>
          </a:xfrm>
          <a:prstGeom prst="roundRect">
            <a:avLst>
              <a:gd name="adj" fmla="val 4500"/>
            </a:avLst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47304" y="1847088"/>
            <a:ext cx="3639312" cy="82296"/>
          </a:xfrm>
          <a:prstGeom prst="rect">
            <a:avLst/>
          </a:prstGeom>
          <a:solidFill>
            <a:srgbClr val="FF7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66760" y="2103120"/>
            <a:ext cx="3227832" cy="31089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650" b="1" i="0">
                <a:solidFill>
                  <a:srgbClr val="D2401F"/>
                </a:solidFill>
                <a:latin typeface="맑은 고딕"/>
              </a:rPr>
              <a:t>광고 문구 · 편집 검수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6" y="2660904"/>
            <a:ext cx="3182112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맑은 고딕"/>
              </a:rPr>
              <a:t>•  의사 추천·보증처럼 읽히는 표현과 과장된 체험 연출 지양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6" y="3447288"/>
            <a:ext cx="3182112" cy="80467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맑은 고딕"/>
              </a:rPr>
              <a:t>•  대사/자막 “고탄성 EVA” 표기 통일 (실제 소재 사양 확인)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6" y="4416552"/>
            <a:ext cx="3182112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맑은 고딕"/>
              </a:rPr>
              <a:t>•  금칙 효능 표현은 별도 증빙·광고 심의 확인 전 제외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6" y="5202936"/>
            <a:ext cx="3182112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맑은 고딕"/>
              </a:rPr>
              <a:t>•  30초 본편+엔딩 목표: 현장 실측 후 컷 길이 재조정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" y="6492240"/>
            <a:ext cx="11283696" cy="16459"/>
          </a:xfrm>
          <a:prstGeom prst="rect">
            <a:avLst/>
          </a:prstGeom>
          <a:solidFill>
            <a:srgbClr val="E3E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8869680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535C5E"/>
                </a:solidFill>
                <a:latin typeface="맑은 고딕"/>
              </a:rPr>
              <a:t>라라슈 쿼드그립 워킹화  |  촬영팀 전달용 최종 스토리보드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71048" y="6537960"/>
            <a:ext cx="1005840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35C5E"/>
                </a:solidFill>
                <a:latin typeface="맑은 고딕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1224</Words>
  <Application>Microsoft Office PowerPoint</Application>
  <PresentationFormat>와이드스크린</PresentationFormat>
  <Paragraphs>203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YONG JOO SHIN</dc:creator>
  <cp:keywords/>
  <dc:description>generated using python-pptx</dc:description>
  <cp:lastModifiedBy>동규 신</cp:lastModifiedBy>
  <cp:revision>2</cp:revision>
  <dcterms:created xsi:type="dcterms:W3CDTF">2013-01-27T09:14:16Z</dcterms:created>
  <dcterms:modified xsi:type="dcterms:W3CDTF">2026-10-21T06:48:36Z</dcterms:modified>
  <cp:category/>
</cp:coreProperties>
</file>