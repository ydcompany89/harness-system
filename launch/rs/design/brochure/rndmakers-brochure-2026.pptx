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040c5ae-3879-e260-70b5-998ab8a190f3}">
          <p14:sldIdLst>
            <p14:sldId id="256"/>
          </p14:sldIdLst>
        </p14:section>
        <p14:section name="Recycle Play" id="{337e64e6-eaeb-b09a-a8f7-02c48337ff51}">
          <p14:sldIdLst>
            <p14:sldId id="257"/>
          </p14:sldIdLst>
        </p14:section>
        <p14:section name="RhaRa Shoe" id="{01f1db70-f4eb-5964-3b90-d4a1bdd600aa}">
          <p14:sldIdLst>
            <p14:sldId id="258"/>
          </p14:sldIdLst>
        </p14:section>
        <p14:section name="Company" id="{c0c719fc-3f37-4e79-bb80-76fbe6198d84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원·도넛 도형 = 순환·타이어 모티프. 하단 라임 박스가 B2B 상담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가격·입수는 회사 소개서(2601ver) 권장가 기준 — 최신가 확인. 발등낮은 스마일 규격·가격 미확정이라 "상담 시 안내". PEFC 인증 문구는 근거 확인 전이라 제외. 칫솔 모 수는 제품 이미지 표기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질병명(평발·O자 다리·족저근막염) 문구는 표시광고법·의료기기 오인 리스크로 삭제. 워킹화 사진은 대표 제공 리터칭 이미지, 인솔은 9/30 실물 리터칭. 패드 라임은 양산 컬러 확정(P18)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연혁: 2023 창업진흥원 국가과제 / 2026 새활용 2차·라라슈 런칭은 대표 지시(10/5). 납품처 실명 노출은 대표 확인 필요. QR = rharashoe.netlify.app/?src=brochure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181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646480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646480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81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bg1"/>
                </a:solidFill>
              </a:rPr>
              <a:t>R&amp;D MAKERS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chemeClr val="bg2"/>
                </a:solidFill>
              </a:rPr>
              <a:t>BROCHURE 2026</a:t>
            </a:r>
            <a:endParaRPr lang="en-US" sz="900" dirty="0"/>
          </a:p>
        </p:txBody>
      </p:sp>
      <p:sp>
        <p:nvSpPr>
          <p:cNvPr id="4" name="보라 원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코랄 도넛"/>
          <p:cNvSpPr/>
          <p:nvPr/>
        </p:nvSpPr>
        <p:spPr>
          <a:xfrm>
            <a:off x="2697480" y="2971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코랄 도넛 속"/>
          <p:cNvSpPr/>
          <p:nvPr/>
        </p:nvSpPr>
        <p:spPr>
          <a:xfrm>
            <a:off x="2971800" y="3246120"/>
            <a:ext cx="320040" cy="320040"/>
          </a:xfrm>
          <a:prstGeom prst="ellipse">
            <a:avLst/>
          </a:prstGeom>
          <a:solidFill>
            <a:srgbClr val="181478"/>
          </a:solidFill>
          <a:ln/>
        </p:spPr>
      </p:sp>
      <p:sp>
        <p:nvSpPr>
          <p:cNvPr id="7" name="라임 타깃"/>
          <p:cNvSpPr/>
          <p:nvPr/>
        </p:nvSpPr>
        <p:spPr>
          <a:xfrm>
            <a:off x="4526280" y="128016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라임 타깃 속"/>
          <p:cNvSpPr/>
          <p:nvPr/>
        </p:nvSpPr>
        <p:spPr>
          <a:xfrm>
            <a:off x="4983480" y="1737360"/>
            <a:ext cx="914400" cy="914400"/>
          </a:xfrm>
          <a:prstGeom prst="ellipse">
            <a:avLst/>
          </a:prstGeom>
          <a:solidFill>
            <a:srgbClr val="181478"/>
          </a:solidFill>
          <a:ln/>
        </p:spPr>
      </p:sp>
      <p:sp>
        <p:nvSpPr>
          <p:cNvPr id="9" name="라임 타깃 중심"/>
          <p:cNvSpPr/>
          <p:nvPr/>
        </p:nvSpPr>
        <p:spPr>
          <a:xfrm>
            <a:off x="5230368" y="19842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표지 헤드라인"/>
          <p:cNvSpPr txBox="1"/>
          <p:nvPr/>
        </p:nvSpPr>
        <p:spPr>
          <a:xfrm>
            <a:off x="548640" y="4343400"/>
            <a:ext cx="6464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chemeClr val="bg2"/>
                </a:solidFill>
              </a:rPr>
              <a:t>남은 것의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chemeClr val="bg2"/>
                </a:solidFill>
              </a:rPr>
              <a:t>다음 모양.</a:t>
            </a:r>
            <a:endParaRPr lang="en-US" sz="5200" dirty="0"/>
          </a:p>
        </p:txBody>
      </p:sp>
      <p:sp>
        <p:nvSpPr>
          <p:cNvPr id="11" name="표지 서브"/>
          <p:cNvSpPr txBox="1"/>
          <p:nvPr/>
        </p:nvSpPr>
        <p:spPr>
          <a:xfrm>
            <a:off x="548640" y="635508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버려지는 소재로 제품을 만드는 제조 파트너</a:t>
            </a:r>
            <a:endParaRPr lang="en-US" sz="1500" dirty="0"/>
          </a:p>
        </p:txBody>
      </p:sp>
      <p:sp>
        <p:nvSpPr>
          <p:cNvPr id="12" name="브랜드 라인"/>
          <p:cNvSpPr txBox="1"/>
          <p:nvPr/>
        </p:nvSpPr>
        <p:spPr>
          <a:xfrm>
            <a:off x="548640" y="690372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Recycle Play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2"/>
                </a:solidFill>
              </a:rPr>
              <a:t>    욕실에 즐거움을 쌓다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RhaRa Shoe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2"/>
                </a:solidFill>
              </a:rPr>
              <a:t>      오래 서서 일하는 사람들을 위한 워킹화·인솔</a:t>
            </a:r>
            <a:endParaRPr lang="en-US" sz="1200" dirty="0"/>
          </a:p>
        </p:txBody>
      </p:sp>
      <p:sp>
        <p:nvSpPr>
          <p:cNvPr id="13" name="상담 유도 박스"/>
          <p:cNvSpPr/>
          <p:nvPr/>
        </p:nvSpPr>
        <p:spPr>
          <a:xfrm>
            <a:off x="548640" y="8001000"/>
            <a:ext cx="6464808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14" name="상담 제목"/>
          <p:cNvSpPr txBox="1"/>
          <p:nvPr/>
        </p:nvSpPr>
        <p:spPr>
          <a:xfrm>
            <a:off x="868680" y="8211312"/>
            <a:ext cx="5824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1478"/>
                </a:solidFill>
              </a:rPr>
              <a:t>OEM · ODM · 납품 상담</a:t>
            </a:r>
            <a:endParaRPr lang="en-US" sz="2100" dirty="0"/>
          </a:p>
        </p:txBody>
      </p:sp>
      <p:sp>
        <p:nvSpPr>
          <p:cNvPr id="15" name="상담 설명"/>
          <p:cNvSpPr txBox="1"/>
          <p:nvPr/>
        </p:nvSpPr>
        <p:spPr>
          <a:xfrm>
            <a:off x="868680" y="8641080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1478"/>
                </a:solidFill>
              </a:rPr>
              <a:t>소재 개발부터 국내 생산, 유통 납품까지. 부스에서 바로 상담하세요.</a:t>
            </a:r>
            <a:endParaRPr lang="en-US" sz="1150" dirty="0"/>
          </a:p>
        </p:txBody>
      </p:sp>
      <p:sp>
        <p:nvSpPr>
          <p:cNvPr id="16" name="상담 칩"/>
          <p:cNvSpPr/>
          <p:nvPr/>
        </p:nvSpPr>
        <p:spPr>
          <a:xfrm>
            <a:off x="868680" y="90525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81478"/>
          </a:solidFill>
          <a:ln/>
        </p:spPr>
      </p:sp>
      <p:sp>
        <p:nvSpPr>
          <p:cNvPr id="17" name="상담 칩 글자"/>
          <p:cNvSpPr txBox="1"/>
          <p:nvPr/>
        </p:nvSpPr>
        <p:spPr>
          <a:xfrm>
            <a:off x="868680" y="9052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자체 브랜드 OEM</a:t>
            </a:r>
            <a:endParaRPr lang="en-US" sz="1050" dirty="0"/>
          </a:p>
        </p:txBody>
      </p:sp>
      <p:sp>
        <p:nvSpPr>
          <p:cNvPr id="18" name="상담 칩"/>
          <p:cNvSpPr/>
          <p:nvPr/>
        </p:nvSpPr>
        <p:spPr>
          <a:xfrm>
            <a:off x="2743200" y="90525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81478"/>
          </a:solidFill>
          <a:ln/>
        </p:spPr>
      </p:sp>
      <p:sp>
        <p:nvSpPr>
          <p:cNvPr id="19" name="상담 칩 글자"/>
          <p:cNvSpPr txBox="1"/>
          <p:nvPr/>
        </p:nvSpPr>
        <p:spPr>
          <a:xfrm>
            <a:off x="2743200" y="9052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소재·제품 ODM</a:t>
            </a:r>
            <a:endParaRPr lang="en-US" sz="1050" dirty="0"/>
          </a:p>
        </p:txBody>
      </p:sp>
      <p:sp>
        <p:nvSpPr>
          <p:cNvPr id="20" name="상담 칩"/>
          <p:cNvSpPr/>
          <p:nvPr/>
        </p:nvSpPr>
        <p:spPr>
          <a:xfrm>
            <a:off x="4617720" y="90525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81478"/>
          </a:solidFill>
          <a:ln/>
        </p:spPr>
      </p:sp>
      <p:sp>
        <p:nvSpPr>
          <p:cNvPr id="21" name="상담 칩 글자"/>
          <p:cNvSpPr txBox="1"/>
          <p:nvPr/>
        </p:nvSpPr>
        <p:spPr>
          <a:xfrm>
            <a:off x="4617720" y="9052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단체 공급·입점</a:t>
            </a:r>
            <a:endParaRPr lang="en-US" sz="1050" dirty="0"/>
          </a:p>
        </p:txBody>
      </p:sp>
      <p:sp>
        <p:nvSpPr>
          <p:cNvPr id="22" name="회사명"/>
          <p:cNvSpPr txBox="1"/>
          <p:nvPr/>
        </p:nvSpPr>
        <p:spPr>
          <a:xfrm>
            <a:off x="4270248" y="10003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㈜알앤디메이커스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48640" y="5029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chemeClr val="accent3"/>
                </a:solidFill>
              </a:rPr>
              <a:t>RECYCLE PLAY  ·  BATHROOM &amp; ORAL CARE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욕실에 즐거움을 쌓다</a:t>
            </a:r>
            <a:endParaRPr lang="en-US" sz="2600" dirty="0"/>
          </a:p>
        </p:txBody>
      </p:sp>
      <p:pic>
        <p:nvPicPr>
          <p:cNvPr id="4" name="퀼트패턴 스마일 욕실화" descr="img/slipper-qui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108960" cy="1871868"/>
          </a:xfrm>
          <a:prstGeom prst="rect">
            <a:avLst/>
          </a:prstGeom>
        </p:spPr>
      </p:pic>
      <p:pic>
        <p:nvPicPr>
          <p:cNvPr id="5" name="발등낮은 스마일 욕실화" descr="img/slipper-lo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645920"/>
            <a:ext cx="3108960" cy="1871868"/>
          </a:xfrm>
          <a:prstGeom prst="rect">
            <a:avLst/>
          </a:prstGeom>
        </p:spPr>
      </p:pic>
      <p:sp>
        <p:nvSpPr>
          <p:cNvPr id="6" name="욕실화1 정보"/>
          <p:cNvSpPr txBox="1"/>
          <p:nvPr/>
        </p:nvSpPr>
        <p:spPr>
          <a:xfrm>
            <a:off x="548640" y="36549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퀼트패턴 스마일 욕실화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275mm · 차콜/네이비 · 한국산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권장가 3,900원 · 박스 18개</a:t>
            </a:r>
            <a:endParaRPr lang="en-US" sz="1300" dirty="0"/>
          </a:p>
        </p:txBody>
      </p:sp>
      <p:sp>
        <p:nvSpPr>
          <p:cNvPr id="7" name="욕실화2 정보"/>
          <p:cNvSpPr txBox="1"/>
          <p:nvPr/>
        </p:nvSpPr>
        <p:spPr>
          <a:xfrm>
            <a:off x="3904488" y="36549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발등낮은 스마일 욕실화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한국산 · 규격·컬러·단가는 상담 시 안내</a:t>
            </a:r>
            <a:endParaRPr lang="en-US" sz="1300" dirty="0"/>
          </a:p>
        </p:txBody>
      </p:sp>
      <p:sp>
        <p:nvSpPr>
          <p:cNvPr id="8" name="소재 띠"/>
          <p:cNvSpPr/>
          <p:nvPr/>
        </p:nvSpPr>
        <p:spPr>
          <a:xfrm>
            <a:off x="548640" y="4459620"/>
            <a:ext cx="6464808" cy="658368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/>
        </p:spPr>
      </p:sp>
      <p:sp>
        <p:nvSpPr>
          <p:cNvPr id="9" name="소재 설명"/>
          <p:cNvSpPr txBox="1"/>
          <p:nvPr/>
        </p:nvSpPr>
        <p:spPr>
          <a:xfrm>
            <a:off x="822960" y="4532772"/>
            <a:ext cx="5916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실크벽지와 PVC를 분리해 업사이클링한 원료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전 제품 한국 제조  ·  다이소 전국 매장 입점 (2023.09~)</a:t>
            </a:r>
            <a:endParaRPr lang="en-US" sz="1250" dirty="0"/>
          </a:p>
        </p:txBody>
      </p:sp>
      <p:sp>
        <p:nvSpPr>
          <p:cNvPr id="10" name="구강케어 아이브로"/>
          <p:cNvSpPr txBox="1"/>
          <p:nvPr/>
        </p:nvSpPr>
        <p:spPr>
          <a:xfrm>
            <a:off x="548640" y="5392308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chemeClr val="accent3"/>
                </a:solidFill>
              </a:rPr>
              <a:t>ORAL CARE  ·  refeeel</a:t>
            </a:r>
            <a:endParaRPr lang="en-US" sz="950" dirty="0"/>
          </a:p>
        </p:txBody>
      </p:sp>
      <p:sp>
        <p:nvSpPr>
          <p:cNvPr id="11" name="구강케어 제목"/>
          <p:cNvSpPr txBox="1"/>
          <p:nvPr/>
        </p:nvSpPr>
        <p:spPr>
          <a:xfrm>
            <a:off x="548640" y="5639196"/>
            <a:ext cx="6464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나무에서 온 구강케어</a:t>
            </a:r>
            <a:endParaRPr lang="en-US" sz="1800" dirty="0"/>
          </a:p>
        </p:txBody>
      </p:sp>
      <p:pic>
        <p:nvPicPr>
          <p:cNvPr id="12" name="floss.jpg" descr="img/flos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6169548"/>
            <a:ext cx="2033016" cy="1626413"/>
          </a:xfrm>
          <a:prstGeom prst="rect">
            <a:avLst/>
          </a:prstGeom>
        </p:spPr>
      </p:pic>
      <p:pic>
        <p:nvPicPr>
          <p:cNvPr id="13" name="toothbrush.jpg" descr="img/toothbrush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64536" y="6169548"/>
            <a:ext cx="2033016" cy="1626413"/>
          </a:xfrm>
          <a:prstGeom prst="rect">
            <a:avLst/>
          </a:prstGeom>
        </p:spPr>
      </p:pic>
      <p:pic>
        <p:nvPicPr>
          <p:cNvPr id="14" name="cxp.jpg" descr="img/cxp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80432" y="6169548"/>
            <a:ext cx="2033016" cy="1626413"/>
          </a:xfrm>
          <a:prstGeom prst="rect">
            <a:avLst/>
          </a:prstGeom>
        </p:spPr>
      </p:pic>
      <p:sp>
        <p:nvSpPr>
          <p:cNvPr id="15" name="구강케어 1"/>
          <p:cNvSpPr txBox="1"/>
          <p:nvPr/>
        </p:nvSpPr>
        <p:spPr>
          <a:xfrm>
            <a:off x="548640" y="7933121"/>
            <a:ext cx="2033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어금니까지 쏙쏙 칫솔형 치실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ㄱ자형 헤드 · 칫솔처럼 쥐는 핸들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리필 20개입 교체형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세트(핸들+리필 20개입) 4,900원</a:t>
            </a:r>
            <a:endParaRPr lang="en-US" sz="1150" dirty="0"/>
          </a:p>
        </p:txBody>
      </p:sp>
      <p:sp>
        <p:nvSpPr>
          <p:cNvPr id="16" name="구강케어 2"/>
          <p:cNvSpPr txBox="1"/>
          <p:nvPr/>
        </p:nvSpPr>
        <p:spPr>
          <a:xfrm>
            <a:off x="2764536" y="7933121"/>
            <a:ext cx="2033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나이스샷 '왕모' 칫솔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블랙 이중미세모 5,255모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블루 스파이럴모 4,416모</a:t>
            </a:r>
            <a:endParaRPr lang="en-US" sz="1150" dirty="0"/>
          </a:p>
        </p:txBody>
      </p:sp>
      <p:sp>
        <p:nvSpPr>
          <p:cNvPr id="17" name="구강케어 3"/>
          <p:cNvSpPr txBox="1"/>
          <p:nvPr/>
        </p:nvSpPr>
        <p:spPr>
          <a:xfrm>
            <a:off x="4980432" y="7933121"/>
            <a:ext cx="2033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CXP 소재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임업부산물(목재)을 활용한 복합소재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칫솔·치실 핸들에 사용</a:t>
            </a:r>
            <a:endParaRPr lang="en-US" sz="1150" dirty="0"/>
          </a:p>
        </p:txBody>
      </p:sp>
      <p:sp>
        <p:nvSpPr>
          <p:cNvPr id="18" name="OEM 띠"/>
          <p:cNvSpPr/>
          <p:nvPr/>
        </p:nvSpPr>
        <p:spPr>
          <a:xfrm>
            <a:off x="548640" y="9226296"/>
            <a:ext cx="6464808" cy="749808"/>
          </a:xfrm>
          <a:prstGeom prst="roundRect">
            <a:avLst>
              <a:gd name="adj" fmla="val 9756"/>
            </a:avLst>
          </a:prstGeom>
          <a:solidFill>
            <a:srgbClr val="181478"/>
          </a:solidFill>
          <a:ln/>
        </p:spPr>
      </p:sp>
      <p:sp>
        <p:nvSpPr>
          <p:cNvPr id="19" name="OEM 안내"/>
          <p:cNvSpPr txBox="1"/>
          <p:nvPr/>
        </p:nvSpPr>
        <p:spPr>
          <a:xfrm>
            <a:off x="822960" y="9299448"/>
            <a:ext cx="5916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OEM · ODM 상담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욕실화·구강케어 제품을 귀사 브랜드와 패키지로 — 컬러·패키지·수량 맞춤 상담</a:t>
            </a:r>
            <a:endParaRPr lang="en-US" sz="1300" dirty="0"/>
          </a:p>
        </p:txBody>
      </p:sp>
      <p:sp>
        <p:nvSpPr>
          <p:cNvPr id="20" name="쪽번호"/>
          <p:cNvSpPr txBox="1"/>
          <p:nvPr/>
        </p:nvSpPr>
        <p:spPr>
          <a:xfrm>
            <a:off x="548640" y="101864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tx2"/>
                </a:solidFill>
              </a:rPr>
              <a:t>R&amp;D MAKERS    02 / 04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48640" y="5029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chemeClr val="accent3"/>
                </a:solidFill>
              </a:rPr>
              <a:t>RHARA SHOE  ·  라라슈  ·  2026.11.11 OPEN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오래 서서 일하는 사람들을 위한</a:t>
            </a:r>
            <a:endParaRPr lang="en-US" sz="2600" dirty="0"/>
          </a:p>
        </p:txBody>
      </p:sp>
      <p:sp>
        <p:nvSpPr>
          <p:cNvPr id="4" name="슬로건"/>
          <p:cNvSpPr txBox="1"/>
          <p:nvPr/>
        </p:nvSpPr>
        <p:spPr>
          <a:xfrm>
            <a:off x="548640" y="141732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Made for Standing.</a:t>
            </a:r>
            <a:endParaRPr lang="en-US" sz="1300" dirty="0"/>
          </a:p>
        </p:txBody>
      </p:sp>
      <p:pic>
        <p:nvPicPr>
          <p:cNvPr id="5" name="워킹화" descr="img/sho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036194" cy="3154680"/>
          </a:xfrm>
          <a:prstGeom prst="rect">
            <a:avLst/>
          </a:prstGeom>
        </p:spPr>
      </p:pic>
      <p:pic>
        <p:nvPicPr>
          <p:cNvPr id="6" name="밑창 그립 패드" descr="img/outso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154" y="1874520"/>
            <a:ext cx="3154294" cy="1288003"/>
          </a:xfrm>
          <a:prstGeom prst="rect">
            <a:avLst/>
          </a:prstGeom>
        </p:spPr>
      </p:pic>
      <p:sp>
        <p:nvSpPr>
          <p:cNvPr id="7" name="패드 캡션"/>
          <p:cNvSpPr txBox="1"/>
          <p:nvPr/>
        </p:nvSpPr>
        <p:spPr>
          <a:xfrm>
            <a:off x="3859154" y="3208243"/>
            <a:ext cx="31542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밑창 그립 패드 · 양산 컬러(라임) 적용 이미지</a:t>
            </a:r>
            <a:endParaRPr lang="en-US" sz="850" dirty="0"/>
          </a:p>
        </p:txBody>
      </p:sp>
      <p:sp>
        <p:nvSpPr>
          <p:cNvPr id="8" name="워킹화 이름"/>
          <p:cNvSpPr txBox="1"/>
          <p:nvPr/>
        </p:nvSpPr>
        <p:spPr>
          <a:xfrm>
            <a:off x="3859154" y="3464275"/>
            <a:ext cx="31542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쿼드그립 종일편한 워킹화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소비자가 42,500원</a:t>
            </a:r>
            <a:endParaRPr lang="en-US" sz="1500" dirty="0"/>
          </a:p>
        </p:txBody>
      </p:sp>
      <p:sp>
        <p:nvSpPr>
          <p:cNvPr id="9" name="번호"/>
          <p:cNvSpPr/>
          <p:nvPr/>
        </p:nvSpPr>
        <p:spPr>
          <a:xfrm>
            <a:off x="3859154" y="4076923"/>
            <a:ext cx="219456" cy="21945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번호 글자"/>
          <p:cNvSpPr txBox="1"/>
          <p:nvPr/>
        </p:nvSpPr>
        <p:spPr>
          <a:xfrm>
            <a:off x="3859154" y="407692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47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구조 1"/>
          <p:cNvSpPr txBox="1"/>
          <p:nvPr/>
        </p:nvSpPr>
        <p:spPr>
          <a:xfrm>
            <a:off x="4188338" y="4049491"/>
            <a:ext cx="2825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쿼드그립 4점 패드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밑창 4곳, 폐타이어 새활용 고무</a:t>
            </a:r>
            <a:endParaRPr lang="en-US" sz="1000" dirty="0"/>
          </a:p>
        </p:txBody>
      </p:sp>
      <p:sp>
        <p:nvSpPr>
          <p:cNvPr id="12" name="번호"/>
          <p:cNvSpPr/>
          <p:nvPr/>
        </p:nvSpPr>
        <p:spPr>
          <a:xfrm>
            <a:off x="3859154" y="4479259"/>
            <a:ext cx="219456" cy="21945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번호 글자"/>
          <p:cNvSpPr txBox="1"/>
          <p:nvPr/>
        </p:nvSpPr>
        <p:spPr>
          <a:xfrm>
            <a:off x="3859154" y="447925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47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구조 2"/>
          <p:cNvSpPr txBox="1"/>
          <p:nvPr/>
        </p:nvSpPr>
        <p:spPr>
          <a:xfrm>
            <a:off x="4188338" y="4451827"/>
            <a:ext cx="2825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깔창 없는 일체형 안창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E-실리폴리렌으로 안창까지 한 몸</a:t>
            </a:r>
            <a:endParaRPr lang="en-US" sz="1000" dirty="0"/>
          </a:p>
        </p:txBody>
      </p:sp>
      <p:sp>
        <p:nvSpPr>
          <p:cNvPr id="15" name="번호"/>
          <p:cNvSpPr/>
          <p:nvPr/>
        </p:nvSpPr>
        <p:spPr>
          <a:xfrm>
            <a:off x="3859154" y="4881595"/>
            <a:ext cx="219456" cy="21945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번호 글자"/>
          <p:cNvSpPr txBox="1"/>
          <p:nvPr/>
        </p:nvSpPr>
        <p:spPr>
          <a:xfrm>
            <a:off x="3859154" y="488159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47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구조 3"/>
          <p:cNvSpPr txBox="1"/>
          <p:nvPr/>
        </p:nvSpPr>
        <p:spPr>
          <a:xfrm>
            <a:off x="4188338" y="4854163"/>
            <a:ext cx="2825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도톰한 발목 테두리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입구 테두리를 두껍게 마감</a:t>
            </a:r>
            <a:endParaRPr lang="en-US" sz="1000" dirty="0"/>
          </a:p>
        </p:txBody>
      </p:sp>
      <p:pic>
        <p:nvPicPr>
          <p:cNvPr id="18" name="인솔" descr="img/inso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5486400"/>
            <a:ext cx="2697480" cy="2697480"/>
          </a:xfrm>
          <a:prstGeom prst="rect">
            <a:avLst/>
          </a:prstGeom>
        </p:spPr>
      </p:pic>
      <p:sp>
        <p:nvSpPr>
          <p:cNvPr id="19" name="인솔 이름"/>
          <p:cNvSpPr txBox="1"/>
          <p:nvPr/>
        </p:nvSpPr>
        <p:spPr>
          <a:xfrm>
            <a:off x="548640" y="580644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쿼드그립 아치가득 인솔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소비자가 21,500원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가지고 계신 업무화에 넣어 쓰는 아치 인솔</a:t>
            </a:r>
            <a:endParaRPr lang="en-US" sz="1500" dirty="0"/>
          </a:p>
        </p:txBody>
      </p:sp>
      <p:sp>
        <p:nvSpPr>
          <p:cNvPr id="20" name="번호"/>
          <p:cNvSpPr/>
          <p:nvPr/>
        </p:nvSpPr>
        <p:spPr>
          <a:xfrm>
            <a:off x="548640" y="6611112"/>
            <a:ext cx="219456" cy="21945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번호 글자"/>
          <p:cNvSpPr txBox="1"/>
          <p:nvPr/>
        </p:nvSpPr>
        <p:spPr>
          <a:xfrm>
            <a:off x="548640" y="6611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478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구조 1"/>
          <p:cNvSpPr txBox="1"/>
          <p:nvPr/>
        </p:nvSpPr>
        <p:spPr>
          <a:xfrm>
            <a:off x="877824" y="6583680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아치가득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발 아치 라인을 따라 가득 채운 형태</a:t>
            </a:r>
            <a:endParaRPr lang="en-US" sz="1000" dirty="0"/>
          </a:p>
        </p:txBody>
      </p:sp>
      <p:sp>
        <p:nvSpPr>
          <p:cNvPr id="23" name="번호"/>
          <p:cNvSpPr/>
          <p:nvPr/>
        </p:nvSpPr>
        <p:spPr>
          <a:xfrm>
            <a:off x="548640" y="7068312"/>
            <a:ext cx="219456" cy="21945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4" name="번호 글자"/>
          <p:cNvSpPr txBox="1"/>
          <p:nvPr/>
        </p:nvSpPr>
        <p:spPr>
          <a:xfrm>
            <a:off x="548640" y="7068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478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구조 2"/>
          <p:cNvSpPr txBox="1"/>
          <p:nvPr/>
        </p:nvSpPr>
        <p:spPr>
          <a:xfrm>
            <a:off x="877824" y="7040880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뒤꿈치 컵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뒤꿈치를 감싸는 컵 모양</a:t>
            </a:r>
            <a:endParaRPr lang="en-US" sz="1000" dirty="0"/>
          </a:p>
        </p:txBody>
      </p:sp>
      <p:sp>
        <p:nvSpPr>
          <p:cNvPr id="26" name="번호"/>
          <p:cNvSpPr/>
          <p:nvPr/>
        </p:nvSpPr>
        <p:spPr>
          <a:xfrm>
            <a:off x="548640" y="7525512"/>
            <a:ext cx="219456" cy="21945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7" name="번호 글자"/>
          <p:cNvSpPr txBox="1"/>
          <p:nvPr/>
        </p:nvSpPr>
        <p:spPr>
          <a:xfrm>
            <a:off x="548640" y="7525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478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구조 3"/>
          <p:cNvSpPr txBox="1"/>
          <p:nvPr/>
        </p:nvSpPr>
        <p:spPr>
          <a:xfrm>
            <a:off x="877824" y="7498080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우드칩 배합 소재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목공소 자투리 우드칩을 섞은 E-실리폴리렌</a:t>
            </a:r>
            <a:endParaRPr lang="en-US" sz="1000" dirty="0"/>
          </a:p>
        </p:txBody>
      </p:sp>
      <p:sp>
        <p:nvSpPr>
          <p:cNvPr id="29" name="소재 띠"/>
          <p:cNvSpPr/>
          <p:nvPr/>
        </p:nvSpPr>
        <p:spPr>
          <a:xfrm>
            <a:off x="548640" y="8357616"/>
            <a:ext cx="6464808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30" name="소재 설명"/>
          <p:cNvSpPr txBox="1"/>
          <p:nvPr/>
        </p:nvSpPr>
        <p:spPr>
          <a:xfrm>
            <a:off x="822960" y="8421624"/>
            <a:ext cx="5916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새활용 소재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그립 패드: 폐타이어 고무 + 폐벽지 PVC  ·  본체: E-실리폴리렌  ·  인솔: 우드칩 배합</a:t>
            </a:r>
            <a:endParaRPr lang="en-US" sz="1150" dirty="0"/>
          </a:p>
        </p:txBody>
      </p:sp>
      <p:sp>
        <p:nvSpPr>
          <p:cNvPr id="31" name="단체 공급 띠"/>
          <p:cNvSpPr/>
          <p:nvPr/>
        </p:nvSpPr>
        <p:spPr>
          <a:xfrm>
            <a:off x="548640" y="9226296"/>
            <a:ext cx="6464808" cy="749808"/>
          </a:xfrm>
          <a:prstGeom prst="roundRect">
            <a:avLst>
              <a:gd name="adj" fmla="val 9756"/>
            </a:avLst>
          </a:prstGeom>
          <a:solidFill>
            <a:srgbClr val="181478"/>
          </a:solidFill>
          <a:ln/>
        </p:spPr>
      </p:sp>
      <p:sp>
        <p:nvSpPr>
          <p:cNvPr id="32" name="단체 공급 안내"/>
          <p:cNvSpPr txBox="1"/>
          <p:nvPr/>
        </p:nvSpPr>
        <p:spPr>
          <a:xfrm>
            <a:off x="822960" y="9299448"/>
            <a:ext cx="5916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단체 공급 · 납품 상담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외식 프랜차이즈 · 급식 · 리테일 매장 직원용  ·  수량별 견적  ·  세금계산서 발행</a:t>
            </a:r>
            <a:endParaRPr lang="en-US" sz="1300" dirty="0"/>
          </a:p>
        </p:txBody>
      </p:sp>
      <p:sp>
        <p:nvSpPr>
          <p:cNvPr id="33" name="쪽번호"/>
          <p:cNvSpPr txBox="1"/>
          <p:nvPr/>
        </p:nvSpPr>
        <p:spPr>
          <a:xfrm>
            <a:off x="548640" y="101864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tx2"/>
                </a:solidFill>
              </a:rPr>
              <a:t>R&amp;D MAKERS    03 / 04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48640" y="5029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chemeClr val="accent1"/>
                </a:solidFill>
              </a:rPr>
              <a:t>COMPANY  ·  OEM / ODM  ·  CONTACT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알앤디메이커스</a:t>
            </a:r>
            <a:endParaRPr lang="en-US" sz="3000" dirty="0"/>
          </a:p>
        </p:txBody>
      </p:sp>
      <p:sp>
        <p:nvSpPr>
          <p:cNvPr id="4" name="회사 소개"/>
          <p:cNvSpPr txBox="1"/>
          <p:nvPr/>
        </p:nvSpPr>
        <p:spPr>
          <a:xfrm>
            <a:off x="548640" y="146304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버려지는 실크벽지·폐타이어·임업부산물을 원료로 바꾸고, 그 원료로 생활 제품을 만듭니다.</a:t>
            </a:r>
            <a:endParaRPr lang="en-US" sz="1150" dirty="0"/>
          </a:p>
        </p:txBody>
      </p:sp>
      <p:sp>
        <p:nvSpPr>
          <p:cNvPr id="5" name="역량 카드"/>
          <p:cNvSpPr/>
          <p:nvPr/>
        </p:nvSpPr>
        <p:spPr>
          <a:xfrm>
            <a:off x="548640" y="2103120"/>
            <a:ext cx="2033016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/>
        </p:spPr>
      </p:sp>
      <p:sp>
        <p:nvSpPr>
          <p:cNvPr id="6" name="역량 번호"/>
          <p:cNvSpPr txBox="1"/>
          <p:nvPr/>
        </p:nvSpPr>
        <p:spPr>
          <a:xfrm>
            <a:off x="749808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역량 01"/>
          <p:cNvSpPr txBox="1"/>
          <p:nvPr/>
        </p:nvSpPr>
        <p:spPr>
          <a:xfrm>
            <a:off x="749808" y="2560320"/>
            <a:ext cx="163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소재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bg2"/>
                </a:solidFill>
              </a:rPr>
              <a:t>폐벽지 PVC · 폐타이어 고무 · CXP 목재 복합소재 새활용 원료</a:t>
            </a:r>
            <a:endParaRPr lang="en-US" sz="1300" dirty="0"/>
          </a:p>
        </p:txBody>
      </p:sp>
      <p:sp>
        <p:nvSpPr>
          <p:cNvPr id="8" name="역량 카드"/>
          <p:cNvSpPr/>
          <p:nvPr/>
        </p:nvSpPr>
        <p:spPr>
          <a:xfrm>
            <a:off x="2764536" y="2103120"/>
            <a:ext cx="2033016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/>
        </p:spPr>
      </p:sp>
      <p:sp>
        <p:nvSpPr>
          <p:cNvPr id="9" name="역량 번호"/>
          <p:cNvSpPr txBox="1"/>
          <p:nvPr/>
        </p:nvSpPr>
        <p:spPr>
          <a:xfrm>
            <a:off x="2965704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역량 02"/>
          <p:cNvSpPr txBox="1"/>
          <p:nvPr/>
        </p:nvSpPr>
        <p:spPr>
          <a:xfrm>
            <a:off x="2965704" y="2560320"/>
            <a:ext cx="163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기획 · 설계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bg2"/>
                </a:solidFill>
              </a:rPr>
              <a:t>제품 디자인 · 상표·특허 출원 · 캐릭터 라이선싱 협업</a:t>
            </a:r>
            <a:endParaRPr lang="en-US" sz="1300" dirty="0"/>
          </a:p>
        </p:txBody>
      </p:sp>
      <p:sp>
        <p:nvSpPr>
          <p:cNvPr id="11" name="역량 카드"/>
          <p:cNvSpPr/>
          <p:nvPr/>
        </p:nvSpPr>
        <p:spPr>
          <a:xfrm>
            <a:off x="4980432" y="2103120"/>
            <a:ext cx="2033016" cy="1508760"/>
          </a:xfrm>
          <a:prstGeom prst="roundRect">
            <a:avLst>
              <a:gd name="adj" fmla="val 4848"/>
            </a:avLst>
          </a:prstGeom>
          <a:solidFill>
            <a:schemeClr val="accent5"/>
          </a:solidFill>
          <a:ln/>
        </p:spPr>
      </p:sp>
      <p:sp>
        <p:nvSpPr>
          <p:cNvPr id="12" name="역량 번호"/>
          <p:cNvSpPr txBox="1"/>
          <p:nvPr/>
        </p:nvSpPr>
        <p:spPr>
          <a:xfrm>
            <a:off x="51816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역량 03"/>
          <p:cNvSpPr txBox="1"/>
          <p:nvPr/>
        </p:nvSpPr>
        <p:spPr>
          <a:xfrm>
            <a:off x="5181600" y="2560320"/>
            <a:ext cx="163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생산 · 납품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bg2"/>
                </a:solidFill>
              </a:rPr>
              <a:t>국내 제조 · 다이소 전국 매장 · 기업 대량 납품</a:t>
            </a:r>
            <a:endParaRPr lang="en-US" sz="1300" dirty="0"/>
          </a:p>
        </p:txBody>
      </p:sp>
      <p:sp>
        <p:nvSpPr>
          <p:cNvPr id="14" name="OEM 단계"/>
          <p:cNvSpPr/>
          <p:nvPr/>
        </p:nvSpPr>
        <p:spPr>
          <a:xfrm>
            <a:off x="548640" y="3840480"/>
            <a:ext cx="1479042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OEM 단계 글자"/>
          <p:cNvSpPr txBox="1"/>
          <p:nvPr/>
        </p:nvSpPr>
        <p:spPr>
          <a:xfrm>
            <a:off x="548640" y="3840480"/>
            <a:ext cx="1479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1478"/>
                </a:solidFill>
              </a:rPr>
              <a:t>1  상담</a:t>
            </a:r>
            <a:endParaRPr lang="en-US" sz="1100" dirty="0"/>
          </a:p>
        </p:txBody>
      </p:sp>
      <p:sp>
        <p:nvSpPr>
          <p:cNvPr id="16" name="OEM 단계"/>
          <p:cNvSpPr/>
          <p:nvPr/>
        </p:nvSpPr>
        <p:spPr>
          <a:xfrm>
            <a:off x="2210562" y="3840480"/>
            <a:ext cx="1479042" cy="384048"/>
          </a:xfrm>
          <a:prstGeom prst="roundRect">
            <a:avLst>
              <a:gd name="adj" fmla="val 50000"/>
            </a:avLst>
          </a:prstGeom>
          <a:solidFill>
            <a:srgbClr val="181478"/>
          </a:solidFill>
          <a:ln/>
        </p:spPr>
      </p:sp>
      <p:sp>
        <p:nvSpPr>
          <p:cNvPr id="17" name="OEM 단계 테두리"/>
          <p:cNvSpPr/>
          <p:nvPr/>
        </p:nvSpPr>
        <p:spPr>
          <a:xfrm>
            <a:off x="2210562" y="3840480"/>
            <a:ext cx="1479042" cy="384048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  <a:prstDash val="solid"/>
          </a:ln>
        </p:spPr>
      </p:sp>
      <p:sp>
        <p:nvSpPr>
          <p:cNvPr id="18" name="OEM 단계 글자"/>
          <p:cNvSpPr txBox="1"/>
          <p:nvPr/>
        </p:nvSpPr>
        <p:spPr>
          <a:xfrm>
            <a:off x="2210562" y="3840480"/>
            <a:ext cx="1479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 샘플</a:t>
            </a:r>
            <a:endParaRPr lang="en-US" sz="1100" dirty="0"/>
          </a:p>
        </p:txBody>
      </p:sp>
      <p:sp>
        <p:nvSpPr>
          <p:cNvPr id="19" name="OEM 단계"/>
          <p:cNvSpPr/>
          <p:nvPr/>
        </p:nvSpPr>
        <p:spPr>
          <a:xfrm>
            <a:off x="3872484" y="3840480"/>
            <a:ext cx="1479042" cy="384048"/>
          </a:xfrm>
          <a:prstGeom prst="roundRect">
            <a:avLst>
              <a:gd name="adj" fmla="val 50000"/>
            </a:avLst>
          </a:prstGeom>
          <a:solidFill>
            <a:srgbClr val="181478"/>
          </a:solidFill>
          <a:ln/>
        </p:spPr>
      </p:sp>
      <p:sp>
        <p:nvSpPr>
          <p:cNvPr id="20" name="OEM 단계 테두리"/>
          <p:cNvSpPr/>
          <p:nvPr/>
        </p:nvSpPr>
        <p:spPr>
          <a:xfrm>
            <a:off x="3872484" y="3840480"/>
            <a:ext cx="1479042" cy="384048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  <a:prstDash val="solid"/>
          </a:ln>
        </p:spPr>
      </p:sp>
      <p:sp>
        <p:nvSpPr>
          <p:cNvPr id="21" name="OEM 단계 글자"/>
          <p:cNvSpPr txBox="1"/>
          <p:nvPr/>
        </p:nvSpPr>
        <p:spPr>
          <a:xfrm>
            <a:off x="3872484" y="3840480"/>
            <a:ext cx="1479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  양산</a:t>
            </a:r>
            <a:endParaRPr lang="en-US" sz="1100" dirty="0"/>
          </a:p>
        </p:txBody>
      </p:sp>
      <p:sp>
        <p:nvSpPr>
          <p:cNvPr id="22" name="OEM 단계"/>
          <p:cNvSpPr/>
          <p:nvPr/>
        </p:nvSpPr>
        <p:spPr>
          <a:xfrm>
            <a:off x="5534406" y="3840480"/>
            <a:ext cx="1479042" cy="384048"/>
          </a:xfrm>
          <a:prstGeom prst="roundRect">
            <a:avLst>
              <a:gd name="adj" fmla="val 50000"/>
            </a:avLst>
          </a:prstGeom>
          <a:solidFill>
            <a:srgbClr val="181478"/>
          </a:solidFill>
          <a:ln/>
        </p:spPr>
      </p:sp>
      <p:sp>
        <p:nvSpPr>
          <p:cNvPr id="23" name="OEM 단계 테두리"/>
          <p:cNvSpPr/>
          <p:nvPr/>
        </p:nvSpPr>
        <p:spPr>
          <a:xfrm>
            <a:off x="5534406" y="3840480"/>
            <a:ext cx="1479042" cy="384048"/>
          </a:xfrm>
          <a:prstGeom prst="roundRect">
            <a:avLst>
              <a:gd name="adj" fmla="val 50000"/>
            </a:avLst>
          </a:prstGeom>
          <a:ln w="12700">
            <a:solidFill>
              <a:schemeClr val="accent1"/>
            </a:solidFill>
            <a:prstDash val="solid"/>
          </a:ln>
        </p:spPr>
      </p:sp>
      <p:sp>
        <p:nvSpPr>
          <p:cNvPr id="24" name="OEM 단계 글자"/>
          <p:cNvSpPr txBox="1"/>
          <p:nvPr/>
        </p:nvSpPr>
        <p:spPr>
          <a:xfrm>
            <a:off x="5534406" y="3840480"/>
            <a:ext cx="1479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  납품</a:t>
            </a:r>
            <a:endParaRPr lang="en-US" sz="1100" dirty="0"/>
          </a:p>
        </p:txBody>
      </p:sp>
      <p:sp>
        <p:nvSpPr>
          <p:cNvPr id="25" name="연혁 제목"/>
          <p:cNvSpPr txBox="1"/>
          <p:nvPr/>
        </p:nvSpPr>
        <p:spPr>
          <a:xfrm>
            <a:off x="54864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chemeClr val="accent1"/>
                </a:solidFill>
              </a:rPr>
              <a:t>HISTORY</a:t>
            </a:r>
            <a:endParaRPr lang="en-US" sz="950" dirty="0"/>
          </a:p>
        </p:txBody>
      </p:sp>
      <p:sp>
        <p:nvSpPr>
          <p:cNvPr id="26" name="연도 2023"/>
          <p:cNvSpPr txBox="1"/>
          <p:nvPr/>
        </p:nvSpPr>
        <p:spPr>
          <a:xfrm>
            <a:off x="548640" y="4937760"/>
            <a:ext cx="1513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2023</a:t>
            </a:r>
            <a:endParaRPr lang="en-US" sz="2000" dirty="0"/>
          </a:p>
        </p:txBody>
      </p:sp>
      <p:sp>
        <p:nvSpPr>
          <p:cNvPr id="27" name="연혁 2023"/>
          <p:cNvSpPr txBox="1"/>
          <p:nvPr/>
        </p:nvSpPr>
        <p:spPr>
          <a:xfrm>
            <a:off x="548640" y="5394960"/>
            <a:ext cx="15133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창업진흥원 국가과제 진행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07  ㈜알앤디메이커스 창립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09  다이소 전국 매장 입점</a:t>
            </a:r>
            <a:endParaRPr lang="en-US" sz="950" dirty="0"/>
          </a:p>
        </p:txBody>
      </p:sp>
      <p:sp>
        <p:nvSpPr>
          <p:cNvPr id="28" name="연도 2024"/>
          <p:cNvSpPr txBox="1"/>
          <p:nvPr/>
        </p:nvSpPr>
        <p:spPr>
          <a:xfrm>
            <a:off x="2199132" y="4937760"/>
            <a:ext cx="1513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2024</a:t>
            </a:r>
            <a:endParaRPr lang="en-US" sz="2000" dirty="0"/>
          </a:p>
        </p:txBody>
      </p:sp>
      <p:sp>
        <p:nvSpPr>
          <p:cNvPr id="29" name="연혁 2024"/>
          <p:cNvSpPr txBox="1"/>
          <p:nvPr/>
        </p:nvSpPr>
        <p:spPr>
          <a:xfrm>
            <a:off x="2199132" y="5394960"/>
            <a:ext cx="15133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환경부 새활용지원사업 진행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오피스디포 · 오피스웨이 납품 계약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대전 서구청 욕실화 기부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중국 첫 수출</a:t>
            </a:r>
            <a:endParaRPr lang="en-US" sz="950" dirty="0"/>
          </a:p>
        </p:txBody>
      </p:sp>
      <p:sp>
        <p:nvSpPr>
          <p:cNvPr id="30" name="연도 2025"/>
          <p:cNvSpPr txBox="1"/>
          <p:nvPr/>
        </p:nvSpPr>
        <p:spPr>
          <a:xfrm>
            <a:off x="3849624" y="4937760"/>
            <a:ext cx="1513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2025</a:t>
            </a:r>
            <a:endParaRPr lang="en-US" sz="2000" dirty="0"/>
          </a:p>
        </p:txBody>
      </p:sp>
      <p:sp>
        <p:nvSpPr>
          <p:cNvPr id="31" name="연혁 2025"/>
          <p:cNvSpPr txBox="1"/>
          <p:nvPr/>
        </p:nvSpPr>
        <p:spPr>
          <a:xfrm>
            <a:off x="3849624" y="5394960"/>
            <a:ext cx="15133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상표권 및 BM 특허 출원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대전시 꿈돌이 캐릭터 라이선싱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chemeClr val="bg2"/>
                </a:solidFill>
              </a:rPr>
              <a:t>롯데패키징앤솔루션 · 서브원 납품 계약</a:t>
            </a:r>
            <a:endParaRPr lang="en-US" sz="950" dirty="0"/>
          </a:p>
        </p:txBody>
      </p:sp>
      <p:sp>
        <p:nvSpPr>
          <p:cNvPr id="32" name="연도 2026"/>
          <p:cNvSpPr txBox="1"/>
          <p:nvPr/>
        </p:nvSpPr>
        <p:spPr>
          <a:xfrm>
            <a:off x="5500116" y="4937760"/>
            <a:ext cx="1513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2026</a:t>
            </a:r>
            <a:endParaRPr lang="en-US" sz="2000" dirty="0"/>
          </a:p>
        </p:txBody>
      </p:sp>
      <p:sp>
        <p:nvSpPr>
          <p:cNvPr id="33" name="연혁 2026"/>
          <p:cNvSpPr txBox="1"/>
          <p:nvPr/>
        </p:nvSpPr>
        <p:spPr>
          <a:xfrm>
            <a:off x="5500116" y="5394960"/>
            <a:ext cx="15133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환경부 새활용지원사업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2차 진행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라라슈(RhaRa Shoe) 브랜드 런칭</a:t>
            </a:r>
            <a:endParaRPr lang="en-US" sz="950" dirty="0"/>
          </a:p>
        </p:txBody>
      </p:sp>
      <p:sp>
        <p:nvSpPr>
          <p:cNvPr id="34" name="연락처 박스"/>
          <p:cNvSpPr/>
          <p:nvPr/>
        </p:nvSpPr>
        <p:spPr>
          <a:xfrm>
            <a:off x="548640" y="7543800"/>
            <a:ext cx="6464808" cy="2240280"/>
          </a:xfrm>
          <a:prstGeom prst="roundRect">
            <a:avLst>
              <a:gd name="adj" fmla="val 4082"/>
            </a:avLst>
          </a:prstGeom>
          <a:solidFill>
            <a:schemeClr val="accent1"/>
          </a:solidFill>
          <a:ln/>
        </p:spPr>
      </p:sp>
      <p:sp>
        <p:nvSpPr>
          <p:cNvPr id="35" name="연락처 제목"/>
          <p:cNvSpPr txBox="1"/>
          <p:nvPr/>
        </p:nvSpPr>
        <p:spPr>
          <a:xfrm>
            <a:off x="868680" y="7726680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1478"/>
                </a:solidFill>
              </a:rPr>
              <a:t>OEM · ODM · 납품 상담</a:t>
            </a:r>
            <a:endParaRPr lang="en-US" sz="1800" dirty="0"/>
          </a:p>
          <a:p>
            <a:pPr indent="0" marL="0">
              <a:buNone/>
            </a:pPr>
            <a:r>
              <a:rPr lang="en-US" sz="1050" dirty="0">
                <a:solidFill>
                  <a:srgbClr val="181478"/>
                </a:solidFill>
              </a:rPr>
              <a:t>샘플·견적 요청은 아래 연락처로 편하게 주세요.</a:t>
            </a:r>
            <a:endParaRPr lang="en-US" sz="1800" dirty="0"/>
          </a:p>
        </p:txBody>
      </p:sp>
      <p:sp>
        <p:nvSpPr>
          <p:cNvPr id="36" name="연락처"/>
          <p:cNvSpPr txBox="1"/>
          <p:nvPr/>
        </p:nvSpPr>
        <p:spPr>
          <a:xfrm>
            <a:off x="868680" y="8503920"/>
            <a:ext cx="4361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81478"/>
                </a:solidFill>
              </a:rPr>
              <a:t>㈜알앤디메이커스  신동규 대표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81478"/>
                </a:solidFill>
              </a:rPr>
              <a:t>대전시 유성구 국제과학7로 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81478"/>
                </a:solidFill>
              </a:rPr>
              <a:t>T  010-6880-2516     E  rndceo@rndmakers.kr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81478"/>
                </a:solidFill>
              </a:rPr>
              <a:t>www.rndmakers.kr     Instagram @re.feeel</a:t>
            </a:r>
            <a:endParaRPr lang="en-US" sz="1050" dirty="0"/>
          </a:p>
        </p:txBody>
      </p:sp>
      <p:pic>
        <p:nvPicPr>
          <p:cNvPr id="37" name="QR" descr="img/qr-broch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7818120"/>
            <a:ext cx="1280160" cy="1280160"/>
          </a:xfrm>
          <a:prstGeom prst="rect">
            <a:avLst/>
          </a:prstGeom>
        </p:spPr>
      </p:pic>
      <p:sp>
        <p:nvSpPr>
          <p:cNvPr id="38" name="QR 설명"/>
          <p:cNvSpPr txBox="1"/>
          <p:nvPr/>
        </p:nvSpPr>
        <p:spPr>
          <a:xfrm>
            <a:off x="5230368" y="9144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478"/>
                </a:solidFill>
              </a:rPr>
              <a:t>라라슈 알림·단체 문의</a:t>
            </a:r>
            <a:endParaRPr lang="en-US" sz="850" dirty="0"/>
          </a:p>
        </p:txBody>
      </p:sp>
      <p:sp>
        <p:nvSpPr>
          <p:cNvPr id="39" name="쪽번호"/>
          <p:cNvSpPr txBox="1"/>
          <p:nvPr/>
        </p:nvSpPr>
        <p:spPr>
          <a:xfrm>
            <a:off x="548640" y="101864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bg2"/>
                </a:solidFill>
              </a:rPr>
              <a:t>R&amp;D MAKERS    04 / 04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&amp;amp;D MAKERS 2026">
  <a:themeElements>
    <a:clrScheme name="R&amp;amp;D MAKERS 2026">
      <a:dk1>
        <a:srgbClr val="181478"/>
      </a:dk1>
      <a:lt1>
        <a:srgbClr val="FFFFFF"/>
      </a:lt1>
      <a:dk2>
        <a:srgbClr val="4A4868"/>
      </a:dk2>
      <a:lt2>
        <a:srgbClr val="EEECE2"/>
      </a:lt2>
      <a:accent1>
        <a:srgbClr val="E0E828"/>
      </a:accent1>
      <a:accent2>
        <a:srgbClr val="FF6A48"/>
      </a:accent2>
      <a:accent3>
        <a:srgbClr val="5650C4"/>
      </a:accent3>
      <a:accent4>
        <a:srgbClr val="F1F0FA"/>
      </a:accent4>
      <a:accent5>
        <a:srgbClr val="2A2591"/>
      </a:accent5>
      <a:accent6>
        <a:srgbClr val="C6F432"/>
      </a:accent6>
      <a:hlink>
        <a:srgbClr val="5650C4"/>
      </a:hlink>
      <a:folHlink>
        <a:srgbClr val="5650C4"/>
      </a:folHlink>
    </a:clrScheme>
    <a:fontScheme name="R&amp;amp;D MAKERS 2026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알앤디메이커스 브로셔 2026</dc:title>
  <dc:subject>PptxGenJS Presentation</dc:subject>
  <dc:creator>㈜알앤디메이커스</dc:creator>
  <cp:lastModifiedBy>㈜알앤디메이커스</cp:lastModifiedBy>
  <cp:revision>1</cp:revision>
  <dcterms:created xsi:type="dcterms:W3CDTF">2026-10-05T09:24:36Z</dcterms:created>
  <dcterms:modified xsi:type="dcterms:W3CDTF">2026-10-05T09:24:36Z</dcterms:modified>
</cp:coreProperties>
</file>