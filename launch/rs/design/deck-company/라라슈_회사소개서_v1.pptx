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f5341ad1-c0b0-24d4-9c98-e84528998a8f}">
          <p14:sldIdLst>
            <p14:sldId id="256"/>
          </p14:sldIdLst>
        </p14:section>
        <p14:section name="문제" id="{527b97b6-7e65-30df-77e4-d6ddbbf186ac}">
          <p14:sldIdLst>
            <p14:sldId id="257"/>
          </p14:sldIdLst>
        </p14:section>
        <p14:section name="브랜드" id="{2f6d9dd6-e9aa-bf03-a32f-1c81bb58ccac}">
          <p14:sldIdLst>
            <p14:sldId id="258"/>
          </p14:sldIdLst>
        </p14:section>
        <p14:section name="소재" id="{97215242-17c9-0df3-4f68-d28983684acc}">
          <p14:sldIdLst>
            <p14:sldId id="259"/>
          </p14:sldIdLst>
        </p14:section>
        <p14:section name="설계" id="{92dabb50-0090-335f-69f9-eb36bb4bfef3}">
          <p14:sldIdLst>
            <p14:sldId id="260"/>
          </p14:sldIdLst>
        </p14:section>
        <p14:section name="제품" id="{8f9b6c0f-d689-bc97-ac6d-ef5b2c7aee09}">
          <p14:sldIdLst>
            <p14:sldId id="261"/>
          </p14:sldIdLst>
        </p14:section>
        <p14:section name="ESG" id="{924c4df5-b04b-cbb1-262f-03c743da6ecc}">
          <p14:sldIdLst>
            <p14:sldId id="262"/>
          </p14:sldIdLst>
        </p14:section>
        <p14:section name="B2B" id="{7aa6823d-46af-d9f3-75f2-4ea7dd224765}">
          <p14:sldIdLst>
            <p14:sldId id="263"/>
          </p14:sldIdLst>
        </p14:section>
        <p14:section name="로드맵" id="{a037dcc0-37f9-25ab-c043-dad051c2db28}">
          <p14:sldIdLst>
            <p14:sldId id="264"/>
          </p14:sldIdLst>
        </p14:section>
        <p14:section name="연락처" id="{6db07832-57bd-c7c1-34eb-a5779f89cd22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회사소개서 v1 (B2B·박람회 배포용).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 운영자 의견을 구조 설명으로만 소개. 효과 단정 표현 없음.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연혁은 회사 브로셔 기준. 지원사업 선정은 제품 인증이 아님.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리타이어렌은 상표 출원 단계(등록 아님). E-실리폴리렌은 명칭만 표기.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전문의는 설계 자문 사실만 표기(실명·병원명 미기재). 추천·보증 아님. 논문은 설계 참고 자료.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가격은 소비자가. 기능 문구는 구조 설명만 표기.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선정은 과제 수행 기업 선정이며 제품 인증·보증이 아님.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B2B 단가는 수량별 개별 견적. 소비자가는 참고용.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일정은 변경될 수 있음.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단체 구매·입점 문의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1830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RhaRa Shoe 라라슈  ·  ㈜알앤디메이커스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566160" y="4754880"/>
            <a:ext cx="1280160" cy="1645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/>
          <p:nvPr/>
        </p:nvSpPr>
        <p:spPr>
          <a:xfrm>
            <a:off x="3566160" y="47548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MADE FOR STANDING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RS 로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777240" cy="636887"/>
          </a:xfrm>
          <a:prstGeom prst="rect">
            <a:avLst/>
          </a:prstGeom>
        </p:spPr>
      </p:pic>
      <p:sp>
        <p:nvSpPr>
          <p:cNvPr id="3" name="circle"/>
          <p:cNvSpPr/>
          <p:nvPr/>
        </p:nvSpPr>
        <p:spPr>
          <a:xfrm>
            <a:off x="5074920" y="1051560"/>
            <a:ext cx="3611880" cy="3611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walking" descr="쿼드그립 종일편한 워킹화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188720"/>
            <a:ext cx="2331720" cy="2828232"/>
          </a:xfrm>
          <a:prstGeom prst="rect">
            <a:avLst/>
          </a:prstGeom>
        </p:spPr>
      </p:pic>
      <p:pic>
        <p:nvPicPr>
          <p:cNvPr id="5" name="insole" descr="쿼드그립 아치가득 인솔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880360"/>
            <a:ext cx="1783080" cy="1523543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5720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Made for Standing.</a:t>
            </a:r>
            <a:endParaRPr lang="en-US" sz="2000" dirty="0"/>
          </a:p>
        </p:txBody>
      </p:sp>
      <p:sp>
        <p:nvSpPr>
          <p:cNvPr id="7" name="Text 2"/>
          <p:cNvSpPr txBox="1"/>
          <p:nvPr/>
        </p:nvSpPr>
        <p:spPr>
          <a:xfrm>
            <a:off x="45720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서서 일하는 하루를 위한 신발과 인솔</a:t>
            </a:r>
            <a:endParaRPr lang="en-US" sz="1400" dirty="0"/>
          </a:p>
        </p:txBody>
      </p:sp>
      <p:sp>
        <p:nvSpPr>
          <p:cNvPr id="8" name="Text 3"/>
          <p:cNvSpPr txBox="1"/>
          <p:nvPr/>
        </p:nvSpPr>
        <p:spPr>
          <a:xfrm>
            <a:off x="457200" y="26974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회사소개서</a:t>
            </a:r>
            <a:endParaRPr lang="en-US" sz="3600" dirty="0"/>
          </a:p>
        </p:txBody>
      </p:sp>
      <p:sp>
        <p:nvSpPr>
          <p:cNvPr id="9" name="Text 4"/>
          <p:cNvSpPr txBox="1"/>
          <p:nvPr/>
        </p:nvSpPr>
        <p:spPr>
          <a:xfrm>
            <a:off x="457200" y="43434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RhaRa Shoe  ·  ㈜알앤디메이커스  ·  2026.10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서서 일하는 하루에서 시작된 질문</a:t>
            </a:r>
            <a:endParaRPr lang="en-US" sz="2800" dirty="0"/>
          </a:p>
        </p:txBody>
      </p:sp>
      <p:sp>
        <p:nvSpPr>
          <p:cNvPr id="4" name="chip1"/>
          <p:cNvSpPr/>
          <p:nvPr/>
        </p:nvSpPr>
        <p:spPr>
          <a:xfrm>
            <a:off x="457200" y="10972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0972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식당 · 주방</a:t>
            </a:r>
            <a:endParaRPr lang="en-US" sz="1200" dirty="0"/>
          </a:p>
        </p:txBody>
      </p:sp>
      <p:sp>
        <p:nvSpPr>
          <p:cNvPr id="6" name="chip2"/>
          <p:cNvSpPr/>
          <p:nvPr/>
        </p:nvSpPr>
        <p:spPr>
          <a:xfrm>
            <a:off x="2057400" y="10972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057400" y="10972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· 베이커리</a:t>
            </a:r>
            <a:endParaRPr lang="en-US" sz="1200" dirty="0"/>
          </a:p>
        </p:txBody>
      </p:sp>
      <p:sp>
        <p:nvSpPr>
          <p:cNvPr id="8" name="chip3"/>
          <p:cNvSpPr/>
          <p:nvPr/>
        </p:nvSpPr>
        <p:spPr>
          <a:xfrm>
            <a:off x="3657600" y="10972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0" y="10972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· 서비스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349240" y="109728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 서서 일하는 현장에서 직접 들은 이야기</a:t>
            </a:r>
            <a:endParaRPr lang="en-US" sz="1200" dirty="0"/>
          </a:p>
        </p:txBody>
      </p:sp>
      <p:sp>
        <p:nvSpPr>
          <p:cNvPr id="11" name="voice1"/>
          <p:cNvSpPr/>
          <p:nvPr/>
        </p:nvSpPr>
        <p:spPr>
          <a:xfrm>
            <a:off x="457200" y="1645920"/>
            <a:ext cx="265176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깔창이 분리되면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2697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신발과 깔창 사이 틈에 물이 고인다고 합니다.</a:t>
            </a:r>
            <a:endParaRPr lang="en-US" sz="1200" dirty="0"/>
          </a:p>
        </p:txBody>
      </p:sp>
      <p:sp>
        <p:nvSpPr>
          <p:cNvPr id="15" name="voice2"/>
          <p:cNvSpPr/>
          <p:nvPr/>
        </p:nvSpPr>
        <p:spPr>
          <a:xfrm>
            <a:off x="3246120" y="1645920"/>
            <a:ext cx="265176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747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endParaRPr lang="en-US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젖은 상태로 신으면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3474720" y="2697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깔창이 같이 딸려 나와 불편하다고 합니다.</a:t>
            </a:r>
            <a:endParaRPr lang="en-US" sz="1200" dirty="0"/>
          </a:p>
        </p:txBody>
      </p:sp>
      <p:sp>
        <p:nvSpPr>
          <p:cNvPr id="19" name="voice3"/>
          <p:cNvSpPr/>
          <p:nvPr/>
        </p:nvSpPr>
        <p:spPr>
          <a:xfrm>
            <a:off x="6035040" y="1645920"/>
            <a:ext cx="265176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636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endParaRPr lang="en-US" sz="4000" dirty="0"/>
          </a:p>
        </p:txBody>
      </p:sp>
      <p:sp>
        <p:nvSpPr>
          <p:cNvPr id="21" name="Text 18"/>
          <p:cNvSpPr txBox="1"/>
          <p:nvPr/>
        </p:nvSpPr>
        <p:spPr>
          <a:xfrm>
            <a:off x="626364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 테두리가 둥글면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263640" y="2697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물이 테두리를 타고 넘어온다고 합니다.</a:t>
            </a:r>
            <a:endParaRPr lang="en-US" sz="1200" dirty="0"/>
          </a:p>
        </p:txBody>
      </p:sp>
      <p:sp>
        <p:nvSpPr>
          <p:cNvPr id="23" name="answer-bar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37033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508760" y="370332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깔창 없는 일체형 안창과 도톰한 발목 입구 테두리 구조로 설계했습니다.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출발한 제조사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알앤디메이커스는 폐벽지·폐타이어처럼 버려지는 소재를 원료로 바꿔 생활 제품을 만들어 왔습니다.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라라슈는 그 소재 경험을 서서 일하는 사람의 신발과 인솔로 옮긴 브랜드입니다. 기능보다 먼저 하루의 동선을 봤습니다.</a:t>
            </a:r>
            <a:endParaRPr lang="en-US" sz="1400" dirty="0"/>
          </a:p>
        </p:txBody>
      </p:sp>
      <p:pic>
        <p:nvPicPr>
          <p:cNvPr id="5" name="logo" descr="RS 로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520440"/>
            <a:ext cx="640080" cy="52449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80160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RhaRa Shoe  라라슈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1280160" y="3858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Made for Standing.</a:t>
            </a:r>
            <a:endParaRPr lang="en-US" sz="1200" dirty="0"/>
          </a:p>
        </p:txBody>
      </p:sp>
      <p:sp>
        <p:nvSpPr>
          <p:cNvPr id="8" name="history-card"/>
          <p:cNvSpPr/>
          <p:nvPr/>
        </p:nvSpPr>
        <p:spPr>
          <a:xfrm>
            <a:off x="475488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history-line"/>
          <p:cNvSpPr/>
          <p:nvPr/>
        </p:nvSpPr>
        <p:spPr>
          <a:xfrm>
            <a:off x="5138928" y="1691640"/>
            <a:ext cx="0" cy="224028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0" name="dot1"/>
          <p:cNvSpPr/>
          <p:nvPr/>
        </p:nvSpPr>
        <p:spPr>
          <a:xfrm>
            <a:off x="5047488" y="1591056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40680" y="1481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2023.07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440680" y="17556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㈜알앤디메이커스 창립</a:t>
            </a:r>
            <a:endParaRPr lang="en-US" sz="1200" dirty="0"/>
          </a:p>
        </p:txBody>
      </p:sp>
      <p:sp>
        <p:nvSpPr>
          <p:cNvPr id="13" name="dot2"/>
          <p:cNvSpPr/>
          <p:nvPr/>
        </p:nvSpPr>
        <p:spPr>
          <a:xfrm>
            <a:off x="5047488" y="2368296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440680" y="2258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2023.09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40680" y="25328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다이소 전국 매장 입점</a:t>
            </a:r>
            <a:endParaRPr lang="en-US" sz="1200" dirty="0"/>
          </a:p>
        </p:txBody>
      </p:sp>
      <p:sp>
        <p:nvSpPr>
          <p:cNvPr id="16" name="dot3"/>
          <p:cNvSpPr/>
          <p:nvPr/>
        </p:nvSpPr>
        <p:spPr>
          <a:xfrm>
            <a:off x="5047488" y="3145536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40680" y="30358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5440680" y="33101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환경부 새활용산업육성 지원사업 ‘도약’ 선정</a:t>
            </a:r>
            <a:endParaRPr lang="en-US" sz="1200" dirty="0"/>
          </a:p>
        </p:txBody>
      </p:sp>
      <p:sp>
        <p:nvSpPr>
          <p:cNvPr id="19" name="dot4"/>
          <p:cNvSpPr/>
          <p:nvPr/>
        </p:nvSpPr>
        <p:spPr>
          <a:xfrm>
            <a:off x="5047488" y="3922776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440680" y="3813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2026.11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440680" y="40873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라라슈 첫 제품 인솔 OPEN 예정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소재부터 직접 개발합니다</a:t>
            </a:r>
            <a:endParaRPr lang="en-US" sz="2800" dirty="0"/>
          </a:p>
        </p:txBody>
      </p:sp>
      <p:sp>
        <p:nvSpPr>
          <p:cNvPr id="4" name="mat-card1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mat1-badge1" descr="RS 소재 배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822960" cy="822960"/>
          </a:xfrm>
          <a:prstGeom prst="rect">
            <a:avLst/>
          </a:prstGeom>
        </p:spPr>
      </p:pic>
      <p:pic>
        <p:nvPicPr>
          <p:cNvPr id="6" name="mat1-badge2" descr="RS 소재 배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417320"/>
            <a:ext cx="822960" cy="82296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3152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리타이어렌</a:t>
            </a:r>
            <a:endParaRPr lang="en-US" sz="2400" dirty="0"/>
          </a:p>
        </p:txBody>
      </p:sp>
      <p:sp>
        <p:nvSpPr>
          <p:cNvPr id="8" name="tag1"/>
          <p:cNvSpPr/>
          <p:nvPr/>
        </p:nvSpPr>
        <p:spPr>
          <a:xfrm>
            <a:off x="3154680" y="2514600"/>
            <a:ext cx="105156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3154680" y="2514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상표 출원 단계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3152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폐타이어 고무 + 폐벽지 PVC 배합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3152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워킹화 그립 패드에 적용합니다.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731520" y="3886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타이어 재생고무를 포함한 자체 배합 소재</a:t>
            </a:r>
            <a:endParaRPr lang="en-US" sz="1100" dirty="0"/>
          </a:p>
        </p:txBody>
      </p:sp>
      <p:sp>
        <p:nvSpPr>
          <p:cNvPr id="13" name="mat-card2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4" name="mat2-badge1" descr="RS 소재 배지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417320"/>
            <a:ext cx="822960" cy="8229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93776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E-실리폴리렌</a:t>
            </a:r>
            <a:endParaRPr lang="en-US" sz="2400" dirty="0"/>
          </a:p>
        </p:txBody>
      </p:sp>
      <p:sp>
        <p:nvSpPr>
          <p:cNvPr id="16" name="tag2"/>
          <p:cNvSpPr/>
          <p:nvPr/>
        </p:nvSpPr>
        <p:spPr>
          <a:xfrm>
            <a:off x="7360920" y="2514600"/>
            <a:ext cx="105156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7360920" y="2514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개발</a:t>
            </a:r>
            <a:endParaRPr lang="en-US" sz="1000" dirty="0"/>
          </a:p>
        </p:txBody>
      </p:sp>
      <p:sp>
        <p:nvSpPr>
          <p:cNvPr id="18" name="Text 12"/>
          <p:cNvSpPr txBox="1"/>
          <p:nvPr/>
        </p:nvSpPr>
        <p:spPr>
          <a:xfrm>
            <a:off x="493776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인솔과 워킹화 본체에 쓰는 자체 소재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493776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본체는 안창까지 통째로 성형합니다.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4937760" y="3886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깔창 없는 일체형 안창 구조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단계의 두 가지 근거</a:t>
            </a:r>
            <a:endParaRPr lang="en-US" sz="2800" dirty="0"/>
          </a:p>
        </p:txBody>
      </p:sp>
      <p:sp>
        <p:nvSpPr>
          <p:cNvPr id="4" name="advisor-card"/>
          <p:cNvSpPr/>
          <p:nvPr/>
        </p:nvSpPr>
        <p:spPr>
          <a:xfrm>
            <a:off x="457200" y="1188720"/>
            <a:ext cx="402336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정형외과 전문의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자문</a:t>
            </a:r>
            <a:endParaRPr lang="en-US" sz="1400" dirty="0"/>
          </a:p>
        </p:txBody>
      </p:sp>
      <p:sp>
        <p:nvSpPr>
          <p:cNvPr id="7" name="chip-a1"/>
          <p:cNvSpPr/>
          <p:nvPr/>
        </p:nvSpPr>
        <p:spPr>
          <a:xfrm>
            <a:off x="731520" y="2194560"/>
            <a:ext cx="155448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패드 위치</a:t>
            </a:r>
            <a:endParaRPr lang="en-US" sz="1300" dirty="0"/>
          </a:p>
        </p:txBody>
      </p:sp>
      <p:sp>
        <p:nvSpPr>
          <p:cNvPr id="9" name="chip-a2"/>
          <p:cNvSpPr/>
          <p:nvPr/>
        </p:nvSpPr>
        <p:spPr>
          <a:xfrm>
            <a:off x="2423160" y="2194560"/>
            <a:ext cx="155448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42316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 형태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단계에서 함께 검토했습니다.</a:t>
            </a:r>
            <a:endParaRPr lang="en-US" sz="1200" dirty="0"/>
          </a:p>
        </p:txBody>
      </p:sp>
      <p:sp>
        <p:nvSpPr>
          <p:cNvPr id="12" name="paper-card"/>
          <p:cNvSpPr/>
          <p:nvPr/>
        </p:nvSpPr>
        <p:spPr>
          <a:xfrm>
            <a:off x="4663440" y="1188720"/>
            <a:ext cx="402336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37760" y="1234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2편</a:t>
            </a:r>
            <a:endParaRPr lang="en-US" sz="48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논문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1801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설계</a:t>
            </a:r>
            <a:endParaRPr lang="en-US" sz="1400" dirty="0"/>
          </a:p>
        </p:txBody>
      </p:sp>
      <p:sp>
        <p:nvSpPr>
          <p:cNvPr id="16" name="chip-b1"/>
          <p:cNvSpPr/>
          <p:nvPr/>
        </p:nvSpPr>
        <p:spPr>
          <a:xfrm>
            <a:off x="4937760" y="2194560"/>
            <a:ext cx="155448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93776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패드 무늬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무늬 설계의 참고 자료로 사용했습니다.</a:t>
            </a:r>
            <a:endParaRPr lang="en-US" sz="1200" dirty="0"/>
          </a:p>
        </p:txBody>
      </p:sp>
      <p:sp>
        <p:nvSpPr>
          <p:cNvPr id="19" name="result-bar"/>
          <p:cNvSpPr/>
          <p:nvPr/>
        </p:nvSpPr>
        <p:spPr>
          <a:xfrm>
            <a:off x="457200" y="34290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3429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근거 위에서 설계한 제품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108960" y="34290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쿼드그립 종일편한 워킹화  ·  쿼드그립 아치가득 인솔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정형외과 전문의의 설계 자문 사실을 알리는 내용이며, 제품에 대한 추천·보증이 아닙니다. 논문은 설계 참고 자료이며 제품의 성능을 보증하지 않습니다. 본 제품은 의료기기가 아닙니다.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라인업 2종</a:t>
            </a:r>
            <a:endParaRPr lang="en-US" sz="2800" dirty="0"/>
          </a:p>
        </p:txBody>
      </p:sp>
      <p:sp>
        <p:nvSpPr>
          <p:cNvPr id="4" name="product-card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product-img1" descr="쿼드그립 종일편한 워킹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476" y="1234440"/>
            <a:ext cx="1130808" cy="13716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148840" y="12618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쿼드그립 종일편한 워킹화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2148840" y="1627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42,500원  ·  2026.12 OPEN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214884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바닥에 닿는 길을 따라 그립 패드 4곳 배치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깔창 없는 일체형 안창</a:t>
            </a:r>
            <a:endParaRPr lang="en-US" sz="1100" dirty="0"/>
          </a:p>
        </p:txBody>
      </p:sp>
      <p:sp>
        <p:nvSpPr>
          <p:cNvPr id="9" name="spec-row1-1"/>
          <p:cNvSpPr/>
          <p:nvPr/>
        </p:nvSpPr>
        <p:spPr>
          <a:xfrm>
            <a:off x="640080" y="2788920"/>
            <a:ext cx="3657600" cy="36576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2788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46304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230~280mm (10mm 단위 6종)</a:t>
            </a:r>
            <a:endParaRPr lang="en-US" sz="1100" dirty="0"/>
          </a:p>
        </p:txBody>
      </p:sp>
      <p:sp>
        <p:nvSpPr>
          <p:cNvPr id="12" name="spec-row1-2"/>
          <p:cNvSpPr/>
          <p:nvPr/>
        </p:nvSpPr>
        <p:spPr>
          <a:xfrm>
            <a:off x="640080" y="3209544"/>
            <a:ext cx="3657600" cy="36576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77240" y="32095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컬러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463040" y="32095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그레이 · 차콜 블랙 · 민트 화이트</a:t>
            </a:r>
            <a:endParaRPr lang="en-US" sz="1100" dirty="0"/>
          </a:p>
        </p:txBody>
      </p:sp>
      <p:sp>
        <p:nvSpPr>
          <p:cNvPr id="15" name="spec-row1-3"/>
          <p:cNvSpPr/>
          <p:nvPr/>
        </p:nvSpPr>
        <p:spPr>
          <a:xfrm>
            <a:off x="640080" y="3630168"/>
            <a:ext cx="3657600" cy="36576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77240" y="3630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소재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1463040" y="3630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본체 E-실리폴리렌 / 패드 리타이어렌</a:t>
            </a:r>
            <a:endParaRPr lang="en-US" sz="1100" dirty="0"/>
          </a:p>
        </p:txBody>
      </p:sp>
      <p:sp>
        <p:nvSpPr>
          <p:cNvPr id="18" name="spec-row1-4"/>
          <p:cNvSpPr/>
          <p:nvPr/>
        </p:nvSpPr>
        <p:spPr>
          <a:xfrm>
            <a:off x="640080" y="4050792"/>
            <a:ext cx="3657600" cy="36576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77240" y="40507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1463040" y="40507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대한민국</a:t>
            </a:r>
            <a:endParaRPr lang="en-US" sz="1100" dirty="0"/>
          </a:p>
        </p:txBody>
      </p:sp>
      <p:sp>
        <p:nvSpPr>
          <p:cNvPr id="21" name="product-card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2" name="product-img2" descr="쿼드그립 아치가득 인솔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2392"/>
            <a:ext cx="1188720" cy="101569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355080" y="12618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쿼드그립 아치가득 인솔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6355080" y="1627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21,500원  ·  2026.11.11 OPEN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635508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 라인을 따라 채운 형태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뒤꿈치를 감싸는 링 컵</a:t>
            </a:r>
            <a:endParaRPr lang="en-US" sz="1100" dirty="0"/>
          </a:p>
        </p:txBody>
      </p:sp>
      <p:sp>
        <p:nvSpPr>
          <p:cNvPr id="26" name="spec-row2-1"/>
          <p:cNvSpPr/>
          <p:nvPr/>
        </p:nvSpPr>
        <p:spPr>
          <a:xfrm>
            <a:off x="4846320" y="2788920"/>
            <a:ext cx="3657600" cy="36576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983480" y="2788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566928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 160mm · L 175mm</a:t>
            </a:r>
            <a:endParaRPr lang="en-US" sz="1100" dirty="0"/>
          </a:p>
        </p:txBody>
      </p:sp>
      <p:sp>
        <p:nvSpPr>
          <p:cNvPr id="29" name="spec-row2-2"/>
          <p:cNvSpPr/>
          <p:nvPr/>
        </p:nvSpPr>
        <p:spPr>
          <a:xfrm>
            <a:off x="4846320" y="3209544"/>
            <a:ext cx="3657600" cy="36576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4983480" y="32095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컬러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5669280" y="32095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그레이 · 모카무스</a:t>
            </a:r>
            <a:endParaRPr lang="en-US" sz="1100" dirty="0"/>
          </a:p>
        </p:txBody>
      </p:sp>
      <p:sp>
        <p:nvSpPr>
          <p:cNvPr id="32" name="spec-row2-3"/>
          <p:cNvSpPr/>
          <p:nvPr/>
        </p:nvSpPr>
        <p:spPr>
          <a:xfrm>
            <a:off x="4846320" y="3630168"/>
            <a:ext cx="3657600" cy="36576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4983480" y="3630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소재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5669280" y="3630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E-실리폴리렌</a:t>
            </a:r>
            <a:endParaRPr lang="en-US" sz="1100" dirty="0"/>
          </a:p>
        </p:txBody>
      </p:sp>
      <p:sp>
        <p:nvSpPr>
          <p:cNvPr id="35" name="spec-row2-4"/>
          <p:cNvSpPr/>
          <p:nvPr/>
        </p:nvSpPr>
        <p:spPr>
          <a:xfrm>
            <a:off x="4846320" y="4050792"/>
            <a:ext cx="3657600" cy="36576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4983480" y="40507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</a:t>
            </a:r>
            <a:endParaRPr lang="en-US" sz="1100" dirty="0"/>
          </a:p>
        </p:txBody>
      </p:sp>
      <p:sp>
        <p:nvSpPr>
          <p:cNvPr id="37" name="Text 32"/>
          <p:cNvSpPr txBox="1"/>
          <p:nvPr/>
        </p:nvSpPr>
        <p:spPr>
          <a:xfrm>
            <a:off x="5669280" y="40507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반굽 인솔 (뒤꿈치~아치)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새활용 R&amp;D, 환경부 ‘도약’ 선정</a:t>
            </a:r>
            <a:endParaRPr lang="en-US" sz="2800" dirty="0"/>
          </a:p>
        </p:txBody>
      </p:sp>
      <p:sp>
        <p:nvSpPr>
          <p:cNvPr id="4" name="grant-card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환경부 새활용산업육성 지원사업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‘도약’ 선정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468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1억 2,404만원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정부지원금 규모 과제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840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선정은 수행 기업 선정이며, 제품에 대한 인증·보증이 아닙니다.</a:t>
            </a:r>
            <a:endParaRPr lang="en-US" sz="1000" dirty="0"/>
          </a:p>
        </p:txBody>
      </p:sp>
      <p:sp>
        <p:nvSpPr>
          <p:cNvPr id="10" name="mat-row1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1" name="mat-badge1" descr="폐타이어 고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572768"/>
            <a:ext cx="822960" cy="8229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897880" y="1554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폐타이어 고무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897880" y="19659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타이어 재생고무를 워킹화 그립 패드 배합에 사용</a:t>
            </a:r>
            <a:endParaRPr lang="en-US" sz="1200" dirty="0"/>
          </a:p>
        </p:txBody>
      </p:sp>
      <p:sp>
        <p:nvSpPr>
          <p:cNvPr id="14" name="mat-row2"/>
          <p:cNvSpPr/>
          <p:nvPr/>
        </p:nvSpPr>
        <p:spPr>
          <a:xfrm>
            <a:off x="466344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mat-badge2" descr="폐벽지 PV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3264408"/>
            <a:ext cx="822960" cy="8229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897880" y="3246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폐벽지 PVC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5897880" y="3657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폐벽지에서 분리한 PVC를 같은 패드 배합에 사용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단체 공급 · 입점 안내</a:t>
            </a:r>
            <a:endParaRPr lang="en-US" sz="2800" dirty="0"/>
          </a:p>
        </p:txBody>
      </p:sp>
      <p:sp>
        <p:nvSpPr>
          <p:cNvPr id="4" name="b2b-card1"/>
          <p:cNvSpPr/>
          <p:nvPr/>
        </p:nvSpPr>
        <p:spPr>
          <a:xfrm>
            <a:off x="457200" y="1188720"/>
            <a:ext cx="2651760" cy="228600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b2b1-badge"/>
          <p:cNvSpPr/>
          <p:nvPr/>
        </p:nvSpPr>
        <p:spPr>
          <a:xfrm>
            <a:off x="685800" y="14173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2b1-num"/>
          <p:cNvSpPr txBox="1"/>
          <p:nvPr/>
        </p:nvSpPr>
        <p:spPr>
          <a:xfrm>
            <a:off x="6858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 대상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468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외식 프랜차이즈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급식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리테일 매장</a:t>
            </a:r>
            <a:endParaRPr lang="en-US" sz="1400" dirty="0"/>
          </a:p>
        </p:txBody>
      </p:sp>
      <p:sp>
        <p:nvSpPr>
          <p:cNvPr id="9" name="b2b-card2"/>
          <p:cNvSpPr/>
          <p:nvPr/>
        </p:nvSpPr>
        <p:spPr>
          <a:xfrm>
            <a:off x="3246120" y="1188720"/>
            <a:ext cx="2651760" cy="228600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b2b2-badge"/>
          <p:cNvSpPr/>
          <p:nvPr/>
        </p:nvSpPr>
        <p:spPr>
          <a:xfrm>
            <a:off x="3474720" y="14173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b2b2-num"/>
          <p:cNvSpPr txBox="1"/>
          <p:nvPr/>
        </p:nvSpPr>
        <p:spPr>
          <a:xfrm>
            <a:off x="347472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 방식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2468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단체 구매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 지급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유통 입점</a:t>
            </a:r>
            <a:endParaRPr lang="en-US" sz="1400" dirty="0"/>
          </a:p>
        </p:txBody>
      </p:sp>
      <p:sp>
        <p:nvSpPr>
          <p:cNvPr id="14" name="b2b-card3"/>
          <p:cNvSpPr/>
          <p:nvPr/>
        </p:nvSpPr>
        <p:spPr>
          <a:xfrm>
            <a:off x="6035040" y="1188720"/>
            <a:ext cx="2651760" cy="228600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b2b3-badge"/>
          <p:cNvSpPr/>
          <p:nvPr/>
        </p:nvSpPr>
        <p:spPr>
          <a:xfrm>
            <a:off x="6263640" y="14173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2b3-num"/>
          <p:cNvSpPr txBox="1"/>
          <p:nvPr/>
        </p:nvSpPr>
        <p:spPr>
          <a:xfrm>
            <a:off x="62636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단가 · 거래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2468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수량별 개별 견적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세금계산서 발행</a:t>
            </a:r>
            <a:endParaRPr lang="en-US" sz="1400" dirty="0"/>
          </a:p>
        </p:txBody>
      </p:sp>
      <p:sp>
        <p:nvSpPr>
          <p:cNvPr id="19" name="price-bar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37033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소비자가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737360" y="370332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쿼드그립 종일편한 워킹화 42,500원   ·   쿼드그립 아치가득 인솔 21,500원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로드맵</a:t>
            </a:r>
            <a:endParaRPr lang="en-US" sz="2800" dirty="0"/>
          </a:p>
        </p:txBody>
      </p:sp>
      <p:sp>
        <p:nvSpPr>
          <p:cNvPr id="4" name="timeline"/>
          <p:cNvSpPr/>
          <p:nvPr/>
        </p:nvSpPr>
        <p:spPr>
          <a:xfrm>
            <a:off x="548640" y="1554480"/>
            <a:ext cx="7863840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5" name="node1"/>
          <p:cNvSpPr/>
          <p:nvPr/>
        </p:nvSpPr>
        <p:spPr>
          <a:xfrm>
            <a:off x="457200" y="1444752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11.11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423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 펀딩 OPEN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017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쿼드그립 아치가득 인솔</a:t>
            </a:r>
            <a:endParaRPr lang="en-US" sz="1100" dirty="0"/>
          </a:p>
        </p:txBody>
      </p:sp>
      <p:sp>
        <p:nvSpPr>
          <p:cNvPr id="9" name="node2"/>
          <p:cNvSpPr/>
          <p:nvPr/>
        </p:nvSpPr>
        <p:spPr>
          <a:xfrm>
            <a:off x="2103120" y="1444752"/>
            <a:ext cx="219456" cy="21945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0312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11.12–15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2103120" y="2423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메가쇼 킨텍스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103120" y="3017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부스에서 직접 신어 보기</a:t>
            </a:r>
            <a:endParaRPr lang="en-US" sz="1100" dirty="0"/>
          </a:p>
        </p:txBody>
      </p:sp>
      <p:sp>
        <p:nvSpPr>
          <p:cNvPr id="13" name="node3"/>
          <p:cNvSpPr/>
          <p:nvPr/>
        </p:nvSpPr>
        <p:spPr>
          <a:xfrm>
            <a:off x="3749040" y="1444752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74904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11.20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3749040" y="2423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워킹화 예약구매 OPEN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749040" y="3017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쿼드그립 종일편한 워킹화</a:t>
            </a:r>
            <a:endParaRPr lang="en-US" sz="1100" dirty="0"/>
          </a:p>
        </p:txBody>
      </p:sp>
      <p:sp>
        <p:nvSpPr>
          <p:cNvPr id="17" name="node4"/>
          <p:cNvSpPr/>
          <p:nvPr/>
        </p:nvSpPr>
        <p:spPr>
          <a:xfrm>
            <a:off x="5394960" y="1444752"/>
            <a:ext cx="219456" cy="21945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39496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11.26–29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5394960" y="2423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서울디자인페스티벌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394960" y="3017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코엑스 · 부스 운영</a:t>
            </a:r>
            <a:endParaRPr lang="en-US" sz="1100" dirty="0"/>
          </a:p>
        </p:txBody>
      </p:sp>
      <p:sp>
        <p:nvSpPr>
          <p:cNvPr id="21" name="node5"/>
          <p:cNvSpPr/>
          <p:nvPr/>
        </p:nvSpPr>
        <p:spPr>
          <a:xfrm>
            <a:off x="7040880" y="1444752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04088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2423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워킹화 OPEN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3017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쿼드그립 종일편한 워킹화</a:t>
            </a:r>
            <a:endParaRPr lang="en-US" sz="1100" dirty="0"/>
          </a:p>
        </p:txBody>
      </p:sp>
      <p:sp>
        <p:nvSpPr>
          <p:cNvPr id="25" name="expo-bar"/>
          <p:cNvSpPr/>
          <p:nvPr/>
        </p:nvSpPr>
        <p:spPr>
          <a:xfrm>
            <a:off x="457200" y="370332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1520" y="3703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박람회 현장에서 실물을 보고 상담하세요  ·  메가쇼(킨텍스) · 서울디자인페스티벌(코엑스)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" descr="RS 로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777240" cy="63688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Made for Standing.</a:t>
            </a:r>
            <a:endParaRPr lang="en-US" sz="20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단체 구매 · 입점 · 제휴 문의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2697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rndceo@rndmakers.kr</a:t>
            </a:r>
            <a:endParaRPr lang="en-US" sz="24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RhaRa Shoe 라라슈  ·  ㈜알앤디메이커스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749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2026.11.11 인솔 OPEN  ·  11.12–15 메가쇼  ·  11.26–29 서울디자인페스티벌</a:t>
            </a:r>
            <a:endParaRPr lang="en-US" sz="1100" dirty="0"/>
          </a:p>
        </p:txBody>
      </p:sp>
      <p:sp>
        <p:nvSpPr>
          <p:cNvPr id="9" name="qr-card"/>
          <p:cNvSpPr/>
          <p:nvPr/>
        </p:nvSpPr>
        <p:spPr>
          <a:xfrm>
            <a:off x="5577840" y="1325880"/>
            <a:ext cx="3108960" cy="310896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qr-bg"/>
          <p:cNvSpPr/>
          <p:nvPr/>
        </p:nvSpPr>
        <p:spPr>
          <a:xfrm>
            <a:off x="5989320" y="1645920"/>
            <a:ext cx="2286000" cy="228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1" name="qr" descr="단체 구매·입점 문의 Q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737360"/>
            <a:ext cx="2103120" cy="21031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577840" y="4023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rharashoe.netlify.app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haRa Shoe">
  <a:themeElements>
    <a:clrScheme name="RhaRa Shoe">
      <a:dk1>
        <a:srgbClr val="0D0D0D"/>
      </a:dk1>
      <a:lt1>
        <a:srgbClr val="FFFFFF"/>
      </a:lt1>
      <a:dk2>
        <a:srgbClr val="1A1A1A"/>
      </a:dk2>
      <a:lt2>
        <a:srgbClr val="EDEDE8"/>
      </a:lt2>
      <a:accent1>
        <a:srgbClr val="C6F432"/>
      </a:accent1>
      <a:accent2>
        <a:srgbClr val="3D4A12"/>
      </a:accent2>
      <a:accent3>
        <a:srgbClr val="8C8C86"/>
      </a:accent3>
      <a:accent4>
        <a:srgbClr val="A47864"/>
      </a:accent4>
      <a:accent5>
        <a:srgbClr val="2A2A2A"/>
      </a:accent5>
      <a:accent6>
        <a:srgbClr val="D8D8D2"/>
      </a:accent6>
      <a:hlink>
        <a:srgbClr val="C6F432"/>
      </a:hlink>
      <a:folHlink>
        <a:srgbClr val="8C8C86"/>
      </a:folHlink>
    </a:clrScheme>
    <a:fontScheme name="RhaRa Sho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알앤디메이커스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라라슈 회사소개서</dc:title>
  <dc:subject>PptxGenJS Presentation</dc:subject>
  <dc:creator>㈜알앤디메이커스</dc:creator>
  <cp:lastModifiedBy>㈜알앤디메이커스</cp:lastModifiedBy>
  <cp:revision>1</cp:revision>
  <dcterms:created xsi:type="dcterms:W3CDTF">2026-10-20T04:03:24Z</dcterms:created>
  <dcterms:modified xsi:type="dcterms:W3CDTF">2026-10-20T04:03:24Z</dcterms:modified>
</cp:coreProperties>
</file>