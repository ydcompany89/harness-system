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cfb47ac-ae89-fc6d-00a9-cf1c14edcfcb}">
          <p14:sldIdLst>
            <p14:sldId id="256"/>
          </p14:sldIdLst>
        </p14:section>
        <p14:section name="문제" id="{e7e91962-f9b9-ecdd-3fc2-7a0cc1497a6c}">
          <p14:sldIdLst>
            <p14:sldId id="257"/>
          </p14:sldIdLst>
        </p14:section>
        <p14:section name="브랜드" id="{3442b1da-c0d8-7b17-ef20-8a0203f93d62}">
          <p14:sldIdLst>
            <p14:sldId id="258"/>
          </p14:sldIdLst>
        </p14:section>
        <p14:section name="소재" id="{b0a6e920-e2b2-6dc6-463d-62410776cd3e}">
          <p14:sldIdLst>
            <p14:sldId id="259"/>
          </p14:sldIdLst>
        </p14:section>
        <p14:section name="설계" id="{25b8ec01-9fb0-1556-c4a3-d1af5bf1a4b4}">
          <p14:sldIdLst>
            <p14:sldId id="260"/>
          </p14:sldIdLst>
        </p14:section>
        <p14:section name="제품" id="{484cf5dc-0144-bdaa-3aab-a29ad1a16a31}">
          <p14:sldIdLst>
            <p14:sldId id="261"/>
          </p14:sldIdLst>
        </p14:section>
        <p14:section name="ESG" id="{fc05ced6-a5aa-6f8e-3d1c-4af6295a9dc7}">
          <p14:sldIdLst>
            <p14:sldId id="262"/>
          </p14:sldIdLst>
        </p14:section>
        <p14:section name="B2B" id="{69ef8ba1-879c-496a-d161-5802632e952e}">
          <p14:sldIdLst>
            <p14:sldId id="263"/>
          </p14:sldIdLst>
        </p14:section>
        <p14:section name="로드맵" id="{98fb1699-a65d-4b50-30f8-451182296fd5}">
          <p14:sldIdLst>
            <p14:sldId id="264"/>
          </p14:sldIdLst>
        </p14:section>
        <p14:section name="연락처" id="{76b9ac39-ac16-dfe6-28db-2d86d415486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회사소개서 v1 (B2B·박람회 배포용).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운영자 의견을 구조 설명으로만 소개. 효과 단정 표현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연혁은 회사 브로셔 기준. 지원사업 선정은 제품 인증이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리타이어렌은 상표 출원 단계(등록 아님). E-실리폴리렌은 명칭만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전문의는 설계 자문 사실만 표기(실명·병원명 미기재). 추천·보증 아님. 논문은 설계 참고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소비자가. 기능 문구는 구조 설명만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선정은 과제 수행 기업 선정이며 제품 인증·보증이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단가는 수량별 개별 견적. 소비자가는 참고용.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변경될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단체 구매·입점 문의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1830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566160" y="4754880"/>
            <a:ext cx="1280160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/>
          <p:nvPr/>
        </p:nvSpPr>
        <p:spPr>
          <a:xfrm>
            <a:off x="3566160" y="475488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RS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777240" cy="636887"/>
          </a:xfrm>
          <a:prstGeom prst="rect">
            <a:avLst/>
          </a:prstGeom>
        </p:spPr>
      </p:pic>
      <p:sp>
        <p:nvSpPr>
          <p:cNvPr id="3" name="circle"/>
          <p:cNvSpPr/>
          <p:nvPr/>
        </p:nvSpPr>
        <p:spPr>
          <a:xfrm>
            <a:off x="5074920" y="1051560"/>
            <a:ext cx="3611880" cy="3611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walking" descr="쿼드그립 종일편한 워킹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188720"/>
            <a:ext cx="2331720" cy="2828232"/>
          </a:xfrm>
          <a:prstGeom prst="rect">
            <a:avLst/>
          </a:prstGeom>
        </p:spPr>
      </p:pic>
      <p:pic>
        <p:nvPicPr>
          <p:cNvPr id="5" name="insole" descr="쿼드그립 아치가득 인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880360"/>
            <a:ext cx="1783080" cy="1523543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2000" dirty="0"/>
          </a:p>
        </p:txBody>
      </p:sp>
      <p:sp>
        <p:nvSpPr>
          <p:cNvPr id="7" name="Text 2"/>
          <p:cNvSpPr txBox="1"/>
          <p:nvPr/>
        </p:nvSpPr>
        <p:spPr>
          <a:xfrm>
            <a:off x="45720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하루를 위한 신발과 인솔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2697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회사소개서</a:t>
            </a:r>
            <a:endParaRPr lang="en-US" sz="36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4343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RhaRa Shoe  ·  ㈜알앤디메이커스  ·  2026.10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하루에서 시작된 질문</a:t>
            </a:r>
            <a:endParaRPr lang="en-US" sz="2800" dirty="0"/>
          </a:p>
        </p:txBody>
      </p:sp>
      <p:sp>
        <p:nvSpPr>
          <p:cNvPr id="4" name="chip1"/>
          <p:cNvSpPr/>
          <p:nvPr/>
        </p:nvSpPr>
        <p:spPr>
          <a:xfrm>
            <a:off x="457200" y="10972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· 주방</a:t>
            </a:r>
            <a:endParaRPr lang="en-US" sz="1200" dirty="0"/>
          </a:p>
        </p:txBody>
      </p:sp>
      <p:sp>
        <p:nvSpPr>
          <p:cNvPr id="6" name="chip2"/>
          <p:cNvSpPr/>
          <p:nvPr/>
        </p:nvSpPr>
        <p:spPr>
          <a:xfrm>
            <a:off x="2057400" y="10972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57400" y="1097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· 베이커리</a:t>
            </a:r>
            <a:endParaRPr lang="en-US" sz="1200" dirty="0"/>
          </a:p>
        </p:txBody>
      </p:sp>
      <p:sp>
        <p:nvSpPr>
          <p:cNvPr id="8" name="chip3"/>
          <p:cNvSpPr/>
          <p:nvPr/>
        </p:nvSpPr>
        <p:spPr>
          <a:xfrm>
            <a:off x="3657600" y="10972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1097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· 서비스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9240" y="1097280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서서 일하는 현장에서 직접 들은 이야기</a:t>
            </a:r>
            <a:endParaRPr lang="en-US" sz="1200" dirty="0"/>
          </a:p>
        </p:txBody>
      </p:sp>
      <p:sp>
        <p:nvSpPr>
          <p:cNvPr id="11" name="voice1"/>
          <p:cNvSpPr/>
          <p:nvPr/>
        </p:nvSpPr>
        <p:spPr>
          <a:xfrm>
            <a:off x="457200" y="164592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분리되면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2697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신발과 깔창 사이 틈에 물이 고인다고 합니다.</a:t>
            </a:r>
            <a:endParaRPr lang="en-US" sz="1200" dirty="0"/>
          </a:p>
        </p:txBody>
      </p:sp>
      <p:sp>
        <p:nvSpPr>
          <p:cNvPr id="15" name="voice2"/>
          <p:cNvSpPr/>
          <p:nvPr/>
        </p:nvSpPr>
        <p:spPr>
          <a:xfrm>
            <a:off x="3246120" y="164592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747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상태로 신으면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2697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같이 딸려 나와 불편하다고 합니다.</a:t>
            </a:r>
            <a:endParaRPr lang="en-US" sz="1200" dirty="0"/>
          </a:p>
        </p:txBody>
      </p:sp>
      <p:sp>
        <p:nvSpPr>
          <p:cNvPr id="19" name="voice3"/>
          <p:cNvSpPr/>
          <p:nvPr/>
        </p:nvSpPr>
        <p:spPr>
          <a:xfrm>
            <a:off x="6035040" y="164592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endParaRPr lang="en-US" sz="40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테두리가 둥글면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697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테두리를 타고 넘어온다고 합니다.</a:t>
            </a:r>
            <a:endParaRPr lang="en-US" sz="1200" dirty="0"/>
          </a:p>
        </p:txBody>
      </p:sp>
      <p:sp>
        <p:nvSpPr>
          <p:cNvPr id="23" name="answer-bar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7033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37033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없는 일체형 안창과 도톰한 발목 입구 테두리 구조로 설계했습니다.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출발한 제조사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34440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알앤디메이커스는 폐벽지·폐타이어처럼 버려지는 소재를 원료로 바꿔 생활 제품을 만들어 왔습니다.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라라슈는 그 소재 경험을 서서 일하는 사람의 신발과 인솔로 옮긴 브랜드입니다. 기능보다 먼저 하루의 동선을 봤습니다.</a:t>
            </a:r>
            <a:endParaRPr lang="en-US" sz="1400" dirty="0"/>
          </a:p>
        </p:txBody>
      </p:sp>
      <p:pic>
        <p:nvPicPr>
          <p:cNvPr id="5" name="logo" descr="RS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520440"/>
            <a:ext cx="640080" cy="524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RhaRa Shoe  라라슈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280160" y="3858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200" dirty="0"/>
          </a:p>
        </p:txBody>
      </p:sp>
      <p:sp>
        <p:nvSpPr>
          <p:cNvPr id="8" name="history-card"/>
          <p:cNvSpPr/>
          <p:nvPr/>
        </p:nvSpPr>
        <p:spPr>
          <a:xfrm>
            <a:off x="475488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history-line"/>
          <p:cNvSpPr/>
          <p:nvPr/>
        </p:nvSpPr>
        <p:spPr>
          <a:xfrm>
            <a:off x="5138928" y="1691640"/>
            <a:ext cx="0" cy="224028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dot1"/>
          <p:cNvSpPr/>
          <p:nvPr/>
        </p:nvSpPr>
        <p:spPr>
          <a:xfrm>
            <a:off x="5047488" y="1591056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40680" y="1481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2023.07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440680" y="17556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㈜알앤디메이커스 창립</a:t>
            </a:r>
            <a:endParaRPr lang="en-US" sz="1200" dirty="0"/>
          </a:p>
        </p:txBody>
      </p:sp>
      <p:sp>
        <p:nvSpPr>
          <p:cNvPr id="13" name="dot2"/>
          <p:cNvSpPr/>
          <p:nvPr/>
        </p:nvSpPr>
        <p:spPr>
          <a:xfrm>
            <a:off x="5047488" y="2368296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40680" y="2258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2023.09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40680" y="2532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전국 매장 입점</a:t>
            </a:r>
            <a:endParaRPr lang="en-US" sz="1200" dirty="0"/>
          </a:p>
        </p:txBody>
      </p:sp>
      <p:sp>
        <p:nvSpPr>
          <p:cNvPr id="16" name="dot3"/>
          <p:cNvSpPr/>
          <p:nvPr/>
        </p:nvSpPr>
        <p:spPr>
          <a:xfrm>
            <a:off x="5047488" y="3145536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40680" y="3035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440680" y="33101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새활용산업육성 지원사업 ‘도약’ 선정</a:t>
            </a:r>
            <a:endParaRPr lang="en-US" sz="1200" dirty="0"/>
          </a:p>
        </p:txBody>
      </p:sp>
      <p:sp>
        <p:nvSpPr>
          <p:cNvPr id="19" name="dot4"/>
          <p:cNvSpPr/>
          <p:nvPr/>
        </p:nvSpPr>
        <p:spPr>
          <a:xfrm>
            <a:off x="5047488" y="3922776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4068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40873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첫 제품 인솔 OPEN 예정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소재부터 직접 개발합니다</a:t>
            </a:r>
            <a:endParaRPr lang="en-US" sz="2800" dirty="0"/>
          </a:p>
        </p:txBody>
      </p:sp>
      <p:sp>
        <p:nvSpPr>
          <p:cNvPr id="4" name="mat-card1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mat1-badge1" descr="RS 소재 배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822960" cy="822960"/>
          </a:xfrm>
          <a:prstGeom prst="rect">
            <a:avLst/>
          </a:prstGeom>
        </p:spPr>
      </p:pic>
      <p:pic>
        <p:nvPicPr>
          <p:cNvPr id="6" name="mat1-badge2" descr="RS 소재 배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822960" cy="8229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3152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리타이어렌</a:t>
            </a:r>
            <a:endParaRPr lang="en-US" sz="2400" dirty="0"/>
          </a:p>
        </p:txBody>
      </p:sp>
      <p:sp>
        <p:nvSpPr>
          <p:cNvPr id="8" name="tag1"/>
          <p:cNvSpPr/>
          <p:nvPr/>
        </p:nvSpPr>
        <p:spPr>
          <a:xfrm>
            <a:off x="3154680" y="2514600"/>
            <a:ext cx="105156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154680" y="25146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 출원 단계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31520" y="3017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 + 폐벽지 PVC 배합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3152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그립 패드에 적용합니다.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재생고무를 포함한 자체 배합 소재</a:t>
            </a:r>
            <a:endParaRPr lang="en-US" sz="1100" dirty="0"/>
          </a:p>
        </p:txBody>
      </p:sp>
      <p:sp>
        <p:nvSpPr>
          <p:cNvPr id="13" name="mat-card2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mat2-badge1" descr="RS 소재 배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4173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93776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2400" dirty="0"/>
          </a:p>
        </p:txBody>
      </p:sp>
      <p:sp>
        <p:nvSpPr>
          <p:cNvPr id="16" name="tag2"/>
          <p:cNvSpPr/>
          <p:nvPr/>
        </p:nvSpPr>
        <p:spPr>
          <a:xfrm>
            <a:off x="7360920" y="2514600"/>
            <a:ext cx="105156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360920" y="25146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개발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4937760" y="3017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인솔과 워킹화 본체에 쓰는 자체 소재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49377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본체는 안창까지 통째로 성형합니다.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93776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없는 일체형 안창 구조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단계의 두 가지 근거</a:t>
            </a:r>
            <a:endParaRPr lang="en-US" sz="2800" dirty="0"/>
          </a:p>
        </p:txBody>
      </p:sp>
      <p:sp>
        <p:nvSpPr>
          <p:cNvPr id="4" name="advisor-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556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자문</a:t>
            </a:r>
            <a:endParaRPr lang="en-US" sz="1400" dirty="0"/>
          </a:p>
        </p:txBody>
      </p:sp>
      <p:sp>
        <p:nvSpPr>
          <p:cNvPr id="7" name="chip-a1"/>
          <p:cNvSpPr/>
          <p:nvPr/>
        </p:nvSpPr>
        <p:spPr>
          <a:xfrm>
            <a:off x="73152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</a:t>
            </a:r>
            <a:endParaRPr lang="en-US" sz="1300" dirty="0"/>
          </a:p>
        </p:txBody>
      </p:sp>
      <p:sp>
        <p:nvSpPr>
          <p:cNvPr id="9" name="chip-a2"/>
          <p:cNvSpPr/>
          <p:nvPr/>
        </p:nvSpPr>
        <p:spPr>
          <a:xfrm>
            <a:off x="242316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2316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형태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단계에서 함께 검토했습니다.</a:t>
            </a:r>
            <a:endParaRPr lang="en-US" sz="1200" dirty="0"/>
          </a:p>
        </p:txBody>
      </p:sp>
      <p:sp>
        <p:nvSpPr>
          <p:cNvPr id="12" name="paper-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37760" y="1234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2편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논문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설계</a:t>
            </a:r>
            <a:endParaRPr lang="en-US" sz="1400" dirty="0"/>
          </a:p>
        </p:txBody>
      </p:sp>
      <p:sp>
        <p:nvSpPr>
          <p:cNvPr id="16" name="chip-b1"/>
          <p:cNvSpPr/>
          <p:nvPr/>
        </p:nvSpPr>
        <p:spPr>
          <a:xfrm>
            <a:off x="493776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3776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3776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 설계의 참고 자료로 사용했습니다.</a:t>
            </a:r>
            <a:endParaRPr lang="en-US" sz="1200" dirty="0"/>
          </a:p>
        </p:txBody>
      </p:sp>
      <p:sp>
        <p:nvSpPr>
          <p:cNvPr id="19" name="result-bar"/>
          <p:cNvSpPr/>
          <p:nvPr/>
        </p:nvSpPr>
        <p:spPr>
          <a:xfrm>
            <a:off x="457200" y="34290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429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근거 위에서 설계한 제품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108960" y="34290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  ·  쿼드그립 아치가득 인솔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전문의의 설계 자문 사실을 알리는 내용이며, 제품에 대한 추천·보증이 아닙니다. 논문은 설계 참고 자료이며 제품의 성능을 보증하지 않습니다. 본 제품은 의료기기가 아닙니다.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2종</a:t>
            </a:r>
            <a:endParaRPr lang="en-US" sz="2800" dirty="0"/>
          </a:p>
        </p:txBody>
      </p:sp>
      <p:sp>
        <p:nvSpPr>
          <p:cNvPr id="4" name="product-card1"/>
          <p:cNvSpPr/>
          <p:nvPr/>
        </p:nvSpPr>
        <p:spPr>
          <a:xfrm>
            <a:off x="45720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product-img1" descr="쿼드그립 종일편한 워킹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476" y="1234440"/>
            <a:ext cx="1130808" cy="1371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48840" y="1261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2148840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  ·  2026.12 OPEN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214884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길을 따라 그립 패드 4곳 배치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없는 일체형 안창</a:t>
            </a:r>
            <a:endParaRPr lang="en-US" sz="1100" dirty="0"/>
          </a:p>
        </p:txBody>
      </p:sp>
      <p:sp>
        <p:nvSpPr>
          <p:cNvPr id="9" name="spec-row1-1"/>
          <p:cNvSpPr/>
          <p:nvPr/>
        </p:nvSpPr>
        <p:spPr>
          <a:xfrm>
            <a:off x="640080" y="2788920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2788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 (10mm 단위 6종)</a:t>
            </a:r>
            <a:endParaRPr lang="en-US" sz="1100" dirty="0"/>
          </a:p>
        </p:txBody>
      </p:sp>
      <p:sp>
        <p:nvSpPr>
          <p:cNvPr id="12" name="spec-row1-2"/>
          <p:cNvSpPr/>
          <p:nvPr/>
        </p:nvSpPr>
        <p:spPr>
          <a:xfrm>
            <a:off x="640080" y="3209544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32095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63040" y="32095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· 차콜 블랙 · 민트 화이트</a:t>
            </a:r>
            <a:endParaRPr lang="en-US" sz="1100" dirty="0"/>
          </a:p>
        </p:txBody>
      </p:sp>
      <p:sp>
        <p:nvSpPr>
          <p:cNvPr id="15" name="spec-row1-3"/>
          <p:cNvSpPr/>
          <p:nvPr/>
        </p:nvSpPr>
        <p:spPr>
          <a:xfrm>
            <a:off x="640080" y="3630168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36301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46304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E-실리폴리렌 / 패드 리타이어렌</a:t>
            </a:r>
            <a:endParaRPr lang="en-US" sz="1100" dirty="0"/>
          </a:p>
        </p:txBody>
      </p:sp>
      <p:sp>
        <p:nvSpPr>
          <p:cNvPr id="18" name="spec-row1-4"/>
          <p:cNvSpPr/>
          <p:nvPr/>
        </p:nvSpPr>
        <p:spPr>
          <a:xfrm>
            <a:off x="640080" y="4050792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40507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463040" y="4050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대한민국</a:t>
            </a:r>
            <a:endParaRPr lang="en-US" sz="1100" dirty="0"/>
          </a:p>
        </p:txBody>
      </p:sp>
      <p:sp>
        <p:nvSpPr>
          <p:cNvPr id="21" name="product-card2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2" name="product-img2" descr="쿼드그립 아치가득 인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2392"/>
            <a:ext cx="1188720" cy="10156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355080" y="1261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 ·  2026.11.11 OPEN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550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채운 형태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링 컵</a:t>
            </a:r>
            <a:endParaRPr lang="en-US" sz="1100" dirty="0"/>
          </a:p>
        </p:txBody>
      </p:sp>
      <p:sp>
        <p:nvSpPr>
          <p:cNvPr id="26" name="spec-row2-1"/>
          <p:cNvSpPr/>
          <p:nvPr/>
        </p:nvSpPr>
        <p:spPr>
          <a:xfrm>
            <a:off x="4846320" y="2788920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983480" y="2788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566928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160mm · L 175mm</a:t>
            </a:r>
            <a:endParaRPr lang="en-US" sz="1100" dirty="0"/>
          </a:p>
        </p:txBody>
      </p:sp>
      <p:sp>
        <p:nvSpPr>
          <p:cNvPr id="29" name="spec-row2-2"/>
          <p:cNvSpPr/>
          <p:nvPr/>
        </p:nvSpPr>
        <p:spPr>
          <a:xfrm>
            <a:off x="4846320" y="3209544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983480" y="32095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5669280" y="32095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· 모카무스</a:t>
            </a:r>
            <a:endParaRPr lang="en-US" sz="1100" dirty="0"/>
          </a:p>
        </p:txBody>
      </p:sp>
      <p:sp>
        <p:nvSpPr>
          <p:cNvPr id="32" name="spec-row2-3"/>
          <p:cNvSpPr/>
          <p:nvPr/>
        </p:nvSpPr>
        <p:spPr>
          <a:xfrm>
            <a:off x="4846320" y="3630168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983480" y="36301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66928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100" dirty="0"/>
          </a:p>
        </p:txBody>
      </p:sp>
      <p:sp>
        <p:nvSpPr>
          <p:cNvPr id="35" name="spec-row2-4"/>
          <p:cNvSpPr/>
          <p:nvPr/>
        </p:nvSpPr>
        <p:spPr>
          <a:xfrm>
            <a:off x="4846320" y="4050792"/>
            <a:ext cx="3657600" cy="36576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4983480" y="40507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5669280" y="4050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(뒤꿈치~아치)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 R&amp;D, 환경부 ‘도약’ 선정</a:t>
            </a:r>
            <a:endParaRPr lang="en-US" sz="2800" dirty="0"/>
          </a:p>
        </p:txBody>
      </p:sp>
      <p:sp>
        <p:nvSpPr>
          <p:cNvPr id="4" name="grant-card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새활용산업육성 지원사업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‘도약’ 선정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2,404만원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정부지원금 규모 과제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40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선정은 수행 기업 선정이며, 제품에 대한 인증·보증이 아닙니다.</a:t>
            </a:r>
            <a:endParaRPr lang="en-US" sz="1000" dirty="0"/>
          </a:p>
        </p:txBody>
      </p:sp>
      <p:sp>
        <p:nvSpPr>
          <p:cNvPr id="10" name="mat-row1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mat-badge1" descr="폐타이어 고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572768"/>
            <a:ext cx="822960" cy="8229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97880" y="1554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897880" y="19659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재생고무를 워킹화 그립 패드 배합에 사용</a:t>
            </a:r>
            <a:endParaRPr lang="en-US" sz="1200" dirty="0"/>
          </a:p>
        </p:txBody>
      </p:sp>
      <p:sp>
        <p:nvSpPr>
          <p:cNvPr id="14" name="mat-row2"/>
          <p:cNvSpPr/>
          <p:nvPr/>
        </p:nvSpPr>
        <p:spPr>
          <a:xfrm>
            <a:off x="4663440" y="288036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mat-badge2" descr="폐벽지 PV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3264408"/>
            <a:ext cx="822960" cy="8229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897880" y="32461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폐벽지 PVC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897880" y="3657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폐벽지에서 분리한 PVC를 같은 패드 배합에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공급 · 입점 안내</a:t>
            </a:r>
            <a:endParaRPr lang="en-US" sz="2800" dirty="0"/>
          </a:p>
        </p:txBody>
      </p:sp>
      <p:sp>
        <p:nvSpPr>
          <p:cNvPr id="4" name="b2b-card1"/>
          <p:cNvSpPr/>
          <p:nvPr/>
        </p:nvSpPr>
        <p:spPr>
          <a:xfrm>
            <a:off x="457200" y="1188720"/>
            <a:ext cx="2651760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2b1-badge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b2b1-num"/>
          <p:cNvSpPr txBox="1"/>
          <p:nvPr/>
        </p:nvSpPr>
        <p:spPr>
          <a:xfrm>
            <a:off x="6858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 대상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외식 프랜차이즈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리테일 매장</a:t>
            </a:r>
            <a:endParaRPr lang="en-US" sz="1400" dirty="0"/>
          </a:p>
        </p:txBody>
      </p:sp>
      <p:sp>
        <p:nvSpPr>
          <p:cNvPr id="9" name="b2b-card2"/>
          <p:cNvSpPr/>
          <p:nvPr/>
        </p:nvSpPr>
        <p:spPr>
          <a:xfrm>
            <a:off x="3246120" y="1188720"/>
            <a:ext cx="2651760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b2b2-badge"/>
          <p:cNvSpPr/>
          <p:nvPr/>
        </p:nvSpPr>
        <p:spPr>
          <a:xfrm>
            <a:off x="347472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2b2-num"/>
          <p:cNvSpPr txBox="1"/>
          <p:nvPr/>
        </p:nvSpPr>
        <p:spPr>
          <a:xfrm>
            <a:off x="347472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 방식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지급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입점</a:t>
            </a:r>
            <a:endParaRPr lang="en-US" sz="1400" dirty="0"/>
          </a:p>
        </p:txBody>
      </p:sp>
      <p:sp>
        <p:nvSpPr>
          <p:cNvPr id="14" name="b2b-card3"/>
          <p:cNvSpPr/>
          <p:nvPr/>
        </p:nvSpPr>
        <p:spPr>
          <a:xfrm>
            <a:off x="6035040" y="1188720"/>
            <a:ext cx="2651760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2b3-badge"/>
          <p:cNvSpPr/>
          <p:nvPr/>
        </p:nvSpPr>
        <p:spPr>
          <a:xfrm>
            <a:off x="6263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2b3-num"/>
          <p:cNvSpPr txBox="1"/>
          <p:nvPr/>
        </p:nvSpPr>
        <p:spPr>
          <a:xfrm>
            <a:off x="6263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 · 거래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세금계산서 발행</a:t>
            </a:r>
            <a:endParaRPr lang="en-US" sz="1400" dirty="0"/>
          </a:p>
        </p:txBody>
      </p:sp>
      <p:sp>
        <p:nvSpPr>
          <p:cNvPr id="19" name="price-bar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7033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37360" y="37033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 42,500원   ·   쿼드그립 아치가득 인솔 21,500원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로드맵</a:t>
            </a:r>
            <a:endParaRPr lang="en-US" sz="2800" dirty="0"/>
          </a:p>
        </p:txBody>
      </p:sp>
      <p:sp>
        <p:nvSpPr>
          <p:cNvPr id="4" name="timeline"/>
          <p:cNvSpPr/>
          <p:nvPr/>
        </p:nvSpPr>
        <p:spPr>
          <a:xfrm>
            <a:off x="548640" y="1554480"/>
            <a:ext cx="786384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5" name="node1"/>
          <p:cNvSpPr/>
          <p:nvPr/>
        </p:nvSpPr>
        <p:spPr>
          <a:xfrm>
            <a:off x="457200" y="144475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11.11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펀딩 OPEN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100" dirty="0"/>
          </a:p>
        </p:txBody>
      </p:sp>
      <p:sp>
        <p:nvSpPr>
          <p:cNvPr id="9" name="node2"/>
          <p:cNvSpPr/>
          <p:nvPr/>
        </p:nvSpPr>
        <p:spPr>
          <a:xfrm>
            <a:off x="2103120" y="1444752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312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11.12–15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2103120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메가쇼 킨텍스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10312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부스에서 직접 신어 보기</a:t>
            </a:r>
            <a:endParaRPr lang="en-US" sz="1100" dirty="0"/>
          </a:p>
        </p:txBody>
      </p:sp>
      <p:sp>
        <p:nvSpPr>
          <p:cNvPr id="13" name="node3"/>
          <p:cNvSpPr/>
          <p:nvPr/>
        </p:nvSpPr>
        <p:spPr>
          <a:xfrm>
            <a:off x="3749040" y="144475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490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11.20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예약구매 OPEN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</a:t>
            </a:r>
            <a:endParaRPr lang="en-US" sz="1100" dirty="0"/>
          </a:p>
        </p:txBody>
      </p:sp>
      <p:sp>
        <p:nvSpPr>
          <p:cNvPr id="17" name="node4"/>
          <p:cNvSpPr/>
          <p:nvPr/>
        </p:nvSpPr>
        <p:spPr>
          <a:xfrm>
            <a:off x="5394960" y="1444752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9496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11.26–29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서울디자인페스티벌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코엑스 · 부스 운영</a:t>
            </a:r>
            <a:endParaRPr lang="en-US" sz="1100" dirty="0"/>
          </a:p>
        </p:txBody>
      </p:sp>
      <p:sp>
        <p:nvSpPr>
          <p:cNvPr id="21" name="node5"/>
          <p:cNvSpPr/>
          <p:nvPr/>
        </p:nvSpPr>
        <p:spPr>
          <a:xfrm>
            <a:off x="7040880" y="144475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04088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OPEN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</a:t>
            </a:r>
            <a:endParaRPr lang="en-US" sz="1100" dirty="0"/>
          </a:p>
        </p:txBody>
      </p:sp>
      <p:sp>
        <p:nvSpPr>
          <p:cNvPr id="25" name="expo-bar"/>
          <p:cNvSpPr/>
          <p:nvPr/>
        </p:nvSpPr>
        <p:spPr>
          <a:xfrm>
            <a:off x="457200" y="36118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200" y="43159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2026.11  ㈜라라슈 법인 설립 예정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박람회 현장에서 실물을 보고 상담하세요  ·  메가쇼(킨텍스) · 서울디자인페스티벌(코엑스)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 descr="RS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777240" cy="63688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20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· 입점 · 제휴 문의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rndceo@rndmakers.kr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RhaRa Shoe 라라슈  ·  ㈜알앤디메이커스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2026.11.11 인솔 OPEN  ·  11.12–15 메가쇼  ·  11.26–29 서울디자인페스티벌</a:t>
            </a:r>
            <a:endParaRPr lang="en-US" sz="1100" dirty="0"/>
          </a:p>
        </p:txBody>
      </p:sp>
      <p:sp>
        <p:nvSpPr>
          <p:cNvPr id="9" name="qr-card"/>
          <p:cNvSpPr/>
          <p:nvPr/>
        </p:nvSpPr>
        <p:spPr>
          <a:xfrm>
            <a:off x="5577840" y="1325880"/>
            <a:ext cx="3108960" cy="31089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qr-bg"/>
          <p:cNvSpPr/>
          <p:nvPr/>
        </p:nvSpPr>
        <p:spPr>
          <a:xfrm>
            <a:off x="5989320" y="1645920"/>
            <a:ext cx="2286000" cy="2286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qr" descr="단체 구매·입점 문의 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37360"/>
            <a:ext cx="2103120" cy="2103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7784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rharashoe.netlify.app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회사소개서</dc:title>
  <dc:subject>PptxGenJS Presentation</dc:subject>
  <dc:creator>㈜알앤디메이커스</dc:creator>
  <cp:lastModifiedBy>㈜알앤디메이커스</cp:lastModifiedBy>
  <cp:revision>1</cp:revision>
  <dcterms:created xsi:type="dcterms:W3CDTF">2026-10-20T05:27:47Z</dcterms:created>
  <dcterms:modified xsi:type="dcterms:W3CDTF">2026-10-20T05:27:47Z</dcterms:modified>
</cp:coreProperties>
</file>