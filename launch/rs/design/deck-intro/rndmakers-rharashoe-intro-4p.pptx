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f5744e7-c566-194e-007b-b4584b11dda0}">
          <p14:sldIdLst>
            <p14:sldId id="256"/>
          </p14:sldIdLst>
        </p14:section>
        <p14:section name="알앤디메이커스" id="{fe89f2a4-df15-bf02-eab6-6bc18878f93d}">
          <p14:sldIdLst>
            <p14:sldId id="257"/>
          </p14:sldIdLst>
        </p14:section>
        <p14:section name="라라슈" id="{04278398-aa5b-d080-7666-5bbe3a3e257b}">
          <p14:sldIdLst>
            <p14:sldId id="258"/>
          </p14:sldIdLst>
        </p14:section>
        <p14:section name="함께하기" id="{be2cc5e8-a6bd-0ea9-4cba-d3eb16e6d1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밑창 라임 패드는 양산 컬러 확정(10/6 대표 승인). 워킹화 사진: 대표 제공 리터칭, 인솔: 9/30 실물 리터칭.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bg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chemeClr val="tx2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8A8A85"/>
                </a:solidFill>
              </a:rPr>
              <a:t>R&amp;D MAKERS  ×  RhaRa Shoe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NAVY">
    <p:bg>
      <p:bgPr>
        <a:solidFill>
          <a:srgbClr val="1814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bg1"/>
                </a:solidFill>
              </a:rPr>
              <a:t>R&amp;D MAKERS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939735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chemeClr val="bg2"/>
                </a:solidFill>
              </a:rPr>
              <a:t>COMPANY &amp; BRAND 2026</a:t>
            </a:r>
            <a:endParaRPr lang="en-US" sz="1000" dirty="0"/>
          </a:p>
        </p:txBody>
      </p:sp>
      <p:sp>
        <p:nvSpPr>
          <p:cNvPr id="4" name="보라 원"/>
          <p:cNvSpPr/>
          <p:nvPr/>
        </p:nvSpPr>
        <p:spPr>
          <a:xfrm>
            <a:off x="4206240" y="123444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라임 타깃"/>
          <p:cNvSpPr/>
          <p:nvPr/>
        </p:nvSpPr>
        <p:spPr>
          <a:xfrm>
            <a:off x="5074920" y="1051560"/>
            <a:ext cx="1188720" cy="1188720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6" name="타깃 속"/>
          <p:cNvSpPr/>
          <p:nvPr/>
        </p:nvSpPr>
        <p:spPr>
          <a:xfrm>
            <a:off x="5376672" y="1353312"/>
            <a:ext cx="585216" cy="585216"/>
          </a:xfrm>
          <a:prstGeom prst="ellipse">
            <a:avLst/>
          </a:prstGeom>
          <a:solidFill>
            <a:srgbClr val="181478"/>
          </a:solidFill>
          <a:ln/>
        </p:spPr>
      </p:sp>
      <p:sp>
        <p:nvSpPr>
          <p:cNvPr id="7" name="타깃 중심"/>
          <p:cNvSpPr/>
          <p:nvPr/>
        </p:nvSpPr>
        <p:spPr>
          <a:xfrm>
            <a:off x="5541264" y="1517904"/>
            <a:ext cx="256032" cy="256032"/>
          </a:xfrm>
          <a:prstGeom prst="ellipse">
            <a:avLst/>
          </a:prstGeom>
          <a:solidFill>
            <a:srgbClr val="E0E828"/>
          </a:solidFill>
          <a:ln/>
        </p:spPr>
      </p:sp>
      <p:sp>
        <p:nvSpPr>
          <p:cNvPr id="8" name="헤드라인"/>
          <p:cNvSpPr txBox="1"/>
          <p:nvPr/>
        </p:nvSpPr>
        <p:spPr>
          <a:xfrm>
            <a:off x="594360" y="2103120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chemeClr val="bg2"/>
                </a:solidFill>
              </a:rPr>
              <a:t>남은 것의</a:t>
            </a:r>
            <a:endParaRPr lang="en-US" sz="5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chemeClr val="bg2"/>
                </a:solidFill>
              </a:rPr>
              <a:t>다음 모양.</a:t>
            </a:r>
            <a:endParaRPr lang="en-US" sz="5400" dirty="0"/>
          </a:p>
        </p:txBody>
      </p:sp>
      <p:sp>
        <p:nvSpPr>
          <p:cNvPr id="9" name="부제"/>
          <p:cNvSpPr txBox="1"/>
          <p:nvPr/>
        </p:nvSpPr>
        <p:spPr>
          <a:xfrm>
            <a:off x="594360" y="4434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chemeClr val="bg1"/>
                </a:solidFill>
              </a:rPr>
              <a:t>버려지는 소재로 제품을 만드는 제조사, 알앤디메이커스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chemeClr val="bg1"/>
                </a:solidFill>
              </a:rPr>
              <a:t>그리고 서서 일하는 사람들을 위한 새 브랜드, 라라슈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E828"/>
                </a:solidFill>
              </a:rPr>
              <a:t>㈜알앤디메이커스  ·  RhaRa Shoe 라라슈</a:t>
            </a:r>
            <a:endParaRPr lang="en-US" sz="1100" dirty="0"/>
          </a:p>
        </p:txBody>
      </p:sp>
      <p:sp>
        <p:nvSpPr>
          <p:cNvPr id="11" name="숫자 카드"/>
          <p:cNvSpPr/>
          <p:nvPr/>
        </p:nvSpPr>
        <p:spPr>
          <a:xfrm>
            <a:off x="6903720" y="1234440"/>
            <a:ext cx="4690872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12" name="큰 숫자"/>
          <p:cNvSpPr txBox="1"/>
          <p:nvPr/>
        </p:nvSpPr>
        <p:spPr>
          <a:xfrm>
            <a:off x="7223760" y="14904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E828"/>
                </a:solidFill>
              </a:rPr>
              <a:t>2023</a:t>
            </a:r>
            <a:endParaRPr lang="en-US" sz="4000" dirty="0"/>
          </a:p>
        </p:txBody>
      </p:sp>
      <p:sp>
        <p:nvSpPr>
          <p:cNvPr id="13" name="설명"/>
          <p:cNvSpPr txBox="1"/>
          <p:nvPr/>
        </p:nvSpPr>
        <p:spPr>
          <a:xfrm>
            <a:off x="8869680" y="14904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법인 창립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창업진흥원 국가과제 수행</a:t>
            </a:r>
            <a:endParaRPr lang="en-US" sz="1300" dirty="0"/>
          </a:p>
        </p:txBody>
      </p:sp>
      <p:sp>
        <p:nvSpPr>
          <p:cNvPr id="14" name="숫자 카드"/>
          <p:cNvSpPr/>
          <p:nvPr/>
        </p:nvSpPr>
        <p:spPr>
          <a:xfrm>
            <a:off x="6903720" y="2834640"/>
            <a:ext cx="4690872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15" name="큰 숫자"/>
          <p:cNvSpPr txBox="1"/>
          <p:nvPr/>
        </p:nvSpPr>
        <p:spPr>
          <a:xfrm>
            <a:off x="7223760" y="30906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E828"/>
                </a:solidFill>
              </a:rPr>
              <a:t>전국</a:t>
            </a:r>
            <a:endParaRPr lang="en-US" sz="4000" dirty="0"/>
          </a:p>
        </p:txBody>
      </p:sp>
      <p:sp>
        <p:nvSpPr>
          <p:cNvPr id="16" name="설명"/>
          <p:cNvSpPr txBox="1"/>
          <p:nvPr/>
        </p:nvSpPr>
        <p:spPr>
          <a:xfrm>
            <a:off x="8869680" y="30906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다이소 전국 매장 입점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2023.09~</a:t>
            </a:r>
            <a:endParaRPr lang="en-US" sz="1300" dirty="0"/>
          </a:p>
        </p:txBody>
      </p:sp>
      <p:sp>
        <p:nvSpPr>
          <p:cNvPr id="17" name="숫자 카드"/>
          <p:cNvSpPr/>
          <p:nvPr/>
        </p:nvSpPr>
        <p:spPr>
          <a:xfrm>
            <a:off x="6903720" y="4434840"/>
            <a:ext cx="4690872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18" name="큰 숫자"/>
          <p:cNvSpPr txBox="1"/>
          <p:nvPr/>
        </p:nvSpPr>
        <p:spPr>
          <a:xfrm>
            <a:off x="7223760" y="4690872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E828"/>
                </a:solidFill>
              </a:rPr>
              <a:t>2회</a:t>
            </a:r>
            <a:endParaRPr lang="en-US" sz="4000" dirty="0"/>
          </a:p>
        </p:txBody>
      </p:sp>
      <p:sp>
        <p:nvSpPr>
          <p:cNvPr id="19" name="설명"/>
          <p:cNvSpPr txBox="1"/>
          <p:nvPr/>
        </p:nvSpPr>
        <p:spPr>
          <a:xfrm>
            <a:off x="8869680" y="4690872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환경부 새활용 지원사업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2024 · 2026 2차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COMPANY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소재부터 납품까지, 한 회사에서</a:t>
            </a:r>
            <a:endParaRPr lang="en-US" sz="3000" dirty="0"/>
          </a:p>
        </p:txBody>
      </p:sp>
      <p:sp>
        <p:nvSpPr>
          <p:cNvPr id="4" name="역량 카드"/>
          <p:cNvSpPr/>
          <p:nvPr/>
        </p:nvSpPr>
        <p:spPr>
          <a:xfrm>
            <a:off x="594360" y="1691640"/>
            <a:ext cx="3545738" cy="1234440"/>
          </a:xfrm>
          <a:prstGeom prst="roundRect">
            <a:avLst>
              <a:gd name="adj" fmla="val 5926"/>
            </a:avLst>
          </a:prstGeom>
          <a:solidFill>
            <a:schemeClr val="accent4"/>
          </a:solidFill>
          <a:ln/>
        </p:spPr>
      </p:sp>
      <p:sp>
        <p:nvSpPr>
          <p:cNvPr id="5" name="역량"/>
          <p:cNvSpPr txBox="1"/>
          <p:nvPr/>
        </p:nvSpPr>
        <p:spPr>
          <a:xfrm>
            <a:off x="868680" y="187452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01  소재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실크벽지 PVC · 폐타이어 고무 · CXP 목재 복합소재</a:t>
            </a:r>
            <a:endParaRPr lang="en-US" sz="1600" dirty="0"/>
          </a:p>
        </p:txBody>
      </p:sp>
      <p:sp>
        <p:nvSpPr>
          <p:cNvPr id="6" name="역량 카드"/>
          <p:cNvSpPr/>
          <p:nvPr/>
        </p:nvSpPr>
        <p:spPr>
          <a:xfrm>
            <a:off x="4322978" y="1691640"/>
            <a:ext cx="3545738" cy="1234440"/>
          </a:xfrm>
          <a:prstGeom prst="roundRect">
            <a:avLst>
              <a:gd name="adj" fmla="val 5926"/>
            </a:avLst>
          </a:prstGeom>
          <a:solidFill>
            <a:schemeClr val="accent4"/>
          </a:solidFill>
          <a:ln/>
        </p:spPr>
      </p:sp>
      <p:sp>
        <p:nvSpPr>
          <p:cNvPr id="7" name="역량"/>
          <p:cNvSpPr txBox="1"/>
          <p:nvPr/>
        </p:nvSpPr>
        <p:spPr>
          <a:xfrm>
            <a:off x="4597298" y="187452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02  기획 · 설계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제품 디자인 · 금형 · 상표/특허 출원 · 라이선싱</a:t>
            </a:r>
            <a:endParaRPr lang="en-US" sz="1600" dirty="0"/>
          </a:p>
        </p:txBody>
      </p:sp>
      <p:sp>
        <p:nvSpPr>
          <p:cNvPr id="8" name="역량 카드"/>
          <p:cNvSpPr/>
          <p:nvPr/>
        </p:nvSpPr>
        <p:spPr>
          <a:xfrm>
            <a:off x="8051597" y="1691640"/>
            <a:ext cx="3545738" cy="1234440"/>
          </a:xfrm>
          <a:prstGeom prst="roundRect">
            <a:avLst>
              <a:gd name="adj" fmla="val 5926"/>
            </a:avLst>
          </a:prstGeom>
          <a:solidFill>
            <a:schemeClr val="accent4"/>
          </a:solidFill>
          <a:ln/>
        </p:spPr>
      </p:sp>
      <p:sp>
        <p:nvSpPr>
          <p:cNvPr id="9" name="역량"/>
          <p:cNvSpPr txBox="1"/>
          <p:nvPr/>
        </p:nvSpPr>
        <p:spPr>
          <a:xfrm>
            <a:off x="8325917" y="187452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03  생산 · 납품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국내 제조 · 대형 매장 전국 납품 · B2B/OEM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461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3"/>
                </a:solidFill>
              </a:rPr>
              <a:t>HISTORY</a:t>
            </a:r>
            <a:endParaRPr lang="en-US" sz="1000" dirty="0"/>
          </a:p>
        </p:txBody>
      </p:sp>
      <p:sp>
        <p:nvSpPr>
          <p:cNvPr id="11" name="타임라인"/>
          <p:cNvSpPr/>
          <p:nvPr/>
        </p:nvSpPr>
        <p:spPr>
          <a:xfrm>
            <a:off x="594360" y="3767328"/>
            <a:ext cx="11002975" cy="0"/>
          </a:xfrm>
          <a:prstGeom prst="line">
            <a:avLst/>
          </a:prstGeom>
          <a:noFill/>
          <a:ln w="25400">
            <a:solidFill>
              <a:srgbClr val="D8D6EE"/>
            </a:solidFill>
            <a:prstDash val="solid"/>
          </a:ln>
        </p:spPr>
      </p:sp>
      <p:sp>
        <p:nvSpPr>
          <p:cNvPr id="12" name="연혁 점"/>
          <p:cNvSpPr/>
          <p:nvPr/>
        </p:nvSpPr>
        <p:spPr>
          <a:xfrm>
            <a:off x="594360" y="363016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069080"/>
            <a:ext cx="261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2023</a:t>
            </a:r>
            <a:endParaRPr lang="en-US" sz="2400" dirty="0"/>
          </a:p>
        </p:txBody>
      </p:sp>
      <p:sp>
        <p:nvSpPr>
          <p:cNvPr id="14" name="연혁 2023"/>
          <p:cNvSpPr txBox="1"/>
          <p:nvPr/>
        </p:nvSpPr>
        <p:spPr>
          <a:xfrm>
            <a:off x="594360" y="4681728"/>
            <a:ext cx="2522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창업진흥원 국가과제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㈜알앤디메이커스 창립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다이소 전국 매장 입점</a:t>
            </a:r>
            <a:endParaRPr lang="en-US" sz="1150" dirty="0"/>
          </a:p>
        </p:txBody>
      </p:sp>
      <p:sp>
        <p:nvSpPr>
          <p:cNvPr id="15" name="연혁 점"/>
          <p:cNvSpPr/>
          <p:nvPr/>
        </p:nvSpPr>
        <p:spPr>
          <a:xfrm>
            <a:off x="3390824" y="363016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90824" y="4069080"/>
            <a:ext cx="261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2024</a:t>
            </a:r>
            <a:endParaRPr lang="en-US" sz="2400" dirty="0"/>
          </a:p>
        </p:txBody>
      </p:sp>
      <p:sp>
        <p:nvSpPr>
          <p:cNvPr id="17" name="연혁 2024"/>
          <p:cNvSpPr txBox="1"/>
          <p:nvPr/>
        </p:nvSpPr>
        <p:spPr>
          <a:xfrm>
            <a:off x="3390824" y="4681728"/>
            <a:ext cx="2522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환경부 새활용지원사업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오피스디포·오피스웨이 납품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중국 첫 수출</a:t>
            </a:r>
            <a:endParaRPr lang="en-US" sz="1150" dirty="0"/>
          </a:p>
        </p:txBody>
      </p:sp>
      <p:sp>
        <p:nvSpPr>
          <p:cNvPr id="18" name="연혁 점"/>
          <p:cNvSpPr/>
          <p:nvPr/>
        </p:nvSpPr>
        <p:spPr>
          <a:xfrm>
            <a:off x="6187288" y="363016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87288" y="4069080"/>
            <a:ext cx="261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2025</a:t>
            </a:r>
            <a:endParaRPr lang="en-US" sz="2400" dirty="0"/>
          </a:p>
        </p:txBody>
      </p:sp>
      <p:sp>
        <p:nvSpPr>
          <p:cNvPr id="20" name="연혁 2025"/>
          <p:cNvSpPr txBox="1"/>
          <p:nvPr/>
        </p:nvSpPr>
        <p:spPr>
          <a:xfrm>
            <a:off x="6187288" y="4681728"/>
            <a:ext cx="2522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상표권·BM 특허 출원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꿈돌이 캐릭터 라이선싱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chemeClr val="tx2"/>
                </a:solidFill>
              </a:rPr>
              <a:t>롯데패키징앤솔루션·서브원 납품</a:t>
            </a:r>
            <a:endParaRPr lang="en-US" sz="1150" dirty="0"/>
          </a:p>
        </p:txBody>
      </p:sp>
      <p:sp>
        <p:nvSpPr>
          <p:cNvPr id="21" name="연혁 점"/>
          <p:cNvSpPr/>
          <p:nvPr/>
        </p:nvSpPr>
        <p:spPr>
          <a:xfrm>
            <a:off x="8983751" y="3630168"/>
            <a:ext cx="274320" cy="274320"/>
          </a:xfrm>
          <a:prstGeom prst="ellipse">
            <a:avLst/>
          </a:prstGeom>
          <a:solidFill>
            <a:srgbClr val="C6F4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83751" y="4069080"/>
            <a:ext cx="261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2026</a:t>
            </a:r>
            <a:endParaRPr lang="en-US" sz="2400" dirty="0"/>
          </a:p>
        </p:txBody>
      </p:sp>
      <p:sp>
        <p:nvSpPr>
          <p:cNvPr id="23" name="2026 강조"/>
          <p:cNvSpPr/>
          <p:nvPr/>
        </p:nvSpPr>
        <p:spPr>
          <a:xfrm>
            <a:off x="8874023" y="4572000"/>
            <a:ext cx="2723312" cy="1417320"/>
          </a:xfrm>
          <a:prstGeom prst="roundRect">
            <a:avLst>
              <a:gd name="adj" fmla="val 3871"/>
            </a:avLst>
          </a:prstGeom>
          <a:solidFill>
            <a:srgbClr val="F4FBD9"/>
          </a:solidFill>
          <a:ln/>
        </p:spPr>
      </p:sp>
      <p:sp>
        <p:nvSpPr>
          <p:cNvPr id="24" name="연혁 2026"/>
          <p:cNvSpPr txBox="1"/>
          <p:nvPr/>
        </p:nvSpPr>
        <p:spPr>
          <a:xfrm>
            <a:off x="8983751" y="4681728"/>
            <a:ext cx="2522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환경부 새활용지원사업 2차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라라슈(RhaRa Shoe) 런칭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11.11 첫 라인업 오픈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F432"/>
                </a:solidFill>
              </a:rPr>
              <a:t>RHARA SHOE  ·  라라슈  ·  2026.11.11 OPEN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Made for Standing.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46304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9C4"/>
                </a:solidFill>
              </a:rPr>
              <a:t>친구 셋의 식당에서 매일 10~12시간 서서 일하는 모습을 보고 시작한, 서서 일하는 사람들을 위한 워킹화와 인솔.</a:t>
            </a:r>
            <a:endParaRPr lang="en-US" sz="1300" dirty="0"/>
          </a:p>
        </p:txBody>
      </p:sp>
      <p:sp>
        <p:nvSpPr>
          <p:cNvPr id="5" name="제품 카드"/>
          <p:cNvSpPr/>
          <p:nvPr/>
        </p:nvSpPr>
        <p:spPr>
          <a:xfrm>
            <a:off x="594360" y="1965960"/>
            <a:ext cx="5364328" cy="3429000"/>
          </a:xfrm>
          <a:prstGeom prst="roundRect">
            <a:avLst>
              <a:gd name="adj" fmla="val 2133"/>
            </a:avLst>
          </a:prstGeom>
          <a:solidFill>
            <a:srgbClr val="161616"/>
          </a:solidFill>
          <a:ln/>
        </p:spPr>
      </p:sp>
      <p:pic>
        <p:nvPicPr>
          <p:cNvPr id="6" name="쿼드그립 종일편한 워킹화" descr="img/tile-sh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2084" y="2057400"/>
            <a:ext cx="2468880" cy="2057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425196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8"/>
                </a:solidFill>
              </a:rPr>
              <a:t>쿼드그립 종일편한 워킹화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67048" y="42519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6F432"/>
                </a:solidFill>
              </a:rPr>
              <a:t>42,500원</a:t>
            </a:r>
            <a:endParaRPr lang="en-US" sz="1700" dirty="0"/>
          </a:p>
        </p:txBody>
      </p:sp>
      <p:sp>
        <p:nvSpPr>
          <p:cNvPr id="9" name="핵심 구조"/>
          <p:cNvSpPr txBox="1"/>
          <p:nvPr/>
        </p:nvSpPr>
        <p:spPr>
          <a:xfrm>
            <a:off x="914400" y="470916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A8A3"/>
                </a:solidFill>
              </a:rPr>
              <a:t>쿼드그립 4점 패드 · 깔창 없는 일체형 안창 · 도톰한 발목 테두리</a:t>
            </a:r>
            <a:endParaRPr lang="en-US" sz="1150" dirty="0"/>
          </a:p>
        </p:txBody>
      </p:sp>
      <p:sp>
        <p:nvSpPr>
          <p:cNvPr id="10" name="제품 카드"/>
          <p:cNvSpPr/>
          <p:nvPr/>
        </p:nvSpPr>
        <p:spPr>
          <a:xfrm>
            <a:off x="6233008" y="1965960"/>
            <a:ext cx="5364328" cy="3429000"/>
          </a:xfrm>
          <a:prstGeom prst="roundRect">
            <a:avLst>
              <a:gd name="adj" fmla="val 2133"/>
            </a:avLst>
          </a:prstGeom>
          <a:solidFill>
            <a:srgbClr val="161616"/>
          </a:solidFill>
          <a:ln/>
        </p:spPr>
      </p:sp>
      <p:pic>
        <p:nvPicPr>
          <p:cNvPr id="11" name="쿼드그립 아치가득 인솔" descr="img/tile-inso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251" y="2057400"/>
            <a:ext cx="3291840" cy="2057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53048" y="4251960"/>
            <a:ext cx="3352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8"/>
                </a:solidFill>
              </a:rPr>
              <a:t>쿼드그립 아치가득 인솔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9905695" y="42519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C6F432"/>
                </a:solidFill>
              </a:rPr>
              <a:t>21,500원</a:t>
            </a:r>
            <a:endParaRPr lang="en-US" sz="1700" dirty="0"/>
          </a:p>
        </p:txBody>
      </p:sp>
      <p:sp>
        <p:nvSpPr>
          <p:cNvPr id="14" name="핵심 구조"/>
          <p:cNvSpPr txBox="1"/>
          <p:nvPr/>
        </p:nvSpPr>
        <p:spPr>
          <a:xfrm>
            <a:off x="6553048" y="4709160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A8A3"/>
                </a:solidFill>
              </a:rPr>
              <a:t>아치가득 구조 · 뒤꿈치 컵 · 우드칩 배합 소재</a:t>
            </a:r>
            <a:endParaRPr lang="en-US" sz="1150" dirty="0"/>
          </a:p>
        </p:txBody>
      </p:sp>
      <p:sp>
        <p:nvSpPr>
          <p:cNvPr id="15" name="소재 띠"/>
          <p:cNvSpPr/>
          <p:nvPr/>
        </p:nvSpPr>
        <p:spPr>
          <a:xfrm>
            <a:off x="594360" y="5577840"/>
            <a:ext cx="11002975" cy="566928"/>
          </a:xfrm>
          <a:prstGeom prst="roundRect">
            <a:avLst>
              <a:gd name="adj" fmla="val 12903"/>
            </a:avLst>
          </a:prstGeom>
          <a:solidFill>
            <a:srgbClr val="1A1A1A"/>
          </a:solidFill>
          <a:ln/>
        </p:spPr>
      </p:sp>
      <p:sp>
        <p:nvSpPr>
          <p:cNvPr id="16" name="소재"/>
          <p:cNvSpPr txBox="1"/>
          <p:nvPr/>
        </p:nvSpPr>
        <p:spPr>
          <a:xfrm>
            <a:off x="868680" y="557784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F432"/>
                </a:solidFill>
              </a:rPr>
              <a:t>새활용 소재   </a:t>
            </a:r>
            <a:pPr indent="0" marL="0">
              <a:buNone/>
            </a:pPr>
            <a:r>
              <a:rPr lang="en-US" sz="1150" dirty="0">
                <a:solidFill>
                  <a:srgbClr val="C9C9C4"/>
                </a:solidFill>
              </a:rPr>
              <a:t>그립 패드: 폐타이어 고무 + 실크벽지 폐PVC  ·  본체: E-실리폴리렌(EVA·실리콘 배합)  ·  인솔: 목공소 우드칩 배합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8A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아이브로"/>
          <p:cNvSpPr txBox="1"/>
          <p:nvPr/>
        </p:nvSpPr>
        <p:spPr>
          <a:xfrm>
            <a:off x="594360" y="457200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0E828"/>
                </a:solidFill>
              </a:rPr>
              <a:t>LAUNCH &amp; PARTNERSHIP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" y="749808"/>
            <a:ext cx="11002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11월, 현장에서 만나요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11.11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8013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라라슈 1차 라인업 오픈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워킹화 · 인솔 온라인 출시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706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11.12 – 15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7889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킨텍스 메가쇼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실물 체험 · 단체 구매 상담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758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E828"/>
                </a:solidFill>
              </a:rPr>
              <a:t>11.26 – 29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77647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서울디자인페어 (코엑스)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브랜드 · 소재 전시</a:t>
            </a:r>
            <a:endParaRPr lang="en-US" sz="1500" dirty="0"/>
          </a:p>
        </p:txBody>
      </p:sp>
      <p:sp>
        <p:nvSpPr>
          <p:cNvPr id="10" name="상담 박스"/>
          <p:cNvSpPr/>
          <p:nvPr/>
        </p:nvSpPr>
        <p:spPr>
          <a:xfrm>
            <a:off x="6675120" y="1783080"/>
            <a:ext cx="4919472" cy="3429000"/>
          </a:xfrm>
          <a:prstGeom prst="roundRect">
            <a:avLst>
              <a:gd name="adj" fmla="val 2667"/>
            </a:avLst>
          </a:prstGeom>
          <a:solidFill>
            <a:srgbClr val="E0E8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9516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1478"/>
                </a:solidFill>
              </a:rPr>
              <a:t>B2B · OEM/ODM · 납품 상담</a:t>
            </a:r>
            <a:endParaRPr lang="en-US" sz="1800" dirty="0"/>
          </a:p>
          <a:p>
            <a:pPr indent="0" marL="0">
              <a:buNone/>
            </a:pPr>
            <a:r>
              <a:rPr lang="en-US" sz="1150" dirty="0">
                <a:solidFill>
                  <a:srgbClr val="181478"/>
                </a:solidFill>
              </a:rPr>
              <a:t>단체 공급 · 자체 브랜드 OEM · 소재 ODM</a:t>
            </a:r>
            <a:endParaRPr lang="en-US" sz="1800" dirty="0"/>
          </a:p>
        </p:txBody>
      </p:sp>
      <p:sp>
        <p:nvSpPr>
          <p:cNvPr id="12" name="연락처"/>
          <p:cNvSpPr txBox="1"/>
          <p:nvPr/>
        </p:nvSpPr>
        <p:spPr>
          <a:xfrm>
            <a:off x="6995160" y="30632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81478"/>
                </a:solidFill>
              </a:rPr>
              <a:t>㈜알앤디메이커스  신동규 대표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대전시 유성구 국제과학7로 8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T  010-6880-2516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E  rndceo@rndmakers.kr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81478"/>
                </a:solidFill>
              </a:rPr>
              <a:t>www.rndmakers.kr</a:t>
            </a:r>
            <a:endParaRPr lang="en-US" sz="1200" dirty="0"/>
          </a:p>
        </p:txBody>
      </p:sp>
      <p:pic>
        <p:nvPicPr>
          <p:cNvPr id="13" name="QR" descr="img/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3108960"/>
            <a:ext cx="1371600" cy="1371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9692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478"/>
                </a:solidFill>
              </a:rPr>
              <a:t>라라슈 오픈 알림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695" y="64008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&amp;amp;D MAKERS x RhaRa Shoe">
  <a:themeElements>
    <a:clrScheme name="R&amp;amp;D MAKERS x RhaRa Shoe">
      <a:dk1>
        <a:srgbClr val="181478"/>
      </a:dk1>
      <a:lt1>
        <a:srgbClr val="FFFFFF"/>
      </a:lt1>
      <a:dk2>
        <a:srgbClr val="4A4868"/>
      </a:dk2>
      <a:lt2>
        <a:srgbClr val="EEECE2"/>
      </a:lt2>
      <a:accent1>
        <a:srgbClr val="E0E828"/>
      </a:accent1>
      <a:accent2>
        <a:srgbClr val="FF6A48"/>
      </a:accent2>
      <a:accent3>
        <a:srgbClr val="5650C4"/>
      </a:accent3>
      <a:accent4>
        <a:srgbClr val="F1F0FA"/>
      </a:accent4>
      <a:accent5>
        <a:srgbClr val="2A2591"/>
      </a:accent5>
      <a:accent6>
        <a:srgbClr val="C6F432"/>
      </a:accent6>
      <a:hlink>
        <a:srgbClr val="5650C4"/>
      </a:hlink>
      <a:folHlink>
        <a:srgbClr val="5650C4"/>
      </a:folHlink>
    </a:clrScheme>
    <a:fontScheme name="R&amp;amp;D MAKERS x 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알앤디메이커스 × 라라슈 소개서 (요약)</dc:title>
  <dc:subject>PptxGenJS Presentation</dc:subject>
  <dc:creator>㈜알앤디메이커스</dc:creator>
  <cp:lastModifiedBy>㈜알앤디메이커스</cp:lastModifiedBy>
  <cp:revision>1</cp:revision>
  <dcterms:created xsi:type="dcterms:W3CDTF">2026-10-07T01:28:06Z</dcterms:created>
  <dcterms:modified xsi:type="dcterms:W3CDTF">2026-10-07T01:28:06Z</dcterms:modified>
</cp:coreProperties>
</file>