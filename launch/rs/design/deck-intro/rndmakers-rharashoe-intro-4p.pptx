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b913afa1-85f5-1ad7-3127-25be3f8bad1e}">
          <p14:sldIdLst>
            <p14:sldId id="256"/>
          </p14:sldIdLst>
        </p14:section>
        <p14:section name="re.feeel" id="{f9e450ad-b5df-be60-71a9-0ae686015c4c}">
          <p14:sldIdLst>
            <p14:sldId id="257"/>
          </p14:sldIdLst>
        </p14:section>
        <p14:section name="라라슈" id="{016cda73-65bc-f588-2710-493c49f8a222}">
          <p14:sldIdLst>
            <p14:sldId id="258"/>
          </p14:sldIdLst>
        </p14:section>
        <p14:section name="알앤디메이커스" id="{fa117a2b-71b9-dd8a-78a1-48cd04420975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Drive refeeel_brand_concept.docx §6 라인업, SALKO 린스컵 소개서(110g·40°·국내 제조). 효능 표현(충치·잇몸·물때 방지) 배제 — 의약외품 아님. CXP의 PEFC/KFCC-CoC는 소재 제조사 인증이라 미표기. 치실 세트가는 회사 소개서(2601ver) 권장가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밑창 라임 패드는 양산 컬러 확정(10/6 대표 승인). 워킹화 사진: 대표 제공 리터칭, 인솔: 9/30 실물 리터칭.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">
    <p:bg>
      <p:bgPr>
        <a:solidFill>
          <a:srgbClr val="181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bg2"/>
                </a:solidFill>
              </a:rPr>
              <a:t>R&amp;D MAKERS  ×  RhaRa Shoe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tx2"/>
                </a:solidFill>
              </a:rPr>
              <a:t>R&amp;D MAKERS  ×  RhaRa Shoe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K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A85"/>
                </a:solidFill>
              </a:rPr>
              <a:t>R&amp;D MAKERS  ×  RhaRa Shoe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VORY">
    <p:bg>
      <p:bgPr>
        <a:solidFill>
          <a:srgbClr val="F2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472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9436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5E"/>
                </a:solidFill>
              </a:rPr>
              <a:t>R&amp;D MAKERS  ×  RhaRa Shoe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NAVY">
    <p:bg>
      <p:bgPr>
        <a:solidFill>
          <a:srgbClr val="181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bg1"/>
                </a:solidFill>
              </a:rPr>
              <a:t>R&amp;D MAKERS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939735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chemeClr val="bg2"/>
                </a:solidFill>
              </a:rPr>
              <a:t>COMPANY &amp; BRAND 2026</a:t>
            </a:r>
            <a:endParaRPr lang="en-US" sz="1000" dirty="0"/>
          </a:p>
        </p:txBody>
      </p:sp>
      <p:sp>
        <p:nvSpPr>
          <p:cNvPr id="4" name="보라 원"/>
          <p:cNvSpPr/>
          <p:nvPr/>
        </p:nvSpPr>
        <p:spPr>
          <a:xfrm>
            <a:off x="749808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코랄 도넛"/>
          <p:cNvSpPr/>
          <p:nvPr/>
        </p:nvSpPr>
        <p:spPr>
          <a:xfrm>
            <a:off x="8503920" y="38404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도넛 속"/>
          <p:cNvSpPr/>
          <p:nvPr/>
        </p:nvSpPr>
        <p:spPr>
          <a:xfrm>
            <a:off x="8796528" y="4133088"/>
            <a:ext cx="329184" cy="329184"/>
          </a:xfrm>
          <a:prstGeom prst="ellipse">
            <a:avLst/>
          </a:prstGeom>
          <a:solidFill>
            <a:srgbClr val="181478"/>
          </a:solidFill>
          <a:ln/>
        </p:spPr>
      </p:sp>
      <p:sp>
        <p:nvSpPr>
          <p:cNvPr id="7" name="라임 타깃"/>
          <p:cNvSpPr/>
          <p:nvPr/>
        </p:nvSpPr>
        <p:spPr>
          <a:xfrm>
            <a:off x="9144000" y="1188720"/>
            <a:ext cx="2194560" cy="2194560"/>
          </a:xfrm>
          <a:prstGeom prst="ellipse">
            <a:avLst/>
          </a:prstGeom>
          <a:solidFill>
            <a:srgbClr val="E0E828"/>
          </a:solidFill>
          <a:ln/>
        </p:spPr>
      </p:sp>
      <p:sp>
        <p:nvSpPr>
          <p:cNvPr id="8" name="타깃 속"/>
          <p:cNvSpPr/>
          <p:nvPr/>
        </p:nvSpPr>
        <p:spPr>
          <a:xfrm>
            <a:off x="9692640" y="1737360"/>
            <a:ext cx="1097280" cy="1097280"/>
          </a:xfrm>
          <a:prstGeom prst="ellipse">
            <a:avLst/>
          </a:prstGeom>
          <a:solidFill>
            <a:srgbClr val="181478"/>
          </a:solidFill>
          <a:ln/>
        </p:spPr>
      </p:sp>
      <p:sp>
        <p:nvSpPr>
          <p:cNvPr id="9" name="타깃 중심"/>
          <p:cNvSpPr/>
          <p:nvPr/>
        </p:nvSpPr>
        <p:spPr>
          <a:xfrm>
            <a:off x="9994392" y="2039112"/>
            <a:ext cx="493776" cy="493776"/>
          </a:xfrm>
          <a:prstGeom prst="ellipse">
            <a:avLst/>
          </a:prstGeom>
          <a:solidFill>
            <a:srgbClr val="E0E828"/>
          </a:solidFill>
          <a:ln/>
        </p:spPr>
      </p:sp>
      <p:sp>
        <p:nvSpPr>
          <p:cNvPr id="10" name="헤드라인"/>
          <p:cNvSpPr txBox="1"/>
          <p:nvPr/>
        </p:nvSpPr>
        <p:spPr>
          <a:xfrm>
            <a:off x="594360" y="182880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bg2"/>
                </a:solidFill>
              </a:rPr>
              <a:t>남은 것의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bg2"/>
                </a:solidFill>
              </a:rPr>
              <a:t>다음 모양.</a:t>
            </a:r>
            <a:endParaRPr lang="en-US" sz="6000" dirty="0"/>
          </a:p>
        </p:txBody>
      </p:sp>
      <p:sp>
        <p:nvSpPr>
          <p:cNvPr id="11" name="부제"/>
          <p:cNvSpPr txBox="1"/>
          <p:nvPr/>
        </p:nvSpPr>
        <p:spPr>
          <a:xfrm>
            <a:off x="594360" y="4434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버려지는 소재로 제품을 만드는 제조사, 알앤디메이커스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그리고 그 소재로 만든 두 브랜드, re.feeel과 라라슈</a:t>
            </a:r>
            <a:endParaRPr lang="en-US" sz="1500" dirty="0"/>
          </a:p>
        </p:txBody>
      </p:sp>
      <p:sp>
        <p:nvSpPr>
          <p:cNvPr id="12" name="하단"/>
          <p:cNvSpPr txBox="1"/>
          <p:nvPr/>
        </p:nvSpPr>
        <p:spPr>
          <a:xfrm>
            <a:off x="594360" y="6080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E828"/>
                </a:solidFill>
              </a:rPr>
              <a:t>㈜알앤디메이커스  ·  re.feeel  ·  RhaRa Shoe 라라슈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F7A52"/>
                </a:solidFill>
              </a:rPr>
              <a:t>RE.FEEEL  ·  ORAL CARE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72C"/>
                </a:solidFill>
              </a:rPr>
              <a:t>생활을 다시 채우다.</a:t>
            </a:r>
            <a:endParaRPr lang="en-US" sz="3000" dirty="0"/>
          </a:p>
        </p:txBody>
      </p:sp>
      <p:sp>
        <p:nvSpPr>
          <p:cNvPr id="4" name="브랜드 설명"/>
          <p:cNvSpPr txBox="1"/>
          <p:nvPr/>
        </p:nvSpPr>
        <p:spPr>
          <a:xfrm>
            <a:off x="594360" y="14630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0"/>
                </a:solidFill>
              </a:rPr>
              <a:t>숲을 가꾸며 솎아낸 간벌재(임업부산물)를 CXP 소재로 바꿔, 매일 쓰는 구강용품으로 만듭니다.</a:t>
            </a:r>
            <a:endParaRPr lang="en-US" sz="1300" dirty="0"/>
          </a:p>
        </p:txBody>
      </p:sp>
      <p:pic>
        <p:nvPicPr>
          <p:cNvPr id="5" name="re.feeel 로고" descr="img/refeeel-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234440" cy="1259633"/>
          </a:xfrm>
          <a:prstGeom prst="rect">
            <a:avLst/>
          </a:prstGeom>
        </p:spPr>
      </p:pic>
      <p:sp>
        <p:nvSpPr>
          <p:cNvPr id="6" name="제품 카드"/>
          <p:cNvSpPr/>
          <p:nvPr/>
        </p:nvSpPr>
        <p:spPr>
          <a:xfrm>
            <a:off x="594360" y="1965960"/>
            <a:ext cx="3515258" cy="365760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/>
        </p:spPr>
      </p:sp>
      <p:pic>
        <p:nvPicPr>
          <p:cNvPr id="7" name="나이스샷 '왕모' 칫솔" descr="img/toothbrus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2103120"/>
            <a:ext cx="3240938" cy="2148840"/>
          </a:xfrm>
          <a:prstGeom prst="rect">
            <a:avLst/>
          </a:prstGeom>
        </p:spPr>
      </p:pic>
      <p:sp>
        <p:nvSpPr>
          <p:cNvPr id="8" name="제품명"/>
          <p:cNvSpPr txBox="1"/>
          <p:nvPr/>
        </p:nvSpPr>
        <p:spPr>
          <a:xfrm>
            <a:off x="868680" y="44348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472C"/>
                </a:solidFill>
              </a:rPr>
              <a:t>나이스샷 '왕모' 칫솔</a:t>
            </a:r>
            <a:endParaRPr lang="en-US" sz="1600" dirty="0"/>
          </a:p>
        </p:txBody>
      </p:sp>
      <p:sp>
        <p:nvSpPr>
          <p:cNvPr id="9" name="제품 설명"/>
          <p:cNvSpPr txBox="1"/>
          <p:nvPr/>
        </p:nvSpPr>
        <p:spPr>
          <a:xfrm>
            <a:off x="868680" y="48463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0"/>
                </a:solidFill>
              </a:rPr>
              <a:t>CXP 소재 핸들 · 6개입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0"/>
                </a:solidFill>
              </a:rPr>
              <a:t>넓은 헤드 · 이중미세모 / 스파이럴모</a:t>
            </a:r>
            <a:endParaRPr lang="en-US" sz="1100" dirty="0"/>
          </a:p>
        </p:txBody>
      </p:sp>
      <p:sp>
        <p:nvSpPr>
          <p:cNvPr id="10" name="제품 카드"/>
          <p:cNvSpPr/>
          <p:nvPr/>
        </p:nvSpPr>
        <p:spPr>
          <a:xfrm>
            <a:off x="4338218" y="1965960"/>
            <a:ext cx="3515258" cy="365760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/>
        </p:spPr>
      </p:sp>
      <p:pic>
        <p:nvPicPr>
          <p:cNvPr id="11" name="칫솔형 치실" descr="img/flos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75378" y="2103120"/>
            <a:ext cx="3240938" cy="2148840"/>
          </a:xfrm>
          <a:prstGeom prst="rect">
            <a:avLst/>
          </a:prstGeom>
        </p:spPr>
      </p:pic>
      <p:sp>
        <p:nvSpPr>
          <p:cNvPr id="12" name="제품명"/>
          <p:cNvSpPr txBox="1"/>
          <p:nvPr/>
        </p:nvSpPr>
        <p:spPr>
          <a:xfrm>
            <a:off x="4612538" y="44348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472C"/>
                </a:solidFill>
              </a:rPr>
              <a:t>칫솔형 치실</a:t>
            </a:r>
            <a:endParaRPr lang="en-US" sz="1600" dirty="0"/>
          </a:p>
        </p:txBody>
      </p:sp>
      <p:sp>
        <p:nvSpPr>
          <p:cNvPr id="13" name="제품 설명"/>
          <p:cNvSpPr txBox="1"/>
          <p:nvPr/>
        </p:nvSpPr>
        <p:spPr>
          <a:xfrm>
            <a:off x="4612538" y="48463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0"/>
                </a:solidFill>
              </a:rPr>
              <a:t>ㄱ자 헤드 · 칫솔처럼 쥐는 손잡이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0"/>
                </a:solidFill>
              </a:rPr>
              <a:t>리필 20개입 교체형 · 세트 4,900원</a:t>
            </a:r>
            <a:endParaRPr lang="en-US" sz="1100" dirty="0"/>
          </a:p>
        </p:txBody>
      </p:sp>
      <p:sp>
        <p:nvSpPr>
          <p:cNvPr id="14" name="제품 카드"/>
          <p:cNvSpPr/>
          <p:nvPr/>
        </p:nvSpPr>
        <p:spPr>
          <a:xfrm>
            <a:off x="8082077" y="1965960"/>
            <a:ext cx="3515258" cy="365760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/>
        </p:spPr>
      </p:sp>
      <p:pic>
        <p:nvPicPr>
          <p:cNvPr id="15" name="물때 제로 양치컵" descr="img/cup-tilt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19237" y="2103120"/>
            <a:ext cx="3240938" cy="2148840"/>
          </a:xfrm>
          <a:prstGeom prst="rect">
            <a:avLst/>
          </a:prstGeom>
        </p:spPr>
      </p:pic>
      <p:sp>
        <p:nvSpPr>
          <p:cNvPr id="16" name="제품명"/>
          <p:cNvSpPr txBox="1"/>
          <p:nvPr/>
        </p:nvSpPr>
        <p:spPr>
          <a:xfrm>
            <a:off x="8356397" y="44348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472C"/>
                </a:solidFill>
              </a:rPr>
              <a:t>물때 제로 양치컵</a:t>
            </a:r>
            <a:endParaRPr lang="en-US" sz="1600" dirty="0"/>
          </a:p>
        </p:txBody>
      </p:sp>
      <p:sp>
        <p:nvSpPr>
          <p:cNvPr id="17" name="제품 설명"/>
          <p:cNvSpPr txBox="1"/>
          <p:nvPr/>
        </p:nvSpPr>
        <p:spPr>
          <a:xfrm>
            <a:off x="8356397" y="48463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0"/>
                </a:solidFill>
              </a:rPr>
              <a:t>40° 셀프 드레인 설계 — 기울여 세워 말림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40"/>
                </a:solidFill>
              </a:rPr>
              <a:t>CXP 소재 · 110g · 국내 제조</a:t>
            </a:r>
            <a:endParaRPr lang="en-US" sz="1100" dirty="0"/>
          </a:p>
        </p:txBody>
      </p:sp>
      <p:sp>
        <p:nvSpPr>
          <p:cNvPr id="18" name="CXP 띠"/>
          <p:cNvSpPr/>
          <p:nvPr/>
        </p:nvSpPr>
        <p:spPr>
          <a:xfrm>
            <a:off x="594360" y="5806440"/>
            <a:ext cx="11002975" cy="411480"/>
          </a:xfrm>
          <a:prstGeom prst="roundRect">
            <a:avLst>
              <a:gd name="adj" fmla="val 13333"/>
            </a:avLst>
          </a:prstGeom>
          <a:solidFill>
            <a:srgbClr val="1F472C"/>
          </a:solidFill>
          <a:ln/>
        </p:spPr>
      </p:sp>
      <p:sp>
        <p:nvSpPr>
          <p:cNvPr id="19" name="CXP 설명"/>
          <p:cNvSpPr txBox="1"/>
          <p:nvPr/>
        </p:nvSpPr>
        <p:spPr>
          <a:xfrm>
            <a:off x="868680" y="5806440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D827"/>
                </a:solidFill>
              </a:rPr>
              <a:t>CXP   </a:t>
            </a:r>
            <a:pPr indent="0" marL="0">
              <a:buNone/>
            </a:pPr>
            <a:r>
              <a:rPr lang="en-US" sz="1100" dirty="0">
                <a:solidFill>
                  <a:srgbClr val="F2EDE1"/>
                </a:solidFill>
              </a:rPr>
              <a:t>간벌재 등 임업부산물을 활용한 셀룰로스 기반 복합소재  ·  칫솔·치실·양치컵 공통 소재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F432"/>
                </a:solidFill>
              </a:rPr>
              <a:t>RHARA SHOE  ·  라라슈  ·  2026.11.11 OPEN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Made for Standing.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C4"/>
                </a:solidFill>
              </a:rPr>
              <a:t>퇴근하면 신발부터 벗게 되는 발을 위해 — 정형외과 전문의 설계 자문, 출퇴근·근무 겸용 디자인, 재생 원료 그립 패드.</a:t>
            </a:r>
            <a:endParaRPr lang="en-US" sz="1300" dirty="0"/>
          </a:p>
        </p:txBody>
      </p:sp>
      <p:sp>
        <p:nvSpPr>
          <p:cNvPr id="5" name="제품 카드"/>
          <p:cNvSpPr/>
          <p:nvPr/>
        </p:nvSpPr>
        <p:spPr>
          <a:xfrm>
            <a:off x="594360" y="1965960"/>
            <a:ext cx="5364328" cy="3429000"/>
          </a:xfrm>
          <a:prstGeom prst="roundRect">
            <a:avLst>
              <a:gd name="adj" fmla="val 2133"/>
            </a:avLst>
          </a:prstGeom>
          <a:solidFill>
            <a:srgbClr val="161616"/>
          </a:solidFill>
          <a:ln/>
        </p:spPr>
      </p:sp>
      <p:pic>
        <p:nvPicPr>
          <p:cNvPr id="6" name="쿼드그립 종일편한 워킹화" descr="img/tile-sh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2084" y="2057400"/>
            <a:ext cx="2468880" cy="2057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4251960"/>
            <a:ext cx="335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E8"/>
                </a:solidFill>
              </a:rPr>
              <a:t>쿼드그립 종일편한 워킹화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267048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6F432"/>
                </a:solidFill>
              </a:rPr>
              <a:t>42,500원</a:t>
            </a:r>
            <a:endParaRPr lang="en-US" sz="1700" dirty="0"/>
          </a:p>
        </p:txBody>
      </p:sp>
      <p:sp>
        <p:nvSpPr>
          <p:cNvPr id="9" name="핵심 구조"/>
          <p:cNvSpPr txBox="1"/>
          <p:nvPr/>
        </p:nvSpPr>
        <p:spPr>
          <a:xfrm>
            <a:off x="914400" y="47091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A8A3"/>
                </a:solidFill>
              </a:rPr>
              <a:t>쿼드그립 4점 패드 · 깔창 없는 일체형 안창 · 도톰한 발목 테두리</a:t>
            </a:r>
            <a:endParaRPr lang="en-US" sz="1150" dirty="0"/>
          </a:p>
        </p:txBody>
      </p:sp>
      <p:sp>
        <p:nvSpPr>
          <p:cNvPr id="10" name="제품 카드"/>
          <p:cNvSpPr/>
          <p:nvPr/>
        </p:nvSpPr>
        <p:spPr>
          <a:xfrm>
            <a:off x="6233008" y="1965960"/>
            <a:ext cx="5364328" cy="3429000"/>
          </a:xfrm>
          <a:prstGeom prst="roundRect">
            <a:avLst>
              <a:gd name="adj" fmla="val 2133"/>
            </a:avLst>
          </a:prstGeom>
          <a:solidFill>
            <a:srgbClr val="161616"/>
          </a:solidFill>
          <a:ln/>
        </p:spPr>
      </p:sp>
      <p:pic>
        <p:nvPicPr>
          <p:cNvPr id="11" name="쿼드그립 아치가득 인솔" descr="img/tile-ins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251" y="2057400"/>
            <a:ext cx="3291840" cy="2057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53048" y="4251960"/>
            <a:ext cx="335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E8"/>
                </a:solidFill>
              </a:rPr>
              <a:t>쿼드그립 아치가득 인솔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905695" y="4251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6F432"/>
                </a:solidFill>
              </a:rPr>
              <a:t>21,500원</a:t>
            </a:r>
            <a:endParaRPr lang="en-US" sz="1700" dirty="0"/>
          </a:p>
        </p:txBody>
      </p:sp>
      <p:sp>
        <p:nvSpPr>
          <p:cNvPr id="14" name="핵심 구조"/>
          <p:cNvSpPr txBox="1"/>
          <p:nvPr/>
        </p:nvSpPr>
        <p:spPr>
          <a:xfrm>
            <a:off x="6553048" y="47091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A8A3"/>
                </a:solidFill>
              </a:rPr>
              <a:t>아치가득 구조 · 뒤꿈치 컵 · 우드칩 배합 소재</a:t>
            </a:r>
            <a:endParaRPr lang="en-US" sz="1150" dirty="0"/>
          </a:p>
        </p:txBody>
      </p:sp>
      <p:sp>
        <p:nvSpPr>
          <p:cNvPr id="15" name="소재 띠"/>
          <p:cNvSpPr/>
          <p:nvPr/>
        </p:nvSpPr>
        <p:spPr>
          <a:xfrm>
            <a:off x="594360" y="5577840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/>
        </p:spPr>
      </p:sp>
      <p:sp>
        <p:nvSpPr>
          <p:cNvPr id="16" name="소재"/>
          <p:cNvSpPr txBox="1"/>
          <p:nvPr/>
        </p:nvSpPr>
        <p:spPr>
          <a:xfrm>
            <a:off x="868680" y="557784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F432"/>
                </a:solidFill>
              </a:rPr>
              <a:t>새활용 소재   </a:t>
            </a:r>
            <a:pPr indent="0" marL="0">
              <a:buNone/>
            </a:pPr>
            <a:r>
              <a:rPr lang="en-US" sz="1150" dirty="0">
                <a:solidFill>
                  <a:srgbClr val="C9C9C4"/>
                </a:solidFill>
              </a:rPr>
              <a:t>그립 패드: 폐타이어 고무 + 실크벽지 폐PVC  ·  본체: E-실리폴리렌(EVA·실리콘 배합)  ·  인솔: 목공소 우드칩 배합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아이브로"/>
          <p:cNvSpPr txBox="1"/>
          <p:nvPr/>
        </p:nvSpPr>
        <p:spPr>
          <a:xfrm>
            <a:off x="594360" y="45720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E828"/>
                </a:solidFill>
              </a:rPr>
              <a:t>COMPANY  ·  OEM / ODM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49808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소재부터 납품까지, 한 회사에서</a:t>
            </a:r>
            <a:endParaRPr lang="en-US" sz="3000" dirty="0"/>
          </a:p>
        </p:txBody>
      </p:sp>
      <p:sp>
        <p:nvSpPr>
          <p:cNvPr id="4" name="역량 카드"/>
          <p:cNvSpPr/>
          <p:nvPr/>
        </p:nvSpPr>
        <p:spPr>
          <a:xfrm>
            <a:off x="594360" y="1645920"/>
            <a:ext cx="3545738" cy="109728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</p:sp>
      <p:sp>
        <p:nvSpPr>
          <p:cNvPr id="5" name="역량"/>
          <p:cNvSpPr txBox="1"/>
          <p:nvPr/>
        </p:nvSpPr>
        <p:spPr>
          <a:xfrm>
            <a:off x="868680" y="1810512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0E828"/>
                </a:solidFill>
              </a:rPr>
              <a:t>01  소재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실크벽지 PVC · 폐타이어 고무 · CXP 목재 복합소재</a:t>
            </a:r>
            <a:endParaRPr lang="en-US" sz="1500" dirty="0"/>
          </a:p>
        </p:txBody>
      </p:sp>
      <p:sp>
        <p:nvSpPr>
          <p:cNvPr id="6" name="역량 카드"/>
          <p:cNvSpPr/>
          <p:nvPr/>
        </p:nvSpPr>
        <p:spPr>
          <a:xfrm>
            <a:off x="4322978" y="1645920"/>
            <a:ext cx="3545738" cy="109728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</p:sp>
      <p:sp>
        <p:nvSpPr>
          <p:cNvPr id="7" name="역량"/>
          <p:cNvSpPr txBox="1"/>
          <p:nvPr/>
        </p:nvSpPr>
        <p:spPr>
          <a:xfrm>
            <a:off x="4597298" y="1810512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0E828"/>
                </a:solidFill>
              </a:rPr>
              <a:t>02  기획 · 설계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제품 디자인 · 금형 · 상표/특허 출원 · 라이선싱</a:t>
            </a:r>
            <a:endParaRPr lang="en-US" sz="1500" dirty="0"/>
          </a:p>
        </p:txBody>
      </p:sp>
      <p:sp>
        <p:nvSpPr>
          <p:cNvPr id="8" name="역량 카드"/>
          <p:cNvSpPr/>
          <p:nvPr/>
        </p:nvSpPr>
        <p:spPr>
          <a:xfrm>
            <a:off x="8051597" y="1645920"/>
            <a:ext cx="3545738" cy="109728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</p:sp>
      <p:sp>
        <p:nvSpPr>
          <p:cNvPr id="9" name="역량"/>
          <p:cNvSpPr txBox="1"/>
          <p:nvPr/>
        </p:nvSpPr>
        <p:spPr>
          <a:xfrm>
            <a:off x="8325917" y="1810512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0E828"/>
                </a:solidFill>
              </a:rPr>
              <a:t>03  생산 · 납품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국내 제조 · 대형 매장 전국 납품 · B2B/OEM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E828"/>
                </a:solidFill>
              </a:rPr>
              <a:t>HISTORY</a:t>
            </a:r>
            <a:endParaRPr lang="en-US" sz="1000" dirty="0"/>
          </a:p>
        </p:txBody>
      </p:sp>
      <p:sp>
        <p:nvSpPr>
          <p:cNvPr id="11" name="타임라인"/>
          <p:cNvSpPr/>
          <p:nvPr/>
        </p:nvSpPr>
        <p:spPr>
          <a:xfrm>
            <a:off x="594360" y="3566160"/>
            <a:ext cx="6903720" cy="0"/>
          </a:xfrm>
          <a:prstGeom prst="line">
            <a:avLst/>
          </a:prstGeom>
          <a:noFill/>
          <a:ln w="25400">
            <a:solidFill>
              <a:srgbClr val="4B46B0"/>
            </a:solidFill>
            <a:prstDash val="solid"/>
          </a:ln>
        </p:spPr>
      </p:sp>
      <p:sp>
        <p:nvSpPr>
          <p:cNvPr id="12" name="연혁 점"/>
          <p:cNvSpPr/>
          <p:nvPr/>
        </p:nvSpPr>
        <p:spPr>
          <a:xfrm>
            <a:off x="594360" y="343814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840480"/>
            <a:ext cx="1623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2023</a:t>
            </a:r>
            <a:endParaRPr lang="en-US" sz="2000" dirty="0"/>
          </a:p>
        </p:txBody>
      </p:sp>
      <p:sp>
        <p:nvSpPr>
          <p:cNvPr id="14" name="연혁 2023"/>
          <p:cNvSpPr txBox="1"/>
          <p:nvPr/>
        </p:nvSpPr>
        <p:spPr>
          <a:xfrm>
            <a:off x="594360" y="4343400"/>
            <a:ext cx="16230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창업진흥원 국가과제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㈜알앤디메이커스 창립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다이소 전국 매장 입점</a:t>
            </a:r>
            <a:endParaRPr lang="en-US" sz="1000" dirty="0"/>
          </a:p>
        </p:txBody>
      </p:sp>
      <p:sp>
        <p:nvSpPr>
          <p:cNvPr id="15" name="연혁 점"/>
          <p:cNvSpPr/>
          <p:nvPr/>
        </p:nvSpPr>
        <p:spPr>
          <a:xfrm>
            <a:off x="2354580" y="343814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354580" y="3840480"/>
            <a:ext cx="1623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2024</a:t>
            </a:r>
            <a:endParaRPr lang="en-US" sz="2000" dirty="0"/>
          </a:p>
        </p:txBody>
      </p:sp>
      <p:sp>
        <p:nvSpPr>
          <p:cNvPr id="17" name="연혁 2024"/>
          <p:cNvSpPr txBox="1"/>
          <p:nvPr/>
        </p:nvSpPr>
        <p:spPr>
          <a:xfrm>
            <a:off x="2354580" y="4343400"/>
            <a:ext cx="16230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환경부 새활용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지원사업 수행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오피스디포·오피스웨이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중국 첫 수출</a:t>
            </a:r>
            <a:endParaRPr lang="en-US" sz="1000" dirty="0"/>
          </a:p>
        </p:txBody>
      </p:sp>
      <p:sp>
        <p:nvSpPr>
          <p:cNvPr id="18" name="연혁 점"/>
          <p:cNvSpPr/>
          <p:nvPr/>
        </p:nvSpPr>
        <p:spPr>
          <a:xfrm>
            <a:off x="4114800" y="3438144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14800" y="3840480"/>
            <a:ext cx="1623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2025</a:t>
            </a:r>
            <a:endParaRPr lang="en-US" sz="2000" dirty="0"/>
          </a:p>
        </p:txBody>
      </p:sp>
      <p:sp>
        <p:nvSpPr>
          <p:cNvPr id="20" name="연혁 2025"/>
          <p:cNvSpPr txBox="1"/>
          <p:nvPr/>
        </p:nvSpPr>
        <p:spPr>
          <a:xfrm>
            <a:off x="4114800" y="4343400"/>
            <a:ext cx="16230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상표권·BM 특허 출원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꿈돌이 라이선싱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롯데패키징앤솔루션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chemeClr val="bg2"/>
                </a:solidFill>
              </a:rPr>
              <a:t>· 서브원 납품</a:t>
            </a:r>
            <a:endParaRPr lang="en-US" sz="1000" dirty="0"/>
          </a:p>
        </p:txBody>
      </p:sp>
      <p:sp>
        <p:nvSpPr>
          <p:cNvPr id="21" name="연혁 점"/>
          <p:cNvSpPr/>
          <p:nvPr/>
        </p:nvSpPr>
        <p:spPr>
          <a:xfrm>
            <a:off x="5875020" y="3438144"/>
            <a:ext cx="256032" cy="256032"/>
          </a:xfrm>
          <a:prstGeom prst="ellipse">
            <a:avLst/>
          </a:prstGeom>
          <a:solidFill>
            <a:srgbClr val="C6F4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75020" y="3840480"/>
            <a:ext cx="1623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E828"/>
                </a:solidFill>
              </a:rPr>
              <a:t>2026</a:t>
            </a:r>
            <a:endParaRPr lang="en-US" sz="2000" dirty="0"/>
          </a:p>
        </p:txBody>
      </p:sp>
      <p:sp>
        <p:nvSpPr>
          <p:cNvPr id="23" name="연혁 2026"/>
          <p:cNvSpPr txBox="1"/>
          <p:nvPr/>
        </p:nvSpPr>
        <p:spPr>
          <a:xfrm>
            <a:off x="5875020" y="4343400"/>
            <a:ext cx="16230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E0E828"/>
                </a:solidFill>
              </a:rPr>
              <a:t>환경부 새활용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E0E828"/>
                </a:solidFill>
              </a:rPr>
              <a:t>지원사업 2차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E0E828"/>
                </a:solidFill>
              </a:rPr>
              <a:t>라라슈 브랜드 런칭</a:t>
            </a:r>
            <a:endParaRPr lang="en-US" sz="1000" dirty="0"/>
          </a:p>
        </p:txBody>
      </p:sp>
      <p:sp>
        <p:nvSpPr>
          <p:cNvPr id="24" name="상담 박스"/>
          <p:cNvSpPr/>
          <p:nvPr/>
        </p:nvSpPr>
        <p:spPr>
          <a:xfrm>
            <a:off x="7863840" y="3063240"/>
            <a:ext cx="3733495" cy="2423160"/>
          </a:xfrm>
          <a:prstGeom prst="roundRect">
            <a:avLst>
              <a:gd name="adj" fmla="val 3774"/>
            </a:avLst>
          </a:prstGeom>
          <a:solidFill>
            <a:srgbClr val="E0E82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478"/>
                </a:solidFill>
              </a:rPr>
              <a:t>B2B · OEM/ODM · 납품 상담</a:t>
            </a:r>
            <a:endParaRPr lang="en-US" sz="1500" dirty="0"/>
          </a:p>
        </p:txBody>
      </p:sp>
      <p:sp>
        <p:nvSpPr>
          <p:cNvPr id="26" name="연락처"/>
          <p:cNvSpPr txBox="1"/>
          <p:nvPr/>
        </p:nvSpPr>
        <p:spPr>
          <a:xfrm>
            <a:off x="813816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81478"/>
                </a:solidFill>
              </a:rPr>
              <a:t>㈜알앤디메이커스  신동규 대표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81478"/>
                </a:solidFill>
              </a:rPr>
              <a:t>대전시 유성구 국제과학7로 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81478"/>
                </a:solidFill>
              </a:rPr>
              <a:t>T  010-6880-2516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81478"/>
                </a:solidFill>
              </a:rPr>
              <a:t>E  rndceo@rndmakers.kr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81478"/>
                </a:solidFill>
              </a:rPr>
              <a:t>www.rndmakers.kr</a:t>
            </a:r>
            <a:endParaRPr lang="en-US" sz="1050" dirty="0"/>
          </a:p>
        </p:txBody>
      </p:sp>
      <p:pic>
        <p:nvPicPr>
          <p:cNvPr id="27" name="QR" descr="img/qr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2" y="3794760"/>
            <a:ext cx="1005840" cy="100584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0222992" y="4846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1478"/>
                </a:solidFill>
              </a:rPr>
              <a:t>라라슈 알림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&amp;amp;D MAKERS x RhaRa Shoe">
  <a:themeElements>
    <a:clrScheme name="R&amp;amp;D MAKERS x RhaRa Shoe">
      <a:dk1>
        <a:srgbClr val="181478"/>
      </a:dk1>
      <a:lt1>
        <a:srgbClr val="FFFFFF"/>
      </a:lt1>
      <a:dk2>
        <a:srgbClr val="4A4868"/>
      </a:dk2>
      <a:lt2>
        <a:srgbClr val="EEECE2"/>
      </a:lt2>
      <a:accent1>
        <a:srgbClr val="E0E828"/>
      </a:accent1>
      <a:accent2>
        <a:srgbClr val="FF6A48"/>
      </a:accent2>
      <a:accent3>
        <a:srgbClr val="5650C4"/>
      </a:accent3>
      <a:accent4>
        <a:srgbClr val="F1F0FA"/>
      </a:accent4>
      <a:accent5>
        <a:srgbClr val="2A2591"/>
      </a:accent5>
      <a:accent6>
        <a:srgbClr val="C6F432"/>
      </a:accent6>
      <a:hlink>
        <a:srgbClr val="5650C4"/>
      </a:hlink>
      <a:folHlink>
        <a:srgbClr val="5650C4"/>
      </a:folHlink>
    </a:clrScheme>
    <a:fontScheme name="R&amp;amp;D MAKERS x RhaRa Sho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알앤디메이커스 × 라라슈 소개서 (요약)</dc:title>
  <dc:subject>PptxGenJS Presentation</dc:subject>
  <dc:creator>㈜알앤디메이커스</dc:creator>
  <cp:lastModifiedBy>㈜알앤디메이커스</cp:lastModifiedBy>
  <cp:revision>1</cp:revision>
  <dcterms:created xsi:type="dcterms:W3CDTF">2026-10-24T14:24:12Z</dcterms:created>
  <dcterms:modified xsi:type="dcterms:W3CDTF">2026-10-24T14:24:12Z</dcterms:modified>
</cp:coreProperties>
</file>