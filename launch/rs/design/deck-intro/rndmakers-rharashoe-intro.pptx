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8698c79-0d1a-6ef1-3741-26ef36a186b8}">
          <p14:sldIdLst>
            <p14:sldId id="256"/>
          </p14:sldIdLst>
        </p14:section>
        <p14:section name="알앤디메이커스" id="{a0dfd3a1-8c99-ab1c-4fdb-6f865d68f4ec}">
          <p14:sldIdLst>
            <p14:sldId id="257"/>
            <p14:sldId id="258"/>
            <p14:sldId id="259"/>
            <p14:sldId id="260"/>
          </p14:sldIdLst>
        </p14:section>
        <p14:section name="라라슈" id="{8acf282f-714a-da65-0019-78d8f8880932}">
          <p14:sldIdLst>
            <p14:sldId id="261"/>
            <p14:sldId id="262"/>
            <p14:sldId id="263"/>
            <p14:sldId id="264"/>
          </p14:sldIdLst>
        </p14:section>
        <p14:section name="함께하기" id="{f3335e53-649c-a5f8-a8c2-d05b61b34b9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사실 기반(창립 연도·입점 시작·지원사업 횟수). 판매량 수치는 넣지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워킹화 사진: 대표 제공 리터칭(10/5). 인솔: 9/30 실물 리터칭. 밑창 라임은 양산 컬러 확정(P18)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= rharashoe.netlify.app/?src=deck (소개서 유입 집계).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2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tx2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5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NAVY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IN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bg1"/>
                </a:solidFill>
              </a:rPr>
              <a:t>R&amp;D MAKERS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939735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chemeClr val="bg2"/>
                </a:solidFill>
              </a:rPr>
              <a:t>COMPANY &amp; BRAND 2026</a:t>
            </a:r>
            <a:endParaRPr lang="en-US" sz="1000" dirty="0"/>
          </a:p>
        </p:txBody>
      </p:sp>
      <p:sp>
        <p:nvSpPr>
          <p:cNvPr id="4" name="보라 원"/>
          <p:cNvSpPr/>
          <p:nvPr/>
        </p:nvSpPr>
        <p:spPr>
          <a:xfrm>
            <a:off x="749808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코랄 도넛"/>
          <p:cNvSpPr/>
          <p:nvPr/>
        </p:nvSpPr>
        <p:spPr>
          <a:xfrm>
            <a:off x="8503920" y="38404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도넛 속"/>
          <p:cNvSpPr/>
          <p:nvPr/>
        </p:nvSpPr>
        <p:spPr>
          <a:xfrm>
            <a:off x="8796528" y="4133088"/>
            <a:ext cx="329184" cy="329184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7" name="라임 타깃"/>
          <p:cNvSpPr/>
          <p:nvPr/>
        </p:nvSpPr>
        <p:spPr>
          <a:xfrm>
            <a:off x="9144000" y="1188720"/>
            <a:ext cx="2194560" cy="2194560"/>
          </a:xfrm>
          <a:prstGeom prst="ellipse">
            <a:avLst/>
          </a:prstGeom>
          <a:solidFill>
            <a:srgbClr val="E0E828"/>
          </a:solidFill>
          <a:ln/>
        </p:spPr>
      </p:sp>
      <p:sp>
        <p:nvSpPr>
          <p:cNvPr id="8" name="타깃 속"/>
          <p:cNvSpPr/>
          <p:nvPr/>
        </p:nvSpPr>
        <p:spPr>
          <a:xfrm>
            <a:off x="9692640" y="1737360"/>
            <a:ext cx="1097280" cy="1097280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9" name="타깃 중심"/>
          <p:cNvSpPr/>
          <p:nvPr/>
        </p:nvSpPr>
        <p:spPr>
          <a:xfrm>
            <a:off x="9994392" y="2039112"/>
            <a:ext cx="493776" cy="493776"/>
          </a:xfrm>
          <a:prstGeom prst="ellipse">
            <a:avLst/>
          </a:prstGeom>
          <a:solidFill>
            <a:srgbClr val="E0E828"/>
          </a:solidFill>
          <a:ln/>
        </p:spPr>
      </p:sp>
      <p:sp>
        <p:nvSpPr>
          <p:cNvPr id="10" name="헤드라인"/>
          <p:cNvSpPr txBox="1"/>
          <p:nvPr/>
        </p:nvSpPr>
        <p:spPr>
          <a:xfrm>
            <a:off x="594360" y="18288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bg2"/>
                </a:solidFill>
              </a:rPr>
              <a:t>남은 것의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bg2"/>
                </a:solidFill>
              </a:rPr>
              <a:t>다음 모양.</a:t>
            </a:r>
            <a:endParaRPr lang="en-US" sz="6000" dirty="0"/>
          </a:p>
        </p:txBody>
      </p:sp>
      <p:sp>
        <p:nvSpPr>
          <p:cNvPr id="11" name="부제"/>
          <p:cNvSpPr txBox="1"/>
          <p:nvPr/>
        </p:nvSpPr>
        <p:spPr>
          <a:xfrm>
            <a:off x="594360" y="4434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버려지는 소재로 제품을 만드는 제조사, 알앤디메이커스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그리고 서서 일하는 사람들을 위한 새 브랜드, 라라슈</a:t>
            </a:r>
            <a:endParaRPr lang="en-US" sz="1500" dirty="0"/>
          </a:p>
        </p:txBody>
      </p:sp>
      <p:sp>
        <p:nvSpPr>
          <p:cNvPr id="12" name="하단"/>
          <p:cNvSpPr txBox="1"/>
          <p:nvPr/>
        </p:nvSpPr>
        <p:spPr>
          <a:xfrm>
            <a:off x="5943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E828"/>
                </a:solidFill>
              </a:rPr>
              <a:t>㈜알앤디메이커스  ·  RhaRa Shoe 라라슈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3"/>
                </a:solidFill>
              </a:rPr>
              <a:t>COMPANY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버려지는 소재를 원료로, 원료를 제품으로</a:t>
            </a:r>
            <a:endParaRPr lang="en-US" sz="3000" dirty="0"/>
          </a:p>
        </p:txBody>
      </p:sp>
      <p:sp>
        <p:nvSpPr>
          <p:cNvPr id="4" name="회사 소개"/>
          <p:cNvSpPr txBox="1"/>
          <p:nvPr/>
        </p:nvSpPr>
        <p:spPr>
          <a:xfrm>
            <a:off x="594360" y="16002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㈜알앤디메이커스는 실크벽지·폐타이어·임업부산물처럼 버려지는 자원을 새활용 원료로 바꾸고, 그 원료로 매일 쓰는 생활 제품을 만드는 대전의 제조 스타트업입니다.</a:t>
            </a:r>
            <a:endParaRPr lang="en-US" sz="1400" dirty="0"/>
          </a:p>
        </p:txBody>
      </p:sp>
      <p:sp>
        <p:nvSpPr>
          <p:cNvPr id="5" name="숫자 카드"/>
          <p:cNvSpPr/>
          <p:nvPr/>
        </p:nvSpPr>
        <p:spPr>
          <a:xfrm>
            <a:off x="594360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/>
        </p:spPr>
      </p:sp>
      <p:sp>
        <p:nvSpPr>
          <p:cNvPr id="6" name="큰 숫자"/>
          <p:cNvSpPr txBox="1"/>
          <p:nvPr/>
        </p:nvSpPr>
        <p:spPr>
          <a:xfrm>
            <a:off x="9144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2023</a:t>
            </a:r>
            <a:endParaRPr lang="en-US" sz="4800" dirty="0"/>
          </a:p>
        </p:txBody>
      </p:sp>
      <p:sp>
        <p:nvSpPr>
          <p:cNvPr id="7" name="라벨"/>
          <p:cNvSpPr txBox="1"/>
          <p:nvPr/>
        </p:nvSpPr>
        <p:spPr>
          <a:xfrm>
            <a:off x="9144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창립</a:t>
            </a:r>
            <a:endParaRPr lang="en-US" sz="1600" dirty="0"/>
          </a:p>
        </p:txBody>
      </p:sp>
      <p:sp>
        <p:nvSpPr>
          <p:cNvPr id="8" name="설명"/>
          <p:cNvSpPr txBox="1"/>
          <p:nvPr/>
        </p:nvSpPr>
        <p:spPr>
          <a:xfrm>
            <a:off x="914400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7월 법인 설립 · 같은 해 창업진흥원 국가과제 수행</a:t>
            </a:r>
            <a:endParaRPr lang="en-US" sz="1200" dirty="0"/>
          </a:p>
        </p:txBody>
      </p:sp>
      <p:sp>
        <p:nvSpPr>
          <p:cNvPr id="9" name="숫자 카드"/>
          <p:cNvSpPr/>
          <p:nvPr/>
        </p:nvSpPr>
        <p:spPr>
          <a:xfrm>
            <a:off x="4325112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/>
        </p:spPr>
      </p:sp>
      <p:sp>
        <p:nvSpPr>
          <p:cNvPr id="10" name="큰 숫자"/>
          <p:cNvSpPr txBox="1"/>
          <p:nvPr/>
        </p:nvSpPr>
        <p:spPr>
          <a:xfrm>
            <a:off x="4645152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전국</a:t>
            </a:r>
            <a:endParaRPr lang="en-US" sz="4800" dirty="0"/>
          </a:p>
        </p:txBody>
      </p:sp>
      <p:sp>
        <p:nvSpPr>
          <p:cNvPr id="11" name="라벨"/>
          <p:cNvSpPr txBox="1"/>
          <p:nvPr/>
        </p:nvSpPr>
        <p:spPr>
          <a:xfrm>
            <a:off x="464515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매장 입점</a:t>
            </a:r>
            <a:endParaRPr lang="en-US" sz="1600" dirty="0"/>
          </a:p>
        </p:txBody>
      </p:sp>
      <p:sp>
        <p:nvSpPr>
          <p:cNvPr id="12" name="설명"/>
          <p:cNvSpPr txBox="1"/>
          <p:nvPr/>
        </p:nvSpPr>
        <p:spPr>
          <a:xfrm>
            <a:off x="4645152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업사이클링 욕실화 다이소 전국 매장 입점 (2023.09~)</a:t>
            </a:r>
            <a:endParaRPr lang="en-US" sz="1200" dirty="0"/>
          </a:p>
        </p:txBody>
      </p:sp>
      <p:sp>
        <p:nvSpPr>
          <p:cNvPr id="13" name="숫자 카드"/>
          <p:cNvSpPr/>
          <p:nvPr/>
        </p:nvSpPr>
        <p:spPr>
          <a:xfrm>
            <a:off x="8055864" y="26517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/>
        </p:spPr>
      </p:sp>
      <p:sp>
        <p:nvSpPr>
          <p:cNvPr id="14" name="큰 숫자"/>
          <p:cNvSpPr txBox="1"/>
          <p:nvPr/>
        </p:nvSpPr>
        <p:spPr>
          <a:xfrm>
            <a:off x="8375904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2회</a:t>
            </a:r>
            <a:endParaRPr lang="en-US" sz="4800" dirty="0"/>
          </a:p>
        </p:txBody>
      </p:sp>
      <p:sp>
        <p:nvSpPr>
          <p:cNvPr id="15" name="라벨"/>
          <p:cNvSpPr txBox="1"/>
          <p:nvPr/>
        </p:nvSpPr>
        <p:spPr>
          <a:xfrm>
            <a:off x="8375904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환경부 새활용 지원사업</a:t>
            </a:r>
            <a:endParaRPr lang="en-US" sz="1600" dirty="0"/>
          </a:p>
        </p:txBody>
      </p:sp>
      <p:sp>
        <p:nvSpPr>
          <p:cNvPr id="16" name="설명"/>
          <p:cNvSpPr txBox="1"/>
          <p:nvPr/>
        </p:nvSpPr>
        <p:spPr>
          <a:xfrm>
            <a:off x="8375904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2024년 수행 · 2026년 2차 수행 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E828"/>
                </a:solidFill>
              </a:rPr>
              <a:t>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소재부터 납품까지, 한 회사에서</a:t>
            </a:r>
            <a:endParaRPr lang="en-US" sz="3000" dirty="0"/>
          </a:p>
        </p:txBody>
      </p:sp>
      <p:sp>
        <p:nvSpPr>
          <p:cNvPr id="4" name="역량 카드"/>
          <p:cNvSpPr/>
          <p:nvPr/>
        </p:nvSpPr>
        <p:spPr>
          <a:xfrm>
            <a:off x="59436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E828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역량 제목"/>
          <p:cNvSpPr txBox="1"/>
          <p:nvPr/>
        </p:nvSpPr>
        <p:spPr>
          <a:xfrm>
            <a:off x="9144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소재</a:t>
            </a:r>
            <a:endParaRPr lang="en-US" sz="2200" dirty="0"/>
          </a:p>
        </p:txBody>
      </p:sp>
      <p:sp>
        <p:nvSpPr>
          <p:cNvPr id="7" name="역량 부제"/>
          <p:cNvSpPr txBox="1"/>
          <p:nvPr/>
        </p:nvSpPr>
        <p:spPr>
          <a:xfrm>
            <a:off x="9144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버려지는 자원을 원료로</a:t>
            </a:r>
            <a:endParaRPr lang="en-US" sz="1200" dirty="0"/>
          </a:p>
        </p:txBody>
      </p:sp>
      <p:sp>
        <p:nvSpPr>
          <p:cNvPr id="8" name="역량 항목"/>
          <p:cNvSpPr txBox="1"/>
          <p:nvPr/>
        </p:nvSpPr>
        <p:spPr>
          <a:xfrm>
            <a:off x="914400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실크벽지 → PVC 분리 원료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폐타이어 → 재생 고무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임업부산물 → CXP 목재 복합소재</a:t>
            </a:r>
            <a:endParaRPr lang="en-US" sz="1300" dirty="0"/>
          </a:p>
        </p:txBody>
      </p:sp>
      <p:sp>
        <p:nvSpPr>
          <p:cNvPr id="9" name="역량 카드"/>
          <p:cNvSpPr/>
          <p:nvPr/>
        </p:nvSpPr>
        <p:spPr>
          <a:xfrm>
            <a:off x="432511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E828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역량 제목"/>
          <p:cNvSpPr txBox="1"/>
          <p:nvPr/>
        </p:nvSpPr>
        <p:spPr>
          <a:xfrm>
            <a:off x="4645152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기획 · 설계</a:t>
            </a:r>
            <a:endParaRPr lang="en-US" sz="2200" dirty="0"/>
          </a:p>
        </p:txBody>
      </p:sp>
      <p:sp>
        <p:nvSpPr>
          <p:cNvPr id="12" name="역량 부제"/>
          <p:cNvSpPr txBox="1"/>
          <p:nvPr/>
        </p:nvSpPr>
        <p:spPr>
          <a:xfrm>
            <a:off x="4645152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쓰는 사람의 현장에서</a:t>
            </a:r>
            <a:endParaRPr lang="en-US" sz="1200" dirty="0"/>
          </a:p>
        </p:txBody>
      </p:sp>
      <p:sp>
        <p:nvSpPr>
          <p:cNvPr id="13" name="역량 항목"/>
          <p:cNvSpPr txBox="1"/>
          <p:nvPr/>
        </p:nvSpPr>
        <p:spPr>
          <a:xfrm>
            <a:off x="4645152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제품 디자인 · 금형 개발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상표 · 디자인 · 특허 출원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캐릭터 라이선싱 협업</a:t>
            </a:r>
            <a:endParaRPr lang="en-US" sz="1300" dirty="0"/>
          </a:p>
        </p:txBody>
      </p:sp>
      <p:sp>
        <p:nvSpPr>
          <p:cNvPr id="14" name="역량 카드"/>
          <p:cNvSpPr/>
          <p:nvPr/>
        </p:nvSpPr>
        <p:spPr>
          <a:xfrm>
            <a:off x="8055864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5904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E828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역량 제목"/>
          <p:cNvSpPr txBox="1"/>
          <p:nvPr/>
        </p:nvSpPr>
        <p:spPr>
          <a:xfrm>
            <a:off x="8375904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생산 · 납품</a:t>
            </a:r>
            <a:endParaRPr lang="en-US" sz="2200" dirty="0"/>
          </a:p>
        </p:txBody>
      </p:sp>
      <p:sp>
        <p:nvSpPr>
          <p:cNvPr id="17" name="역량 부제"/>
          <p:cNvSpPr txBox="1"/>
          <p:nvPr/>
        </p:nvSpPr>
        <p:spPr>
          <a:xfrm>
            <a:off x="8375904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국내 제조, 대량 공급</a:t>
            </a:r>
            <a:endParaRPr lang="en-US" sz="1200" dirty="0"/>
          </a:p>
        </p:txBody>
      </p:sp>
      <p:sp>
        <p:nvSpPr>
          <p:cNvPr id="18" name="역량 항목"/>
          <p:cNvSpPr txBox="1"/>
          <p:nvPr/>
        </p:nvSpPr>
        <p:spPr>
          <a:xfrm>
            <a:off x="8375904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국내 공장 생산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대형 생활용품 매장 전국 납품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기업 B2B · OEM/ODM 공급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3"/>
                </a:solidFill>
              </a:rPr>
              <a:t>HISTORY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3년, 욕실에서 현장까지</a:t>
            </a:r>
            <a:endParaRPr lang="en-US" sz="3000" dirty="0"/>
          </a:p>
        </p:txBody>
      </p:sp>
      <p:sp>
        <p:nvSpPr>
          <p:cNvPr id="4" name="타임라인"/>
          <p:cNvSpPr/>
          <p:nvPr/>
        </p:nvSpPr>
        <p:spPr>
          <a:xfrm>
            <a:off x="594360" y="2331720"/>
            <a:ext cx="11002975" cy="0"/>
          </a:xfrm>
          <a:prstGeom prst="line">
            <a:avLst/>
          </a:prstGeom>
          <a:noFill/>
          <a:ln w="25400">
            <a:solidFill>
              <a:srgbClr val="D8D6EE"/>
            </a:solidFill>
            <a:prstDash val="solid"/>
          </a:ln>
        </p:spPr>
      </p:sp>
      <p:sp>
        <p:nvSpPr>
          <p:cNvPr id="5" name="연혁 점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연도"/>
          <p:cNvSpPr txBox="1"/>
          <p:nvPr/>
        </p:nvSpPr>
        <p:spPr>
          <a:xfrm>
            <a:off x="594360" y="2651760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2023</a:t>
            </a:r>
            <a:endParaRPr lang="en-US" sz="2800" dirty="0"/>
          </a:p>
        </p:txBody>
      </p:sp>
      <p:sp>
        <p:nvSpPr>
          <p:cNvPr id="7" name="연혁 2023"/>
          <p:cNvSpPr txBox="1"/>
          <p:nvPr/>
        </p:nvSpPr>
        <p:spPr>
          <a:xfrm>
            <a:off x="594360" y="3429000"/>
            <a:ext cx="2522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창업진흥원 국가과제 수행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07  ㈜알앤디메이커스 창립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09  다이소 전국 매장 입점</a:t>
            </a:r>
            <a:endParaRPr lang="en-US" sz="1250" dirty="0"/>
          </a:p>
        </p:txBody>
      </p:sp>
      <p:sp>
        <p:nvSpPr>
          <p:cNvPr id="8" name="연혁 점"/>
          <p:cNvSpPr/>
          <p:nvPr/>
        </p:nvSpPr>
        <p:spPr>
          <a:xfrm>
            <a:off x="3390824" y="21945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연도"/>
          <p:cNvSpPr txBox="1"/>
          <p:nvPr/>
        </p:nvSpPr>
        <p:spPr>
          <a:xfrm>
            <a:off x="3390824" y="2651760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2024</a:t>
            </a:r>
            <a:endParaRPr lang="en-US" sz="2800" dirty="0"/>
          </a:p>
        </p:txBody>
      </p:sp>
      <p:sp>
        <p:nvSpPr>
          <p:cNvPr id="10" name="연혁 2024"/>
          <p:cNvSpPr txBox="1"/>
          <p:nvPr/>
        </p:nvSpPr>
        <p:spPr>
          <a:xfrm>
            <a:off x="3390824" y="3429000"/>
            <a:ext cx="2522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환경부 새활용지원사업 수행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오피스디포 · 오피스웨이 납품 계약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대전 서구청 욕실화 기부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중국 첫 수출</a:t>
            </a:r>
            <a:endParaRPr lang="en-US" sz="1250" dirty="0"/>
          </a:p>
        </p:txBody>
      </p:sp>
      <p:sp>
        <p:nvSpPr>
          <p:cNvPr id="11" name="연혁 점"/>
          <p:cNvSpPr/>
          <p:nvPr/>
        </p:nvSpPr>
        <p:spPr>
          <a:xfrm>
            <a:off x="6187288" y="21945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연도"/>
          <p:cNvSpPr txBox="1"/>
          <p:nvPr/>
        </p:nvSpPr>
        <p:spPr>
          <a:xfrm>
            <a:off x="6187288" y="2651760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2025</a:t>
            </a:r>
            <a:endParaRPr lang="en-US" sz="2800" dirty="0"/>
          </a:p>
        </p:txBody>
      </p:sp>
      <p:sp>
        <p:nvSpPr>
          <p:cNvPr id="13" name="연혁 2025"/>
          <p:cNvSpPr txBox="1"/>
          <p:nvPr/>
        </p:nvSpPr>
        <p:spPr>
          <a:xfrm>
            <a:off x="6187288" y="3429000"/>
            <a:ext cx="2522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상표권 및 BM 특허 출원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대전시 꿈돌이 캐릭터 라이선싱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롯데패키징앤솔루션 · 서브원 납품 계약</a:t>
            </a:r>
            <a:endParaRPr lang="en-US" sz="1250" dirty="0"/>
          </a:p>
        </p:txBody>
      </p:sp>
      <p:sp>
        <p:nvSpPr>
          <p:cNvPr id="14" name="연혁 점"/>
          <p:cNvSpPr/>
          <p:nvPr/>
        </p:nvSpPr>
        <p:spPr>
          <a:xfrm>
            <a:off x="8983751" y="219456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15" name="연도"/>
          <p:cNvSpPr txBox="1"/>
          <p:nvPr/>
        </p:nvSpPr>
        <p:spPr>
          <a:xfrm>
            <a:off x="8983751" y="2651760"/>
            <a:ext cx="261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2026</a:t>
            </a:r>
            <a:endParaRPr lang="en-US" sz="2800" dirty="0"/>
          </a:p>
        </p:txBody>
      </p:sp>
      <p:sp>
        <p:nvSpPr>
          <p:cNvPr id="16" name="2026 강조"/>
          <p:cNvSpPr/>
          <p:nvPr/>
        </p:nvSpPr>
        <p:spPr>
          <a:xfrm>
            <a:off x="8874023" y="3291840"/>
            <a:ext cx="2723312" cy="2194560"/>
          </a:xfrm>
          <a:prstGeom prst="roundRect">
            <a:avLst>
              <a:gd name="adj" fmla="val 2500"/>
            </a:avLst>
          </a:prstGeom>
          <a:solidFill>
            <a:srgbClr val="F4FBD9"/>
          </a:solidFill>
          <a:ln/>
        </p:spPr>
      </p:sp>
      <p:sp>
        <p:nvSpPr>
          <p:cNvPr id="17" name="연혁 2026"/>
          <p:cNvSpPr txBox="1"/>
          <p:nvPr/>
        </p:nvSpPr>
        <p:spPr>
          <a:xfrm>
            <a:off x="8983751" y="3429000"/>
            <a:ext cx="2522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환경부 새활용지원사업 2차 수행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라라슈(RhaRa Shoe) 브랜드 런칭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11.11 첫 라인업 오픈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3"/>
                </a:solidFill>
              </a:rPr>
              <a:t>BRANDS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두 개의 브랜드, 하나의 원칙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버려지는 것을 다시 쓰고, 쓰는 사람의 하루를 바꾼다</a:t>
            </a:r>
            <a:endParaRPr lang="en-US" sz="1400" dirty="0"/>
          </a:p>
        </p:txBody>
      </p:sp>
      <p:sp>
        <p:nvSpPr>
          <p:cNvPr id="5" name="리사이클플레이 카드"/>
          <p:cNvSpPr/>
          <p:nvPr/>
        </p:nvSpPr>
        <p:spPr>
          <a:xfrm>
            <a:off x="594360" y="2011680"/>
            <a:ext cx="5364328" cy="3931920"/>
          </a:xfrm>
          <a:prstGeom prst="roundRect">
            <a:avLst>
              <a:gd name="adj" fmla="val 1860"/>
            </a:avLst>
          </a:prstGeom>
          <a:solidFill>
            <a:schemeClr val="accent4"/>
          </a:solidFill>
          <a:ln/>
        </p:spPr>
      </p:sp>
      <p:pic>
        <p:nvPicPr>
          <p:cNvPr id="6" name="욕실화" descr="img/slipper-qui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560320" cy="1541538"/>
          </a:xfrm>
          <a:prstGeom prst="rect">
            <a:avLst/>
          </a:prstGeom>
        </p:spPr>
      </p:pic>
      <p:pic>
        <p:nvPicPr>
          <p:cNvPr id="7" name="치실" descr="img/flos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3964698"/>
            <a:ext cx="1234440" cy="804672"/>
          </a:xfrm>
          <a:prstGeom prst="rect">
            <a:avLst/>
          </a:prstGeom>
        </p:spPr>
      </p:pic>
      <p:pic>
        <p:nvPicPr>
          <p:cNvPr id="8" name="CXP" descr="img/cx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94560" y="3964698"/>
            <a:ext cx="1234440" cy="804672"/>
          </a:xfrm>
          <a:prstGeom prst="rect">
            <a:avLst/>
          </a:prstGeom>
        </p:spPr>
      </p:pic>
      <p:sp>
        <p:nvSpPr>
          <p:cNvPr id="9" name="리사이클플레이 설명"/>
          <p:cNvSpPr txBox="1"/>
          <p:nvPr/>
        </p:nvSpPr>
        <p:spPr>
          <a:xfrm>
            <a:off x="3657600" y="2331720"/>
            <a:ext cx="20724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Recycle Play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욕실에 즐거움을 쌓다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실크벽지·PVC 분리 원료로 만든 업사이클링 욕실화, 목재 복합소재(CXP) 구강케어. 전 제품 국내 제조.</a:t>
            </a:r>
            <a:endParaRPr lang="en-US" sz="2000" dirty="0"/>
          </a:p>
        </p:txBody>
      </p:sp>
      <p:sp>
        <p:nvSpPr>
          <p:cNvPr id="10" name="라라슈 카드"/>
          <p:cNvSpPr/>
          <p:nvPr/>
        </p:nvSpPr>
        <p:spPr>
          <a:xfrm>
            <a:off x="6233008" y="2011680"/>
            <a:ext cx="5364328" cy="3931920"/>
          </a:xfrm>
          <a:prstGeom prst="roundRect">
            <a:avLst>
              <a:gd name="adj" fmla="val 1860"/>
            </a:avLst>
          </a:prstGeom>
          <a:solidFill>
            <a:srgbClr val="0B0B0B"/>
          </a:solidFill>
          <a:ln/>
        </p:spPr>
      </p:sp>
      <p:pic>
        <p:nvPicPr>
          <p:cNvPr id="11" name="워킹화" descr="img/tile-sho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286000"/>
            <a:ext cx="2560320" cy="2133600"/>
          </a:xfrm>
          <a:prstGeom prst="rect">
            <a:avLst/>
          </a:prstGeom>
        </p:spPr>
      </p:pic>
      <p:pic>
        <p:nvPicPr>
          <p:cNvPr id="12" name="밑창" descr="img/tile-outso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4556760"/>
            <a:ext cx="2560320" cy="1045464"/>
          </a:xfrm>
          <a:prstGeom prst="rect">
            <a:avLst/>
          </a:prstGeom>
        </p:spPr>
      </p:pic>
      <p:pic>
        <p:nvPicPr>
          <p:cNvPr id="13" name="RS 로고" descr="img/rs-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248" y="2331720"/>
            <a:ext cx="566928" cy="475488"/>
          </a:xfrm>
          <a:prstGeom prst="rect">
            <a:avLst/>
          </a:prstGeom>
        </p:spPr>
      </p:pic>
      <p:sp>
        <p:nvSpPr>
          <p:cNvPr id="14" name="라라슈 설명"/>
          <p:cNvSpPr txBox="1"/>
          <p:nvPr/>
        </p:nvSpPr>
        <p:spPr>
          <a:xfrm>
            <a:off x="9296248" y="2926080"/>
            <a:ext cx="2072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RhaRa Shoe  라라슈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6F432"/>
                </a:solidFill>
              </a:rPr>
              <a:t>Made for Standing.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9C4"/>
                </a:solidFill>
              </a:rPr>
              <a:t>서서 일하는 사람들을 위한 워킹화와 인솔. 밑창 그립 패드에 폐타이어 고무를 새활용. 2026.11.11 오픈.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S 로고" descr="img/r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914400" cy="7680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A85"/>
                </a:solidFill>
              </a:rPr>
              <a:t>RhaRa Shoe  ·  라라슈  ·  2026.11.11 OPEN</a:t>
            </a:r>
            <a:endParaRPr lang="en-US" sz="1100" dirty="0"/>
          </a:p>
        </p:txBody>
      </p:sp>
      <p:sp>
        <p:nvSpPr>
          <p:cNvPr id="4" name="슬로건"/>
          <p:cNvSpPr txBox="1"/>
          <p:nvPr/>
        </p:nvSpPr>
        <p:spPr>
          <a:xfrm>
            <a:off x="594360" y="19202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EDEDE8"/>
                </a:solidFill>
              </a:rPr>
              <a:t>Made for</a:t>
            </a:r>
            <a:endParaRPr lang="en-US" sz="6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EDEDE8"/>
                </a:solidFill>
              </a:rPr>
              <a:t>Standing.</a:t>
            </a:r>
            <a:endParaRPr lang="en-US" sz="6600" dirty="0"/>
          </a:p>
        </p:txBody>
      </p:sp>
      <p:sp>
        <p:nvSpPr>
          <p:cNvPr id="5" name="브랜드 정의"/>
          <p:cNvSpPr txBox="1"/>
          <p:nvPr/>
        </p:nvSpPr>
        <p:spPr>
          <a:xfrm>
            <a:off x="594360" y="4480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9C4"/>
                </a:solidFill>
              </a:rPr>
              <a:t>발이 편해야, 일이 편하다.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9C4"/>
                </a:solidFill>
              </a:rPr>
              <a:t>주방·매장·현장에서 오래 서 있는 사람들을 위한 워킹화와 인솔.</a:t>
            </a:r>
            <a:endParaRPr lang="en-US" sz="1500" dirty="0"/>
          </a:p>
        </p:txBody>
      </p:sp>
      <p:pic>
        <p:nvPicPr>
          <p:cNvPr id="6" name="워킹화 누끼" descr="img/shoes2-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4655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F432"/>
                </a:solidFill>
              </a:rPr>
              <a:t>WHY WE STARTED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퇴근하면 신발부터 벗게 되는 그 발을 위해</a:t>
            </a:r>
            <a:endParaRPr lang="en-US" sz="3000" dirty="0"/>
          </a:p>
        </p:txBody>
      </p:sp>
      <p:sp>
        <p:nvSpPr>
          <p:cNvPr id="4" name="서사"/>
          <p:cNvSpPr txBox="1"/>
          <p:nvPr/>
        </p:nvSpPr>
        <p:spPr>
          <a:xfrm>
            <a:off x="594360" y="16002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8D8D3"/>
                </a:solidFill>
              </a:rPr>
              <a:t>하루 7시간, 주방과 매장과 계산대 앞에 서 있는 사람들이 있습니다. 퇴근하면 신발부터 벗게 되는 그 발을 위해 라라슈를 시작했습니다.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8D8D3"/>
                </a:solidFill>
              </a:rPr>
              <a:t>라라슈는 정형외과 전문의 이문홍 원장의 설계 자문을 받아, 발이 바닥에 닿는 순서를 기준으로 4점 그립 패드의 위치를 정했습니다. 작업화처럼 보이지 않게 — 출근길에도, 근무 중에도, 퇴근길에도 그대로 신을 수 있도록 디자인했습니다.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8D8D3"/>
                </a:solidFill>
              </a:rPr>
              <a:t>그립 패드에는 폐타이어 고무와 실크벽지에서 분리한 PVC를 다시 원료로 썼습니다. 사람의 발과 지구의 내일을 함께 생각하는 것, 라라슈가 ESG를 실천하는 방식입니다.</a:t>
            </a:r>
            <a:endParaRPr lang="en-US" sz="1250" dirty="0"/>
          </a:p>
        </p:txBody>
      </p:sp>
      <p:sp>
        <p:nvSpPr>
          <p:cNvPr id="5" name="자문 고지"/>
          <p:cNvSpPr txBox="1"/>
          <p:nvPr/>
        </p:nvSpPr>
        <p:spPr>
          <a:xfrm>
            <a:off x="594360" y="5715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</a:rPr>
              <a:t>이문홍 원장은 제품 설계 자문에 참여하고 자문료를 받았습니다.</a:t>
            </a:r>
            <a:endParaRPr lang="en-US" sz="900" dirty="0"/>
          </a:p>
        </p:txBody>
      </p:sp>
      <p:sp>
        <p:nvSpPr>
          <p:cNvPr id="6" name="문제-해법 카드"/>
          <p:cNvSpPr/>
          <p:nvPr/>
        </p:nvSpPr>
        <p:spPr>
          <a:xfrm>
            <a:off x="6537960" y="17373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/>
        </p:spPr>
      </p:sp>
      <p:sp>
        <p:nvSpPr>
          <p:cNvPr id="7" name="문제"/>
          <p:cNvSpPr txBox="1"/>
          <p:nvPr/>
        </p:nvSpPr>
        <p:spPr>
          <a:xfrm>
            <a:off x="6812280" y="1938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8A85"/>
                </a:solidFill>
              </a:rPr>
              <a:t>현장에서 들은 것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</a:rPr>
              <a:t>깔창이 신발 안에서 자꾸 밀려 나온다</a:t>
            </a:r>
            <a:endParaRPr lang="en-US" sz="1000" dirty="0"/>
          </a:p>
        </p:txBody>
      </p:sp>
      <p:sp>
        <p:nvSpPr>
          <p:cNvPr id="8" name="해법"/>
          <p:cNvSpPr txBox="1"/>
          <p:nvPr/>
        </p:nvSpPr>
        <p:spPr>
          <a:xfrm>
            <a:off x="6812280" y="2697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F432"/>
                </a:solidFill>
              </a:rPr>
              <a:t>그래서 만든 것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F432"/>
                </a:solidFill>
              </a:rPr>
              <a:t>깔창 없이 안창까지 한 몸으로 만든 일체형 안창</a:t>
            </a:r>
            <a:endParaRPr lang="en-US" sz="1000" dirty="0"/>
          </a:p>
        </p:txBody>
      </p:sp>
      <p:sp>
        <p:nvSpPr>
          <p:cNvPr id="9" name="문제-해법 카드"/>
          <p:cNvSpPr/>
          <p:nvPr/>
        </p:nvSpPr>
        <p:spPr>
          <a:xfrm>
            <a:off x="6537960" y="370332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/>
        </p:spPr>
      </p:sp>
      <p:sp>
        <p:nvSpPr>
          <p:cNvPr id="10" name="문제"/>
          <p:cNvSpPr txBox="1"/>
          <p:nvPr/>
        </p:nvSpPr>
        <p:spPr>
          <a:xfrm>
            <a:off x="6812280" y="3904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8A85"/>
                </a:solidFill>
              </a:rPr>
              <a:t>현장에서 들은 것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</a:rPr>
              <a:t>물이 발목 입구로 튀어 들어온다</a:t>
            </a:r>
            <a:endParaRPr lang="en-US" sz="1000" dirty="0"/>
          </a:p>
        </p:txBody>
      </p:sp>
      <p:sp>
        <p:nvSpPr>
          <p:cNvPr id="11" name="해법"/>
          <p:cNvSpPr txBox="1"/>
          <p:nvPr/>
        </p:nvSpPr>
        <p:spPr>
          <a:xfrm>
            <a:off x="6812280" y="4663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F432"/>
                </a:solidFill>
              </a:rPr>
              <a:t>그래서 만든 것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F432"/>
                </a:solidFill>
              </a:rPr>
              <a:t>입구 테두리를 다른 부분보다 두껍게 두른 발목 테두리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F432"/>
                </a:solidFill>
              </a:rPr>
              <a:t>LINE-UP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1차 라인업 2종</a:t>
            </a:r>
            <a:endParaRPr lang="en-US" sz="3000" dirty="0"/>
          </a:p>
        </p:txBody>
      </p:sp>
      <p:sp>
        <p:nvSpPr>
          <p:cNvPr id="4" name="제품 카드"/>
          <p:cNvSpPr/>
          <p:nvPr/>
        </p:nvSpPr>
        <p:spPr>
          <a:xfrm>
            <a:off x="594360" y="1691640"/>
            <a:ext cx="5364328" cy="4343400"/>
          </a:xfrm>
          <a:prstGeom prst="roundRect">
            <a:avLst>
              <a:gd name="adj" fmla="val 1684"/>
            </a:avLst>
          </a:prstGeom>
          <a:solidFill>
            <a:srgbClr val="161616"/>
          </a:solidFill>
          <a:ln/>
        </p:spPr>
      </p:sp>
      <p:pic>
        <p:nvPicPr>
          <p:cNvPr id="5" name="쿼드그립 종일편한 워킹화" descr="img/tile-s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652" y="1783080"/>
            <a:ext cx="2523744" cy="2103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977640"/>
            <a:ext cx="335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</a:rPr>
              <a:t>쿼드그립 종일편한 워킹화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67048" y="3977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F432"/>
                </a:solidFill>
              </a:rPr>
              <a:t>42,500원</a:t>
            </a:r>
            <a:endParaRPr lang="en-US" sz="1800" dirty="0"/>
          </a:p>
        </p:txBody>
      </p:sp>
      <p:sp>
        <p:nvSpPr>
          <p:cNvPr id="8" name="번호"/>
          <p:cNvSpPr/>
          <p:nvPr/>
        </p:nvSpPr>
        <p:spPr>
          <a:xfrm>
            <a:off x="914400" y="45262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9" name="번호 글자"/>
          <p:cNvSpPr txBox="1"/>
          <p:nvPr/>
        </p:nvSpPr>
        <p:spPr>
          <a:xfrm>
            <a:off x="91440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구조"/>
          <p:cNvSpPr txBox="1"/>
          <p:nvPr/>
        </p:nvSpPr>
        <p:spPr>
          <a:xfrm>
            <a:off x="1325880" y="45262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쿼드그립 4점 패드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밑창 4곳, 폐타이어 새활용 고무</a:t>
            </a:r>
            <a:endParaRPr lang="en-US" sz="1200" dirty="0"/>
          </a:p>
        </p:txBody>
      </p:sp>
      <p:sp>
        <p:nvSpPr>
          <p:cNvPr id="11" name="번호"/>
          <p:cNvSpPr/>
          <p:nvPr/>
        </p:nvSpPr>
        <p:spPr>
          <a:xfrm>
            <a:off x="914400" y="49834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12" name="번호 글자"/>
          <p:cNvSpPr txBox="1"/>
          <p:nvPr/>
        </p:nvSpPr>
        <p:spPr>
          <a:xfrm>
            <a:off x="91440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구조"/>
          <p:cNvSpPr txBox="1"/>
          <p:nvPr/>
        </p:nvSpPr>
        <p:spPr>
          <a:xfrm>
            <a:off x="1325880" y="49834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깔창 없는 일체형 안창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E-실리폴리렌으로 안창까지 한 몸</a:t>
            </a:r>
            <a:endParaRPr lang="en-US" sz="1200" dirty="0"/>
          </a:p>
        </p:txBody>
      </p:sp>
      <p:sp>
        <p:nvSpPr>
          <p:cNvPr id="14" name="번호"/>
          <p:cNvSpPr/>
          <p:nvPr/>
        </p:nvSpPr>
        <p:spPr>
          <a:xfrm>
            <a:off x="914400" y="54406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15" name="번호 글자"/>
          <p:cNvSpPr txBox="1"/>
          <p:nvPr/>
        </p:nvSpPr>
        <p:spPr>
          <a:xfrm>
            <a:off x="914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구조"/>
          <p:cNvSpPr txBox="1"/>
          <p:nvPr/>
        </p:nvSpPr>
        <p:spPr>
          <a:xfrm>
            <a:off x="1325880" y="54406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도톰한 발목 테두리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입구 테두리를 두껍게 마감</a:t>
            </a:r>
            <a:endParaRPr lang="en-US" sz="1200" dirty="0"/>
          </a:p>
        </p:txBody>
      </p:sp>
      <p:sp>
        <p:nvSpPr>
          <p:cNvPr id="17" name="제품 카드"/>
          <p:cNvSpPr/>
          <p:nvPr/>
        </p:nvSpPr>
        <p:spPr>
          <a:xfrm>
            <a:off x="6233008" y="1691640"/>
            <a:ext cx="5364328" cy="4343400"/>
          </a:xfrm>
          <a:prstGeom prst="roundRect">
            <a:avLst>
              <a:gd name="adj" fmla="val 1684"/>
            </a:avLst>
          </a:prstGeom>
          <a:solidFill>
            <a:srgbClr val="161616"/>
          </a:solidFill>
          <a:ln/>
        </p:spPr>
      </p:sp>
      <p:pic>
        <p:nvPicPr>
          <p:cNvPr id="18" name="쿼드그립 아치가득 인솔" descr="img/tile-i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675" y="1783080"/>
            <a:ext cx="3364992" cy="21031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553048" y="3977640"/>
            <a:ext cx="335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8"/>
                </a:solidFill>
              </a:rPr>
              <a:t>쿼드그립 아치가득 인솔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9905695" y="3977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F432"/>
                </a:solidFill>
              </a:rPr>
              <a:t>21,500원</a:t>
            </a:r>
            <a:endParaRPr lang="en-US" sz="1800" dirty="0"/>
          </a:p>
        </p:txBody>
      </p:sp>
      <p:sp>
        <p:nvSpPr>
          <p:cNvPr id="21" name="번호"/>
          <p:cNvSpPr/>
          <p:nvPr/>
        </p:nvSpPr>
        <p:spPr>
          <a:xfrm>
            <a:off x="6553048" y="45262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22" name="번호 글자"/>
          <p:cNvSpPr txBox="1"/>
          <p:nvPr/>
        </p:nvSpPr>
        <p:spPr>
          <a:xfrm>
            <a:off x="655304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구조"/>
          <p:cNvSpPr txBox="1"/>
          <p:nvPr/>
        </p:nvSpPr>
        <p:spPr>
          <a:xfrm>
            <a:off x="6964528" y="45262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아치가득 구조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발 아치 라인을 따라 가득 채운 형태</a:t>
            </a:r>
            <a:endParaRPr lang="en-US" sz="1200" dirty="0"/>
          </a:p>
        </p:txBody>
      </p:sp>
      <p:sp>
        <p:nvSpPr>
          <p:cNvPr id="24" name="번호"/>
          <p:cNvSpPr/>
          <p:nvPr/>
        </p:nvSpPr>
        <p:spPr>
          <a:xfrm>
            <a:off x="6553048" y="49834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25" name="번호 글자"/>
          <p:cNvSpPr txBox="1"/>
          <p:nvPr/>
        </p:nvSpPr>
        <p:spPr>
          <a:xfrm>
            <a:off x="6553048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구조"/>
          <p:cNvSpPr txBox="1"/>
          <p:nvPr/>
        </p:nvSpPr>
        <p:spPr>
          <a:xfrm>
            <a:off x="6964528" y="49834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뒤꿈치 컵 구조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뒤꿈치를 감싸는 컵 모양</a:t>
            </a:r>
            <a:endParaRPr lang="en-US" sz="1200" dirty="0"/>
          </a:p>
        </p:txBody>
      </p:sp>
      <p:sp>
        <p:nvSpPr>
          <p:cNvPr id="27" name="번호"/>
          <p:cNvSpPr/>
          <p:nvPr/>
        </p:nvSpPr>
        <p:spPr>
          <a:xfrm>
            <a:off x="6553048" y="5440680"/>
            <a:ext cx="274320" cy="274320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28" name="번호 글자"/>
          <p:cNvSpPr txBox="1"/>
          <p:nvPr/>
        </p:nvSpPr>
        <p:spPr>
          <a:xfrm>
            <a:off x="6553048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구조"/>
          <p:cNvSpPr txBox="1"/>
          <p:nvPr/>
        </p:nvSpPr>
        <p:spPr>
          <a:xfrm>
            <a:off x="6964528" y="544068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8"/>
                </a:solidFill>
              </a:rPr>
              <a:t>우드칩 배합 소재</a:t>
            </a:r>
            <a:pPr indent="0" marL="0">
              <a:buNone/>
            </a:pPr>
            <a:r>
              <a:rPr lang="en-US" sz="1200" dirty="0">
                <a:solidFill>
                  <a:srgbClr val="A8A8A3"/>
                </a:solidFill>
              </a:rPr>
              <a:t>   목공소 자투리 우드칩을 섞은 E-실리폴리렌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F432"/>
                </a:solidFill>
              </a:rPr>
              <a:t>MATERIAL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Road to Floor.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9C4"/>
                </a:solidFill>
              </a:rPr>
              <a:t>도로를 달리던 고무가, 주방 바닥 위에서 다시 일합니다.</a:t>
            </a:r>
            <a:endParaRPr lang="en-US" sz="1400" dirty="0"/>
          </a:p>
        </p:txBody>
      </p:sp>
      <p:pic>
        <p:nvPicPr>
          <p:cNvPr id="5" name="브랜드 필름 장면" descr="img/brand-film-po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5577840" cy="3137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519493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</a:rPr>
              <a:t>브랜드 필름 중 한 장면 · 일부 장면 AI 생성(Google Flow)</a:t>
            </a:r>
            <a:endParaRPr lang="en-US" sz="900" dirty="0"/>
          </a:p>
        </p:txBody>
      </p:sp>
      <p:sp>
        <p:nvSpPr>
          <p:cNvPr id="7" name="소재 카드"/>
          <p:cNvSpPr/>
          <p:nvPr/>
        </p:nvSpPr>
        <p:spPr>
          <a:xfrm>
            <a:off x="6537960" y="201168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A1A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122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F432"/>
                </a:solidFill>
              </a:rPr>
              <a:t>그립 패드</a:t>
            </a:r>
            <a:endParaRPr lang="en-US" sz="1100" dirty="0"/>
          </a:p>
        </p:txBody>
      </p:sp>
      <p:sp>
        <p:nvSpPr>
          <p:cNvPr id="9" name="소재 그립 패드"/>
          <p:cNvSpPr txBox="1"/>
          <p:nvPr/>
        </p:nvSpPr>
        <p:spPr>
          <a:xfrm>
            <a:off x="8183880" y="2130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</a:rPr>
              <a:t>폐타이어 고무 + 실크벽지 폐PVC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8A8A3"/>
                </a:solidFill>
              </a:rPr>
              <a:t>밑창 4곳의 쿼드그립 패드</a:t>
            </a:r>
            <a:endParaRPr lang="en-US" sz="1400" dirty="0"/>
          </a:p>
        </p:txBody>
      </p:sp>
      <p:sp>
        <p:nvSpPr>
          <p:cNvPr id="10" name="소재 카드"/>
          <p:cNvSpPr/>
          <p:nvPr/>
        </p:nvSpPr>
        <p:spPr>
          <a:xfrm>
            <a:off x="6537960" y="3090672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A1A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3227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F432"/>
                </a:solidFill>
              </a:rPr>
              <a:t>신발 본체</a:t>
            </a:r>
            <a:endParaRPr lang="en-US" sz="1100" dirty="0"/>
          </a:p>
        </p:txBody>
      </p:sp>
      <p:sp>
        <p:nvSpPr>
          <p:cNvPr id="12" name="소재 신발 본체"/>
          <p:cNvSpPr txBox="1"/>
          <p:nvPr/>
        </p:nvSpPr>
        <p:spPr>
          <a:xfrm>
            <a:off x="8183880" y="32095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</a:rPr>
              <a:t>E-실리폴리렌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8A8A3"/>
                </a:solidFill>
              </a:rPr>
              <a:t>EVA·실리콘 배합 자체 소재, 안창까지 한 몸</a:t>
            </a:r>
            <a:endParaRPr lang="en-US" sz="1400" dirty="0"/>
          </a:p>
        </p:txBody>
      </p:sp>
      <p:sp>
        <p:nvSpPr>
          <p:cNvPr id="13" name="소재 카드"/>
          <p:cNvSpPr/>
          <p:nvPr/>
        </p:nvSpPr>
        <p:spPr>
          <a:xfrm>
            <a:off x="6537960" y="4169664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A1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12280" y="43068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F432"/>
                </a:solidFill>
              </a:rPr>
              <a:t>인솔</a:t>
            </a:r>
            <a:endParaRPr lang="en-US" sz="1100" dirty="0"/>
          </a:p>
        </p:txBody>
      </p:sp>
      <p:sp>
        <p:nvSpPr>
          <p:cNvPr id="15" name="소재 인솔"/>
          <p:cNvSpPr txBox="1"/>
          <p:nvPr/>
        </p:nvSpPr>
        <p:spPr>
          <a:xfrm>
            <a:off x="8183880" y="428853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</a:rPr>
              <a:t>E-실리폴리렌 + 우드칩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8A8A3"/>
                </a:solidFill>
              </a:rPr>
              <a:t>목공소에서 나온 자투리 우드칩 배합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E828"/>
                </a:solidFill>
              </a:rPr>
              <a:t>LAUNCH &amp; PARTNERSHIP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11월, 현장에서 만나요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E828"/>
                </a:solidFill>
              </a:rPr>
              <a:t>11.11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801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라라슈 1차 라인업 오픈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워킹화 · 인솔 온라인 출시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70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E828"/>
                </a:solidFill>
              </a:rPr>
              <a:t>11.12 – 15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킨텍스 메가쇼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실물 체험 · 단체 구매 상담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58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E828"/>
                </a:solidFill>
              </a:rPr>
              <a:t>11.26 – 29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7764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서울디자인페어 (코엑스)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브랜드 · 소재 전시</a:t>
            </a:r>
            <a:endParaRPr lang="en-US" sz="1500" dirty="0"/>
          </a:p>
        </p:txBody>
      </p:sp>
      <p:sp>
        <p:nvSpPr>
          <p:cNvPr id="10" name="상담 박스"/>
          <p:cNvSpPr/>
          <p:nvPr/>
        </p:nvSpPr>
        <p:spPr>
          <a:xfrm>
            <a:off x="6675120" y="1783080"/>
            <a:ext cx="4919472" cy="3429000"/>
          </a:xfrm>
          <a:prstGeom prst="roundRect">
            <a:avLst>
              <a:gd name="adj" fmla="val 2667"/>
            </a:avLst>
          </a:prstGeom>
          <a:solidFill>
            <a:srgbClr val="E0E8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2057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1478"/>
                </a:solidFill>
              </a:rPr>
              <a:t>B2B · OEM/ODM · 납품 상담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181478"/>
                </a:solidFill>
              </a:rPr>
              <a:t>단체 공급 · 자체 브랜드 OEM · 소재 ODM</a:t>
            </a:r>
            <a:endParaRPr lang="en-US" sz="1800" dirty="0"/>
          </a:p>
        </p:txBody>
      </p:sp>
      <p:sp>
        <p:nvSpPr>
          <p:cNvPr id="12" name="연락처"/>
          <p:cNvSpPr txBox="1"/>
          <p:nvPr/>
        </p:nvSpPr>
        <p:spPr>
          <a:xfrm>
            <a:off x="6995160" y="30632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81478"/>
                </a:solidFill>
              </a:rPr>
              <a:t>㈜알앤디메이커스  신동규 대표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81478"/>
                </a:solidFill>
              </a:rPr>
              <a:t>대전시 유성구 국제과학7로 8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81478"/>
                </a:solidFill>
              </a:rPr>
              <a:t>T  010-6880-2516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81478"/>
                </a:solidFill>
              </a:rPr>
              <a:t>E  rndceo@rndmakers.kr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81478"/>
                </a:solidFill>
              </a:rPr>
              <a:t>www.rndmakers.kr</a:t>
            </a:r>
            <a:endParaRPr lang="en-US" sz="1200" dirty="0"/>
          </a:p>
        </p:txBody>
      </p:sp>
      <p:pic>
        <p:nvPicPr>
          <p:cNvPr id="13" name="QR" descr="img/qr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108960"/>
            <a:ext cx="1371600" cy="1371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692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478"/>
                </a:solidFill>
              </a:rPr>
              <a:t>라라슈 오픈 알림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&amp;amp;D MAKERS x RhaRa Shoe">
  <a:themeElements>
    <a:clrScheme name="R&amp;amp;D MAKERS x RhaRa Shoe">
      <a:dk1>
        <a:srgbClr val="181478"/>
      </a:dk1>
      <a:lt1>
        <a:srgbClr val="FFFFFF"/>
      </a:lt1>
      <a:dk2>
        <a:srgbClr val="4A4868"/>
      </a:dk2>
      <a:lt2>
        <a:srgbClr val="EEECE2"/>
      </a:lt2>
      <a:accent1>
        <a:srgbClr val="E0E828"/>
      </a:accent1>
      <a:accent2>
        <a:srgbClr val="FF6A48"/>
      </a:accent2>
      <a:accent3>
        <a:srgbClr val="5650C4"/>
      </a:accent3>
      <a:accent4>
        <a:srgbClr val="F1F0FA"/>
      </a:accent4>
      <a:accent5>
        <a:srgbClr val="2A2591"/>
      </a:accent5>
      <a:accent6>
        <a:srgbClr val="C6F432"/>
      </a:accent6>
      <a:hlink>
        <a:srgbClr val="5650C4"/>
      </a:hlink>
      <a:folHlink>
        <a:srgbClr val="5650C4"/>
      </a:folHlink>
    </a:clrScheme>
    <a:fontScheme name="R&amp;amp;D MAKERS x 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알앤디메이커스 × 라라슈 소개서</dc:title>
  <dc:subject>PptxGenJS Presentation</dc:subject>
  <dc:creator>㈜알앤디메이커스</dc:creator>
  <cp:lastModifiedBy>㈜알앤디메이커스</cp:lastModifiedBy>
  <cp:revision>1</cp:revision>
  <dcterms:created xsi:type="dcterms:W3CDTF">2026-10-24T14:24:10Z</dcterms:created>
  <dcterms:modified xsi:type="dcterms:W3CDTF">2026-10-24T14:24:10Z</dcterms:modified>
</cp:coreProperties>
</file>