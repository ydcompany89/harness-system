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4cca4255-e887-f254-1e6c-829233434ee6}">
          <p14:sldIdLst>
            <p14:sldId id="256"/>
          </p14:sldIdLst>
        </p14:section>
        <p14:section name="브랜드" id="{47a8153a-4fe0-926f-d1d8-165496292431}">
          <p14:sldIdLst>
            <p14:sldId id="257"/>
          </p14:sldIdLst>
        </p14:section>
        <p14:section name="제품" id="{0a20cb82-5c8d-5f0b-3c03-40276d114198}">
          <p14:sldIdLst>
            <p14:sldId id="258"/>
            <p14:sldId id="259"/>
          </p14:sldIdLst>
        </p14:section>
        <p14:section name="런칭" id="{46e3d011-df4d-135e-02f3-e8558fb3f2cf}">
          <p14:sldIdLst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카드 02의 리타이어렌은 상표 출원 단계. 카드 03: 전문의는 설계 자문이며 추천·보증 표현 금지. 논문은 설계 참고 자료이지 성능 보증이 아님.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기능 문구는 구조 설명만. "미끄럼 방지 보장·충격흡수·피로 감소" 표현 금지(C02 성적서 전). 컬러명 확정(10/18): 차콜 · 그레이 · 민트화이트. 키비주얼 이미지 내 라벨(차콜 블랙·민트 그린)은 수정 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교정·평발·통증·족저근막염 등 효능 표현 금지. 의료기기 아님 명시. 반굽 ±5% 사출 편차.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RHARA SHOE 라라슈  ·  ㈜알앤디메이커스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ckup" descr="/home/user/harness-system/launch/rs/design/fair-print/assets/rs-lockup-l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097280" cy="1143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Made for Standing.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2402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라라슈 상품소개서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017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서서 일하는 하루를 위한 신발과 인솔</a:t>
            </a:r>
            <a:endParaRPr lang="en-US" sz="1600" dirty="0"/>
          </a:p>
        </p:txBody>
      </p:sp>
      <p:sp>
        <p:nvSpPr>
          <p:cNvPr id="6" name="launch0"/>
          <p:cNvSpPr/>
          <p:nvPr/>
        </p:nvSpPr>
        <p:spPr>
          <a:xfrm>
            <a:off x="548640" y="3703320"/>
            <a:ext cx="2194560" cy="777240"/>
          </a:xfrm>
          <a:prstGeom prst="roundRect">
            <a:avLst>
              <a:gd name="adj" fmla="val 9412"/>
            </a:avLst>
          </a:prstGeom>
          <a:solidFill>
            <a:srgbClr val="1A1A1A"/>
          </a:solidFill>
          <a:ln w="9525">
            <a:solidFill>
              <a:srgbClr val="3A3A3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13232" y="37947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쿼드그립 아치가득 인솔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13232" y="406908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11.11 OPEN</a:t>
            </a:r>
            <a:endParaRPr lang="en-US" sz="1800" dirty="0"/>
          </a:p>
        </p:txBody>
      </p:sp>
      <p:sp>
        <p:nvSpPr>
          <p:cNvPr id="9" name="launch1"/>
          <p:cNvSpPr/>
          <p:nvPr/>
        </p:nvSpPr>
        <p:spPr>
          <a:xfrm>
            <a:off x="2880360" y="3703320"/>
            <a:ext cx="2194560" cy="777240"/>
          </a:xfrm>
          <a:prstGeom prst="roundRect">
            <a:avLst>
              <a:gd name="adj" fmla="val 9412"/>
            </a:avLst>
          </a:prstGeom>
          <a:solidFill>
            <a:srgbClr val="1A1A1A"/>
          </a:solidFill>
          <a:ln w="9525">
            <a:solidFill>
              <a:srgbClr val="3A3A3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044952" y="37947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쿼드그립 종일편한 워킹화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3044952" y="406908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11.20 OPEN</a:t>
            </a:r>
            <a:endParaRPr lang="en-US" sz="1800" dirty="0"/>
          </a:p>
        </p:txBody>
      </p:sp>
      <p:sp>
        <p:nvSpPr>
          <p:cNvPr id="12" name="halo"/>
          <p:cNvSpPr/>
          <p:nvPr/>
        </p:nvSpPr>
        <p:spPr>
          <a:xfrm>
            <a:off x="5394960" y="548640"/>
            <a:ext cx="3566160" cy="3566160"/>
          </a:xfrm>
          <a:prstGeom prst="ellipse">
            <a:avLst/>
          </a:prstGeom>
          <a:solidFill>
            <a:srgbClr val="1C2208"/>
          </a:solidFill>
          <a:ln/>
        </p:spPr>
      </p:sp>
      <p:pic>
        <p:nvPicPr>
          <p:cNvPr id="13" name="walking" descr="/home/user/harness-system/launch/rs/design/fair-print/assets/walking-cu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640080"/>
            <a:ext cx="2606040" cy="3163824"/>
          </a:xfrm>
          <a:prstGeom prst="rect">
            <a:avLst/>
          </a:prstGeom>
        </p:spPr>
      </p:pic>
      <p:pic>
        <p:nvPicPr>
          <p:cNvPr id="14" name="insole" descr="/home/user/harness-system/launch/rs/design/fair-print/assets/insole-cu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2743200"/>
            <a:ext cx="1691640" cy="1444752"/>
          </a:xfrm>
          <a:prstGeom prst="rect">
            <a:avLst/>
          </a:prstGeom>
        </p:spPr>
      </p:pic>
      <p:sp>
        <p:nvSpPr>
          <p:cNvPr id="15" name="dot0"/>
          <p:cNvSpPr/>
          <p:nvPr/>
        </p:nvSpPr>
        <p:spPr>
          <a:xfrm>
            <a:off x="5715000" y="4343400"/>
            <a:ext cx="128016" cy="12801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dot1"/>
          <p:cNvSpPr/>
          <p:nvPr/>
        </p:nvSpPr>
        <p:spPr>
          <a:xfrm>
            <a:off x="5925312" y="4343400"/>
            <a:ext cx="128016" cy="12801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dot2"/>
          <p:cNvSpPr/>
          <p:nvPr/>
        </p:nvSpPr>
        <p:spPr>
          <a:xfrm>
            <a:off x="6135624" y="4343400"/>
            <a:ext cx="128016" cy="12801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dot3"/>
          <p:cNvSpPr/>
          <p:nvPr/>
        </p:nvSpPr>
        <p:spPr>
          <a:xfrm>
            <a:off x="6345936" y="4343400"/>
            <a:ext cx="128016" cy="12801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5715000" y="46177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㈜알앤디메이커스 ·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서서 일하는 사람의 발에서 시작했습니다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하루 10시간 서서 일하는 식당 사장님들의 발 사진에서 출발한 브랜드. 바닥에 닿는 신발과, 지금 신는 신발에 더하는 인솔 두 가지로 시작합니다.</a:t>
            </a:r>
            <a:endParaRPr lang="en-US" sz="1400" dirty="0"/>
          </a:p>
        </p:txBody>
      </p:sp>
      <p:sp>
        <p:nvSpPr>
          <p:cNvPr id="4" name="card01"/>
          <p:cNvSpPr/>
          <p:nvPr/>
        </p:nvSpPr>
        <p:spPr>
          <a:xfrm>
            <a:off x="457200" y="1783080"/>
            <a:ext cx="2606040" cy="2606040"/>
          </a:xfrm>
          <a:prstGeom prst="roundRect">
            <a:avLst>
              <a:gd name="adj" fmla="val 3509"/>
            </a:avLst>
          </a:prstGeom>
          <a:solidFill>
            <a:srgbClr val="1A1A1A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20116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01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5603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현장에서 출발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01752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chemeClr val="accent6"/>
                </a:solidFill>
              </a:rPr>
              <a:t>식당·주방·매장처럼 오래 서서 일하는 사람이 기준입니다. 기능보다 먼저 하루의 동선을 봤습니다.</a:t>
            </a:r>
            <a:endParaRPr lang="en-US" sz="1200" dirty="0"/>
          </a:p>
        </p:txBody>
      </p:sp>
      <p:sp>
        <p:nvSpPr>
          <p:cNvPr id="9" name="card02"/>
          <p:cNvSpPr/>
          <p:nvPr/>
        </p:nvSpPr>
        <p:spPr>
          <a:xfrm>
            <a:off x="3246120" y="1783080"/>
            <a:ext cx="2606040" cy="2606040"/>
          </a:xfrm>
          <a:prstGeom prst="roundRect">
            <a:avLst>
              <a:gd name="adj" fmla="val 3509"/>
            </a:avLst>
          </a:prstGeom>
          <a:solidFill>
            <a:srgbClr val="1A1A1A"/>
          </a:solidFill>
          <a:ln/>
        </p:spPr>
      </p:sp>
      <p:sp>
        <p:nvSpPr>
          <p:cNvPr id="10" name="Shape 8"/>
          <p:cNvSpPr/>
          <p:nvPr/>
        </p:nvSpPr>
        <p:spPr>
          <a:xfrm>
            <a:off x="3474720" y="20116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74720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02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474720" y="25603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새활용 소재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301752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chemeClr val="accent6"/>
                </a:solidFill>
              </a:rPr>
              <a:t>워킹화 그립 패드는 폐타이어 고무와 폐벽지 PVC를 배합한 리타이어렌(상표 출원). 인솔에는 목공소 우드칩을 배합했습니다.</a:t>
            </a:r>
            <a:endParaRPr lang="en-US" sz="1200" dirty="0"/>
          </a:p>
        </p:txBody>
      </p:sp>
      <p:sp>
        <p:nvSpPr>
          <p:cNvPr id="14" name="card03"/>
          <p:cNvSpPr/>
          <p:nvPr/>
        </p:nvSpPr>
        <p:spPr>
          <a:xfrm>
            <a:off x="6035040" y="1783080"/>
            <a:ext cx="2606040" cy="2606040"/>
          </a:xfrm>
          <a:prstGeom prst="roundRect">
            <a:avLst>
              <a:gd name="adj" fmla="val 3509"/>
            </a:avLst>
          </a:prstGeom>
          <a:solidFill>
            <a:srgbClr val="1A1A1A"/>
          </a:solidFill>
          <a:ln/>
        </p:spPr>
      </p:sp>
      <p:sp>
        <p:nvSpPr>
          <p:cNvPr id="15" name="Shape 13"/>
          <p:cNvSpPr/>
          <p:nvPr/>
        </p:nvSpPr>
        <p:spPr>
          <a:xfrm>
            <a:off x="6263640" y="20116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263640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03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263640" y="25603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전문의 설계 자문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263640" y="301752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chemeClr val="accent6"/>
                </a:solidFill>
              </a:rPr>
              <a:t>정형외과 전문의가 패드 위치와 인솔 형태를 함께 검토했습니다. 패드 무늬는 국내 논문 2편을 참고해 설계했습니다.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쿼드그립 종일편한 워킹화</a:t>
            </a:r>
            <a:endParaRPr lang="en-US" sz="2800" dirty="0"/>
          </a:p>
        </p:txBody>
      </p:sp>
      <p:pic>
        <p:nvPicPr>
          <p:cNvPr id="3" name="walking-hero" descr="/home/user/harness-system/launch/rs/design/deck-product/img-walking-her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51560"/>
            <a:ext cx="2743200" cy="34290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611880" y="10515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42,500원  ·  2026.11.20 OPEN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3611880" y="15087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361188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01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4114800" y="149047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밑창 4점 쿼드그립 패드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114800" y="1755648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바닥에 닿는 길을 따라 그립 패드 4곳을 배치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611880" y="207568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3611880" y="2075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02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114800" y="20574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깔창 없는 일체형 안창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4114800" y="2322576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자체 소재 E-실리폴리렌 통째 성형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611880" y="264261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611880" y="2642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03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4114800" y="262432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도톰한 발목 입구 테두리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114800" y="2889504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신고 벗기 쉬운 슬립온 클로그 형태</a:t>
            </a:r>
            <a:endParaRPr lang="en-US" sz="1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11880" y="3246120"/>
          <a:ext cx="50749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40690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사이즈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</a:rPr>
                        <a:t>230 ~ 280mm (10mm 단위 6종)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컬러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</a:rPr>
                        <a:t>차콜 · 그레이 · 민트화이트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무게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</a:rPr>
                        <a:t>약 257g (270mm 한쪽 실측)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소재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</a:rPr>
                        <a:t>본체 E-실리폴리렌 / 그립 패드 리타이어렌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제조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</a:rPr>
                        <a:t>대한민국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</a:tbl>
          </a:graphicData>
        </a:graphic>
      </p:graphicFrame>
      <p:sp>
        <p:nvSpPr>
          <p:cNvPr id="18" name="Text 14"/>
          <p:cNvSpPr txBox="1"/>
          <p:nvPr/>
        </p:nvSpPr>
        <p:spPr>
          <a:xfrm>
            <a:off x="457200" y="452628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chemeClr val="accent3"/>
                </a:solidFill>
              </a:rPr>
              <a:t>AI 연출 이미지 포함 · 실물과 다를 수 있음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쿼드그립 아치가득 인솔</a:t>
            </a:r>
            <a:endParaRPr lang="en-US" sz="2800" dirty="0"/>
          </a:p>
        </p:txBody>
      </p:sp>
      <p:pic>
        <p:nvPicPr>
          <p:cNvPr id="3" name="insole-hero" descr="/home/user/harness-system/launch/rs/design/deck-product/img-insole-her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43600" y="1051560"/>
            <a:ext cx="2743200" cy="34290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10515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21,500원  ·  2026.11.11 OPEN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457200" y="15087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45720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01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960120" y="14904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아치 라인을 따라 채운 형태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175564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발 아치 곡선 아래 빈 곳을 채우는 구조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57200" y="207568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57200" y="2075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02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960120" y="20574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뒤꿈치를 감싸는 링 컵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960120" y="2322576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가운데를 비운 링 구조로 뒤꿈치를 감쌈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64261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57200" y="2642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03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960120" y="26243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쓰던 깔창 밑에 한 장 더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2889504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반굽 형태 — 가지고 계신 신발에 그대로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46120"/>
          <a:ext cx="51206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41148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사이즈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</a:rPr>
                        <a:t>M 150mm (신발 220~255) · L 170mm (260~280)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컬러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</a:rPr>
                        <a:t>그레이 · 모카무스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소재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</a:rPr>
                        <a:t>E-실리폴리렌(EVA·실리콘 배합) + 목분(우드칩)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형태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</a:rPr>
                        <a:t>반굽 인솔 (뒤꿈치~아치)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제조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</a:rPr>
                        <a:t>대한민국 · 의료기기 아님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</a:tbl>
          </a:graphicData>
        </a:graphic>
      </p:graphicFrame>
      <p:sp>
        <p:nvSpPr>
          <p:cNvPr id="18" name="Text 14"/>
          <p:cNvSpPr txBox="1"/>
          <p:nvPr/>
        </p:nvSpPr>
        <p:spPr>
          <a:xfrm>
            <a:off x="5943600" y="452628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chemeClr val="accent3"/>
                </a:solidFill>
              </a:rPr>
              <a:t>AI 연출 이미지 · 실물과 다를 수 있음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11월, 두 번 엽니다</a:t>
            </a:r>
            <a:endParaRPr lang="en-US" sz="2800" dirty="0"/>
          </a:p>
        </p:txBody>
      </p:sp>
      <p:sp>
        <p:nvSpPr>
          <p:cNvPr id="3" name="timeline"/>
          <p:cNvSpPr/>
          <p:nvPr/>
        </p:nvSpPr>
        <p:spPr>
          <a:xfrm>
            <a:off x="731520" y="1755648"/>
            <a:ext cx="7680960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</a:ln>
        </p:spPr>
      </p:sp>
      <p:sp>
        <p:nvSpPr>
          <p:cNvPr id="4" name="node0"/>
          <p:cNvSpPr/>
          <p:nvPr/>
        </p:nvSpPr>
        <p:spPr>
          <a:xfrm>
            <a:off x="658368" y="1645920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20116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11.11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인솔 OPEN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7432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쿼드그립 아치가득 인솔</a:t>
            </a:r>
            <a:endParaRPr lang="en-US" sz="1100" dirty="0"/>
          </a:p>
        </p:txBody>
      </p:sp>
      <p:sp>
        <p:nvSpPr>
          <p:cNvPr id="8" name="node1"/>
          <p:cNvSpPr/>
          <p:nvPr/>
        </p:nvSpPr>
        <p:spPr>
          <a:xfrm>
            <a:off x="2715768" y="1645920"/>
            <a:ext cx="219456" cy="219456"/>
          </a:xfrm>
          <a:prstGeom prst="ellipse">
            <a:avLst/>
          </a:prstGeom>
          <a:solidFill>
            <a:srgbClr val="8C8C8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514600" y="20116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11.12–15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251460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메가쇼 킨텍스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514600" y="27432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부스에서 직접 신어 보기</a:t>
            </a:r>
            <a:endParaRPr lang="en-US" sz="1100" dirty="0"/>
          </a:p>
        </p:txBody>
      </p:sp>
      <p:sp>
        <p:nvSpPr>
          <p:cNvPr id="12" name="node2"/>
          <p:cNvSpPr/>
          <p:nvPr/>
        </p:nvSpPr>
        <p:spPr>
          <a:xfrm>
            <a:off x="4773168" y="1645920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72000" y="20116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11.20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워킹화 OPEN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7432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쿼드그립 종일편한 워킹화</a:t>
            </a:r>
            <a:endParaRPr lang="en-US" sz="1100" dirty="0"/>
          </a:p>
        </p:txBody>
      </p:sp>
      <p:sp>
        <p:nvSpPr>
          <p:cNvPr id="16" name="node3"/>
          <p:cNvSpPr/>
          <p:nvPr/>
        </p:nvSpPr>
        <p:spPr>
          <a:xfrm>
            <a:off x="6830568" y="1645920"/>
            <a:ext cx="219456" cy="219456"/>
          </a:xfrm>
          <a:prstGeom prst="ellipse">
            <a:avLst/>
          </a:prstGeom>
          <a:solidFill>
            <a:srgbClr val="8C8C8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629400" y="20116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11.26–29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62940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서울디자인페스티벌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629400" y="27432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코엑스 · 부스 운영</a:t>
            </a:r>
            <a:endParaRPr lang="en-US" sz="1100" dirty="0"/>
          </a:p>
        </p:txBody>
      </p:sp>
      <p:sp>
        <p:nvSpPr>
          <p:cNvPr id="20" name="contact"/>
          <p:cNvSpPr/>
          <p:nvPr/>
        </p:nvSpPr>
        <p:spPr>
          <a:xfrm>
            <a:off x="457200" y="3291840"/>
            <a:ext cx="8229600" cy="1325880"/>
          </a:xfrm>
          <a:prstGeom prst="roundRect">
            <a:avLst>
              <a:gd name="adj" fmla="val 6897"/>
            </a:avLst>
          </a:prstGeom>
          <a:solidFill>
            <a:srgbClr val="1A1A1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31520" y="3456432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구매 · 오픈 알림 · 기업/단체 구매 문의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3822192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</a:rPr>
              <a:t>rharashoe.netlify.app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Instagram @rharashoe  ·  고객센터 0507-1317-2516  ·  rndceo@rndmakers.kr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accent3"/>
                </a:solidFill>
              </a:rPr>
              <a:t>㈜알앤디메이커스 · 대전광역시 유성구 국제과학7로 8</a:t>
            </a:r>
            <a:endParaRPr lang="en-US" sz="1200" dirty="0"/>
          </a:p>
        </p:txBody>
      </p:sp>
      <p:pic>
        <p:nvPicPr>
          <p:cNvPr id="23" name="qr" descr="/home/user/harness-system/launch/rs/design/deck-product/img-qr-d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0" y="3429000"/>
            <a:ext cx="1051560" cy="10515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haRa Shoe">
  <a:themeElements>
    <a:clrScheme name="RhaRa Shoe">
      <a:dk1>
        <a:srgbClr val="0D0D0D"/>
      </a:dk1>
      <a:lt1>
        <a:srgbClr val="FFFFFF"/>
      </a:lt1>
      <a:dk2>
        <a:srgbClr val="1A1A1A"/>
      </a:dk2>
      <a:lt2>
        <a:srgbClr val="EDEDE8"/>
      </a:lt2>
      <a:accent1>
        <a:srgbClr val="C6F432"/>
      </a:accent1>
      <a:accent2>
        <a:srgbClr val="3D4A12"/>
      </a:accent2>
      <a:accent3>
        <a:srgbClr val="8C8C86"/>
      </a:accent3>
      <a:accent4>
        <a:srgbClr val="A47864"/>
      </a:accent4>
      <a:accent5>
        <a:srgbClr val="2A2A2A"/>
      </a:accent5>
      <a:accent6>
        <a:srgbClr val="D8D8D2"/>
      </a:accent6>
      <a:hlink>
        <a:srgbClr val="C6F432"/>
      </a:hlink>
      <a:folHlink>
        <a:srgbClr val="8C8C86"/>
      </a:folHlink>
    </a:clrScheme>
    <a:fontScheme name="RhaRa Sho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㈜알앤디메이커스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라라슈 상품소개서</dc:title>
  <dc:subject>PptxGenJS Presentation</dc:subject>
  <dc:creator>㈜알앤디메이커스</dc:creator>
  <cp:lastModifiedBy>㈜알앤디메이커스</cp:lastModifiedBy>
  <cp:revision>1</cp:revision>
  <dcterms:created xsi:type="dcterms:W3CDTF">2026-10-18T14:29:56Z</dcterms:created>
  <dcterms:modified xsi:type="dcterms:W3CDTF">2026-10-18T14:29:56Z</dcterms:modified>
</cp:coreProperties>
</file>