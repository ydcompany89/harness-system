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1ccef353-70d2-c7b2-39c1-54bf92202857}">
          <p14:sldIdLst>
            <p14:sldId id="256"/>
          </p14:sldIdLst>
        </p14:section>
        <p14:section name="인솔" id="{9c03f4ee-15a4-561a-2603-067a642f2728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10/14 요청: 오다리·평발·자세교정·발피로 저감에 적합한 후킹 → 그대로는 불가(의료기기법·표시광고법). 대체 카피 10안. 근거·대체 문장표: content/insole-detail-plan.md §0~1.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확정 후킹(대표 10/15): '오후 4시, 발이 먼저 퇴근하고 싶을 때.' — 효능 대신 상황 묘사.
전문의 배지: 대표 10/15 첫 화면 노출 OK → 원장 서면 승인(계약 제7조) 후 게시. 배지 문구는 '설계 자문'으로 고정, '추천·인정·보증' 금지.
비주얼: 오후 햇빛 + 벽시계 4시 + 신발 뒤축을 살짝 빼는 발(얼굴 없음). 인솔은 ICUT 02 끝에서 처음 등장.
숏폼 비트컷: 0.0s 시계 4시 → 0.5s 신발 뒤축 빼는 발 → 1.0s 신발 속 납작한 깔창 → 1.5s 아치가득 인솔 꺼내기.
인솔은 '다른 신발용' — 워킹화와 묶는 표현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'발 아픔·통증·평발' 등 의학 단어 금지. 상황 묘사만. '헐거운 신발'은 ICUT 08(반굽·흘러내림)로 이어지는 복선.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행택 핵심기능 문구 그대로. 아치 높이 mm 실측 있으면 측면 라벨로.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반굽(15/17cm) 인솔에서 4점이 어디에 있는지 실물 사진으로 확인. 미끄럼·고정력 효능 표현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10/15: 아치가득 = 반굽(뒤꿈치~아치) 인솔. 기존 인솔 밑에 깔면 신발 재질에 따라 신을 때 흘러내려가는 현상을 막을 수 있다.
표현: '흘러내림을 잡아 준다'는 착용감·핏 설명(의학 효능 아님) — 단 '100% 방지·완벽 고정' 같은 단정 금지, 하단 고지 필수.
촬영: 슬립온·로퍼 1켤레로 BEFORE(뒤꿈치 들림)/AFTER 비교 GIF 3초 — 같은 신발·같은 발·같은 각도. 연출 과장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우드칩 배합 확인(대표 10/15). 재질 표기: 합성수지(E-실리폴리렌), 목분(우드칩).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10/15: 원장 인솔 기능 관련 자문 추가, 첫 화면 노출 가능.
자문 범위는 '형태·착용 방식'으로 한정 — 원장이 '피로가 줄어든다/평발에 좋다'고 말하는 구조는 의료기기 오인 + 계약 제6조 위반.
인용문은 초안 — 원장 확정본으로 교체(임의 편집·발췌 금지). expert/doctor-collab-plan.md §2-#2.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반굽이라 재단 불필요(대표 확인 필요). 고시 취급주의의 '재단' 문구 삭제.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10/15: M 15cm / L 17cm, 실제 사출 시 5% 편차. 상품정보고시 치수와 동일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INSOLE DETAIL v1 · 재피드백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 기획안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4시, 발이 먼저 퇴근하고 싶을 때.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54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21,500원 · 반굽 M 15cm(신발 220~255) / L 17cm(260~280) · 그레이 / 모카무스 · 국내 생산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CUT · 860px 세로형 · 스마트스토어 상세 = 와디즈 스토리 소스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2026-10-14 · ㈜알앤디메이커스 → 디핏파트너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INSOLE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 15 CUT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4시, 발이 먼저 퇴근하고 싶을 때.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 후킹·전문의 배지(01~02) → 구조 5가지(03~08, 08 반굽) → 소재·전문의(09~10) → 사용·사이즈(11~12) → 구매(13~15)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'다른 신발용' · 워킹화와 묶지 않기 · 아치 '지지·교정' 등 효능 ✗ · 의료기기 아님 고지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 스마트스토어 상세 = 이 14 CUT / 와디즈 스토리 = 같은 소스 재구성 (리워드가 별도)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01 후킹 카피 — 확정: 2번 (10/15)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548640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카피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욕망변화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아치 아래 빈 공간, 가득 채웠습니다.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ICUT 04 본문 헤드로 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고통자극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오후 4시, 발이 먼저 퇴근하고 싶을 때.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확정 (대표 10/15) — 히어로 · 썸네일 · 숏폼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욕망변화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신발 말고, 새 바닥.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짧고 강함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호기심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신발 속 깔창, 마지막으로 꺼내 본 게 언제인가요?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고통자극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신발은 멀쩡한데, 바닥이 납작해서.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사회적증거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정형외과 전문의가 직접 신어 보고 의견을 준 인솔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첫 화면 배지로 사용 (대표 10/15) · 원장 검수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욕망변화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발바닥 모양대로, 빈틈없이.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타깃 호명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 7시간 서 있는 당신의 신발 속.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목공소 우드칩이 발밑으로 왔습니다.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 (우드칩 확인 10/15)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신던 신발은 그대로, 바닥만 새로.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서브카피로 강등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금칙어 — 교정 · 평발 · 오다리 · 자세교정 · 체형 · 족저근막염 · 통증 · 피로 감소/회복 · 치료 · 의료용 · 기능성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공산품 인솔이 교정·효능을 표방하면 의료기기 오인 광고 (판매중지·단속) + 전문의 출연 블록과 결합 시 원장 계약 제6조 위반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후킹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01 / 15   첫 화면 — 오후 4시 + 전문의 자문 배지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상세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CUT 01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배경 · 라임 포인트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브랜드로 읽히게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10/15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첫 화면 노출 OK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설계 자문 배지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효능 문구와 분리 · 대가 표기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CUT 01 다크 톤 통일 · BARC 전문의 배지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81728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4시,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먼저 퇴근하고 싶을 때.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81728" y="2578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신발 속 바닥만 바꿔 보세요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818888" y="2807208"/>
            <a:ext cx="2011680" cy="1371600"/>
          </a:xfrm>
          <a:prstGeom prst="roundRect">
            <a:avLst>
              <a:gd name="adj" fmla="val 2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55464" y="2807208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벽시계 4시 + 오후 햇빛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뒤축을 살짝 빼는 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(얼굴 없음)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18888" y="4270248"/>
            <a:ext cx="20116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55464" y="427024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 이문훈 설계 자문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001768" y="4727448"/>
            <a:ext cx="1645920" cy="256032"/>
          </a:xfrm>
          <a:prstGeom prst="roundRect">
            <a:avLst>
              <a:gd name="adj" fmla="val 10714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38344" y="47274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쿼드그립 아치가득 인솔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이문훈 원장은 ㈜알앤디메이커스 제품 설계 자문에 참여하고 자문료를 받았습니다.</a:t>
            </a:r>
            <a:endParaRPr lang="en-US" sz="5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4시 장면 + 하단 전문의 배지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4시,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먼저 퇴근하고 싶을 때.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신발 속 바닥만 바꿔 보세요.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 이문훈 설계 자문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쿼드그립 아치가득 인솔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배지는 '설계 자문'만 · 추천·인정 ✗ · 대가 표기 같은 화면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02 / 15   공감 — 신발이 아니라, 바닥이 납작해서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아치쿠션 기획안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공감 3장면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3분할 사진 + 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상황 묘사만, 통증 ✗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아치쿠션 기획안 CUT 05 형식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신발은 멀쩡한데,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바닥이 납작해서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36008" y="265176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72584" y="265176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깔창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40680" y="265176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77256" y="265176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헐거워진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슬립온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45352" y="265176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81928" y="265176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그래서, 바닥만 새로.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3분할 · 신발 속 납작한 기본 깔창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신발은 멀쩡한데,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바닥이 납작해서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기본 깔창,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신을 때마다 헐거운 신발,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사기엔 아까운 운동화.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그래서, 바닥만 새로.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03 / 15   제품 등장 — 5가지 구조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 §4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아이콘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· 4점 · 뒤꿈치 컵 · 통기 도트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+ 반굽 길이 추가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행택 앞표지 아이콘 + 반굽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13248" y="3017520"/>
            <a:ext cx="822960" cy="1371600"/>
          </a:xfrm>
          <a:prstGeom prst="roundRect">
            <a:avLst>
              <a:gd name="adj" fmla="val 3333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9824" y="3017520"/>
            <a:ext cx="749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36008" y="251460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3600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가득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464808" y="251460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6480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36008" y="333756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36008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64808" y="333756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64808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4점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550408" y="448056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50408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 인솔 탑뷰 + 아이콘 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장에 담았습니다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라인을 따라 가득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 길이 — 쓰던 깔창 밑에도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컵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4점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도트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04 / 15   POINT 01 · 아치 아래 빈 공간, 가득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기획안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측면 곡선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높이를 선으로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측면 실루엣 + 곡선 하이라이트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아치쿠션 기획안 측면 단면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01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아래 빈 공간, 가득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7448" y="2971800"/>
            <a:ext cx="2194560" cy="822960"/>
          </a:xfrm>
          <a:prstGeom prst="roundRect">
            <a:avLst>
              <a:gd name="adj" fmla="val 333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29718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 실루엣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93208" y="2971800"/>
            <a:ext cx="1280160" cy="0"/>
          </a:xfrm>
          <a:prstGeom prst="line">
            <a:avLst/>
          </a:prstGeom>
          <a:noFill/>
          <a:ln w="381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36008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아치 라인을 따라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채우는 형태로 설계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측면 실루엣 + 라임 곡선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아래 빈 공간,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가득 채웠습니다.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아치 라인을 따라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채우는 형태로 설계했습니다.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'아치 지지·교정·평발 개선' ✗ — 형태 설명만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05 / 15   POINT 02 · 쿼드그립 4점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라임 4점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궤적 4점 배치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4점 그래픽으로 패밀리룩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CUT 07~08 그래픽 재사용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02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워킹화의 4점을 인솔에도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13248" y="2880360"/>
            <a:ext cx="822960" cy="1645920"/>
          </a:xfrm>
          <a:prstGeom prst="roundRect">
            <a:avLst>
              <a:gd name="adj" fmla="val 3333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6128" y="416052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24728" y="374904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329184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0408" y="3017520"/>
            <a:ext cx="228600" cy="22860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바닥면 4점 하이라이트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워킹화의 4점을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인솔에도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4점 배치를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인솔에 그대로 담았습니다.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반굽 인솔 4점 실제 위치·패드 재질 확인 후 문구 확정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06 / 15   POINT 03 · 뒤꿈치 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뒤꿈치 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 컵 형태 구조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깊이 mm 숫자 하나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행택 핵심기능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10328" y="2514600"/>
            <a:ext cx="1828800" cy="1554480"/>
          </a:xfrm>
          <a:prstGeom prst="roundRect">
            <a:avLst>
              <a:gd name="adj" fmla="val 1765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46904" y="25146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3/4 클로즈업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73368" y="26060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7336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[mm]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 형태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3/4 클로즈업 + 깊이 표기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감싸는 컵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 형태 구조입니다.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07 / 15   POINT 04 · 통기 도트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통기 도트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 패턴으로 통기 구조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매크로 1컷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행택 핵심기능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27448" y="2514600"/>
            <a:ext cx="2194560" cy="1645920"/>
          </a:xfrm>
          <a:prstGeom prst="roundRect">
            <a:avLst>
              <a:gd name="adj" fmla="val 166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64024" y="251460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도트 매크로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 패턴으로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구조를 더했습니다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매크로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도트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 패턴으로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통기 구조를 더했습니다.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'땀·냄새·항균' 효능 ✗ (시험 없음)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08 / 15   POINT 05 · 반굽 — 쓰던 깔창 밑에 한 장 더 (신규)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코멘트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반굽 길이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인솔 밑에 깔면 신발 재질에 따라 신을 때 흘러내리는 현상을 막는다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겹침 단면도 + 전/후 GIF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대표 10/15 — 반굽 인솔 겹쳐 쓰기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075688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0756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05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쓰던 깔창 밑에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73168" y="2834640"/>
            <a:ext cx="21031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9744" y="28346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쓰던 깔창 (위)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73168" y="3136392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9744" y="31363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아치가득 반굽 (아래)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773168" y="3438144"/>
            <a:ext cx="2103120" cy="228600"/>
          </a:xfrm>
          <a:prstGeom prst="roundRect">
            <a:avLst>
              <a:gd name="adj" fmla="val 120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9744" y="343814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바닥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681728" y="3840480"/>
            <a:ext cx="1097280" cy="914400"/>
          </a:xfrm>
          <a:prstGeom prst="roundRect">
            <a:avLst>
              <a:gd name="adj" fmla="val 3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840480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뒤꿈치가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헐겁게 빠짐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870448" y="3840480"/>
            <a:ext cx="1097280" cy="914400"/>
          </a:xfrm>
          <a:prstGeom prst="roundRect">
            <a:avLst>
              <a:gd name="adj" fmla="val 3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07024" y="3840480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공간이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15cm · L 17cm 반굽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겹침 단면도 (신발 · 기존 깔창 · 아치가득) + 뒤꿈치 GIF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쓰던 깔창 밑에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뒤꿈치부터 아치까지 오는 반굽 길이라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깔창 밑에 겹쳐 깔 수 있습니다.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속 빈 공간이 채워져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신을 때 신발이 헐겁게 흘러내리는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느낌을 잡아 줍니다.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하단 고지: 신발 형태·재질에 따라 착용감이 다를 수 있습니다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09 / 15   소재 — 목공소에서 온 우드칩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팩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새활용 서사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버려지던 자투리 → 소재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3단 그래픽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CUT 18 From Road to Floor와 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목공소에서 온 우드칩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27448" y="2697480"/>
            <a:ext cx="594360" cy="5943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자투리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532120" y="2697480"/>
            <a:ext cx="594360" cy="5943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3212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우드칩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327648" y="269748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 자투리 우드칩을 배합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수행 기업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자투리 → 우드칩 → 인솔 3단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목공소에서 온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우드칩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 자투리 우드칩을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배합했습니다.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'환경부 인증·무공해' ✗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10 / 15   정형외과 전문의 설계 자문 — 인솔 형태·착용 방식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촬영 D3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족부 모형 + 인솔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 옆에 반굽 인솔을 대어 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X-ray ✗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워킹화 08+와 같은 형식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03120"/>
            <a:ext cx="2286000" cy="1051560"/>
          </a:xfrm>
          <a:prstGeom prst="roundRect">
            <a:avLst>
              <a:gd name="adj" fmla="val 2609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03120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족부 모형 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 아치가득 인솔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81728" y="3227832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322783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아치 라인을 채우는 형태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1728" y="3502152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50215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뒤꿈치 컵 깊이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81728" y="3776472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7764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반굽 길이 · 깔창 밑 겹쳐 쓰는 방식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087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"아치 라인을 채우는 형태와 뒤꿈치 컵 깊이,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깔창 밑에 겹쳐 쓰는 방식을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착용해 보고 의견을 드렸습니다."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709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정형외과 전문의 이문훈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4937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이문훈 원장은 ㈜알앤디메이커스 제품 설계 자문에 참여하고 자문료를 받았습니다.</a:t>
            </a:r>
            <a:endParaRPr lang="en-US" sz="5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컷 + 자문 포인트 3 + 인용 + 대가 표기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신어 보고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의견을 주었습니다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라인을 채우는 형태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컵 깊이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밑에 겹쳐 쓰는 방식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정형외과 전문의 이문훈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자문 = 형태·착용 방식 · 효능(피로·교정·평발) ✗ · 원장 검수본만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11 / 15   이렇게 쓰세요 — 깔창 밑에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 인솔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겹쳐 쓰기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쓰던 깔창 들기 → 밑에 깔기 → 다시 덮기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재단 불필요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사용 3스텝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27448" y="224028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27448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들기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5532120" y="224028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뒤꿈치에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맞춰 깔기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6327648" y="224028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덮기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681728" y="3017520"/>
            <a:ext cx="2286000" cy="1280160"/>
          </a:xfrm>
          <a:prstGeom prst="roundRect">
            <a:avLst>
              <a:gd name="adj" fmla="val 2143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01752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속 단면 사진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(뒤꿈치 끝에 맞춘 반굽)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깔창이 없는 신발엔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아치가득만 단독으로 넣어도 됩니다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3스텝 사진 + 단독 사용 안내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쓰던 깔창 밑에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깔기만 하세요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쓰던 깔창을 들고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뒤꿈치 끝에 맞춰 깔고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깔창을 다시 덮으면 끝.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자를 필요 없습니다.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단독 사용 권장 여부 대표 확인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12 / 15   사이즈 M · 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사이즈표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발길이 범위 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M/L 2칸 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#23 FAQ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240280"/>
            <a:ext cx="1097280" cy="1097280"/>
          </a:xfrm>
          <a:prstGeom prst="roundRect">
            <a:avLst>
              <a:gd name="adj" fmla="val 2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240280"/>
            <a:ext cx="1024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15cm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220~255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70448" y="2240280"/>
            <a:ext cx="1097280" cy="1097280"/>
          </a:xfrm>
          <a:prstGeom prst="roundRect">
            <a:avLst>
              <a:gd name="adj" fmla="val 2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2240280"/>
            <a:ext cx="1024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17cm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260~280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사출 특성상 ±5% 편차가 있을 수 있습니다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681728" y="384048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18304" y="38404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경계 사이즈면?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1728" y="4315968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18304" y="431596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물로 씻어도 되나요?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M/L 표 + 편차 고지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· L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길이 15cm · 신발 220~255mm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길이 17cm · 신발 260~280mm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사출 특성상 ±5% 편차가 있을 수 있습니다.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경계 사이즈(255/260) 안내 문구 대표 확인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13 / 15   이런 분께 + 워킹화엔 필요 없어요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1페이지 마케팅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⑧ 교차판매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워킹화엔 깔창 필요 없음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'다른 신발용'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역설 메시지 (스레드 실측 반응 좋음)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488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488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오래 서 있거나 걷는 일이 많다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81728" y="26060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26060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신을 때 신발이 헐겁게 빠진다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81728" y="30632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0632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쓰던 깔창은 그대로 두고 싶다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81728" y="35204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5204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새 신발 대신 바닥만 바꾸고 싶다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81728" y="4069080"/>
            <a:ext cx="2286000" cy="868680"/>
          </a:xfrm>
          <a:prstGeom prst="roundRect">
            <a:avLst>
              <a:gd name="adj" fmla="val 3158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8304" y="406908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워킹화엔 필요 없어요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깔창 없는 일체형이니까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보러 가기 →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4줄 + 하단 워킹화 배너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해당되면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오래 서 있거나 걷는 일이 많다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신을 때 신발이 헐겁게 빠진다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쓰던 깔창은 그대로 두고 싶다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새 신발 대신 바닥만 바꾸고 싶다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워킹화엔 필요 없어요.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14 / 15   스펙 · 주의 · 상품정보고시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구두/신발 + 패션잡화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유형 모두 채움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박스·행택 표기와 1:1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content/insole-product-info-notice.md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03120"/>
            <a:ext cx="2286000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0312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(반굽)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재질: 합성수지(E-실리폴리렌), 목분(우드칩)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15cm · L 17cm (±5%) · 그레이 / 모카무스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제조국 대한민국 · ㈜알앤디메이커스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고객센터 0507-1317-2516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81728" y="365760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36576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고온·직사광선 ✗ · 건조기·표백제 ✗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용도 외 사용 ✗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1728" y="43434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43434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제품은 의료기기가 아닙니다.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표 + 주의 + 의료기기 아님 고지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SPEC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합성수지(E-실리폴리렌), 목분(우드칩)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15cm · L 17cm (±5%)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그레이 / 모카무스 · 대한민국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제품은 의료기기가 아닙니다.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🔴 고시 빈칸(모델명·보증 일수·CS 시간) 채운 뒤 확정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ICUT 15 / 15   구성 · 엔딩 — Made for Standing.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아치가득 인솔 · 스마트스토어/와디즈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1·2·3·4개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 하나, 출근화 하나 / 가족 / 우리 가게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스마트스토어는 1개 21,500 + 묶음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와디즈 리워드 구성 (I1~I4)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48840"/>
            <a:ext cx="1097280" cy="731520"/>
          </a:xfrm>
          <a:prstGeom prst="roundRect">
            <a:avLst>
              <a:gd name="adj" fmla="val 375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488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21,500원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70448" y="2148840"/>
            <a:ext cx="1097280" cy="731520"/>
          </a:xfrm>
          <a:prstGeom prst="roundRect">
            <a:avLst>
              <a:gd name="adj" fmla="val 375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21488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운동화+출근화</a:t>
            </a:r>
            <a:endParaRPr lang="en-US" sz="700" dirty="0"/>
          </a:p>
        </p:txBody>
      </p:sp>
      <p:pic>
        <p:nvPicPr>
          <p:cNvPr id="23" name="Image 0" descr="/home/user/harness-system/launch/rs/design/detail-walking/img/r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3429000"/>
            <a:ext cx="640080" cy="53949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636008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카드 + 로고 락업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21,500원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 — 운동화 하나, 출근화 하나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와디즈 펀딩가는 별도 (wadiz-reward-pricing.md) · 할인 표기 ✗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haRa Shoe Detail">
  <a:themeElements>
    <a:clrScheme name="RhaRa Shoe Detail">
      <a:dk1>
        <a:srgbClr val="232323"/>
      </a:dk1>
      <a:lt1>
        <a:srgbClr val="FFFFFF"/>
      </a:lt1>
      <a:dk2>
        <a:srgbClr val="0D0D0D"/>
      </a:dk2>
      <a:lt2>
        <a:srgbClr val="F1F1F1"/>
      </a:lt2>
      <a:accent1>
        <a:srgbClr val="C6F432"/>
      </a:accent1>
      <a:accent2>
        <a:srgbClr val="3D4A12"/>
      </a:accent2>
      <a:accent3>
        <a:srgbClr val="FF6B3D"/>
      </a:accent3>
      <a:accent4>
        <a:srgbClr val="7E9C7E"/>
      </a:accent4>
      <a:accent5>
        <a:srgbClr val="A8CF8A"/>
      </a:accent5>
      <a:accent6>
        <a:srgbClr val="C2F0B8"/>
      </a:accent6>
      <a:hlink>
        <a:srgbClr val="3D4A12"/>
      </a:hlink>
      <a:folHlink>
        <a:srgbClr val="7E9C7E"/>
      </a:folHlink>
    </a:clrScheme>
    <a:fontScheme name="RhaRa Shoe Detai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라라슈 상세페이지 제작 기획서 v2 (디핏파트너 전달용)</dc:title>
  <dc:subject>PptxGenJS Presentation</dc:subject>
  <dc:creator>RhaRa Shoe</dc:creator>
  <cp:lastModifiedBy>RhaRa Shoe</cp:lastModifiedBy>
  <cp:revision>1</cp:revision>
  <dcterms:created xsi:type="dcterms:W3CDTF">2026-10-15T03:57:23Z</dcterms:created>
  <dcterms:modified xsi:type="dcterms:W3CDTF">2026-10-15T03:57:23Z</dcterms:modified>
</cp:coreProperties>
</file>