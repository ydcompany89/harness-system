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4c2479fc-552e-c436-5259-e2bcf6459cfc}">
          <p14:sldIdLst>
            <p14:sldId id="256"/>
            <p14:sldId id="257"/>
          </p14:sldIdLst>
        </p14:section>
        <p14:section name="인솔" id="{74cb0f47-ceba-23b2-ea95-f5ab98ab990f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실행" id="{d8a67e6c-6c51-7c3d-0f68-ed19b35ff605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v2 = 10/15 v1 이후 대표 확정 사항 반영본. 금칙어·전문의 가드는 v1과 동일(다음 장).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 10/14 요청: 오다리·평발·자세교정·발피로 저감에 적합한 후킹 → 그대로는 불가(의료기기법·표시광고법). 대체 카피 10안. 근거·대체 문장표: content/insole-detail-plan.md §0~1.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v2(10/19): 히어로 = 확정 키비주얼(design/insole-hero/라라슈_인솔_키비주얼_최종.png). 텍스트는 대표 지시대로 최소화 — 헤드라인 + 아이콘 3(우드칩 배합 · 뒤꿈치 링 컵 · MADE IN KOREA)만. 하단 'AI 연출 이미지 · 의료기기 아님' 고지 유지. 인솔 측면 각인 없음(이미지 수정 완료).
확정 후킹(대표 10/15): '오후 4시, 발이 먼저 퇴근하고 싶을 때.' — 효능 대신 상황 묘사.
전문의 배지: 대표 10/15 첫 화면 노출 OK → 원장 서면 승인(계약 제7조) 후 게시. 배지 문구는 '설계 자문'으로 고정, '추천·인정·보증' 금지.
비주얼: 오후 햇빛 + 벽시계 4시 + 신발 뒤축을 살짝 빼는 발(얼굴 없음). 인솔은 ICUT 02 끝에서 처음 등장.
숏폼 비트컷: 0.0s 시계 4시 → 0.5s 신발 뒤축 빼는 발 → 1.0s 신발 속 납작한 깔창 → 1.5s 아치가득 인솔 꺼내기.
인솔은 '다른 신발용' — 워킹화와 묶는 표현 금지.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공감 축 = '발이 힘든 하루'(신발 아까움 ✗, 대표 지적 10/19). 발 불편은 고객 1인칭 상황 묘사로만 — '통증·평발·족저근막' 등 의학 단어 ✗, 다음 컷에서 '편해집니다/완화' 같은 효능 연결 ✗. 사진은 발·종아리 클로즈업 + 서 있는 현장(얼굴 연출 자유). 다음 CUT 03 제품 등장은 '그래서 신발 속 바닥부터' 톤으로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 지시(10/19): 바르너식 '발 고민 해결' 내용 필수. 기획 원안은 이 장 그대로, 광고 표기는 대표가 최종 수정.
수정 시 바꿔 쓸 수 있는 순화안(참고):
· 평발 → '아치가 낮은 발' / '무너진 아치를 받쳐' → '아치 아래 빈 공간을 채워'
· 오다리 → '체중이 바깥으로 쏠리는 발' / '잡아' → '뒤꿈치를 감싸는 링 컵'
· 체형교정 → '바르게 딛는 습관' / '바로잡습니다' → '고르게 딛도록 설계'
그림: 족적·뒷모습 다리·전신 실루엣은 일러스트(실제 환자·X-ray ✗). 각 카드 오른쪽에 ICUT 03 아이콘(라임 원) 재사용해 구조와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행택 핵심기능 문구 그대로. 아치 높이 mm 실측 있으면 측면 라벨로.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반굽(15/17cm) 인솔에서 4점이 어디에 있는지 실물 사진으로 확인. 미끄럼·고정력 효능 표현 금지.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v2: 실물 = 뒤꿈치 가운데가 뚫린 링 구조 → '링 컵'으로 통일(키비주얼 아이콘과 동일). 깊이 mm 실측 있으면 원형 라벨.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 10/15: 아치가득 = 반굽(뒤꿈치~아치) 인솔. 기존 인솔 밑에 깔면 신발 재질에 따라 신을 때 흘러내려가는 현상을 막을 수 있다.
표현: '흘러내림을 잡아 준다'는 착용감·핏 설명(의학 효능 아님) — 단 '100% 방지·완벽 고정' 같은 단정 금지, 하단 고지 필수.
촬영: 슬립온·로퍼 1켤레로 BEFORE(뒤꿈치 들림)/AFTER 비교 GIF 3초 — 같은 신발·같은 발·같은 각도. 연출 과장 금지.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우드칩 배합 확인(대표 10/15). 재질 표기: 합성수지(E-실리폴리렌), 목분(우드칩).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 10/15: 원장 인솔 기능 관련 자문 추가, 첫 화면 노출 가능.
자문 범위는 '형태·착용 방식'으로 한정 — 원장이 '피로가 줄어든다/평발에 좋다'고 말하는 구조는 의료기기 오인 + 계약 제6조 위반.
인용문은 초안 — 원장 확정본으로 교체(임의 편집·발췌 금지). expert/doctor-collab-plan.md §2-#2.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v2 신규. 족자 RS2와 같은 '체크' 톤.
게시 조건: ① 디자인 등록번호 ② 특허 출원번호 ③ 족저압 분포 성적서(KIMCO 의뢰안 research/kimco-test-plan-2026-10-19.md). 미수령 항목은 줄 삭제.
족저압 결과는 '아치 부위 접촉면적 ○% 증가'처럼 구조 수치로만. '압력 분산으로 피로 감소' 같은 효능 해석 금지.
인솔 특허 명칭에 '자세교정'이 있으므로 명칭은 쓰지 않고 '특허 출원 제○호'만.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체험단(checklist M03): 10/12 모집 → 10/28 후기 회수, 후기·사진 사용동의서 + 개인정보 동의 필수.
화면의 인용은 '이런 결로 받으면 좋다'는 가안 — 실제 후기만 게시, 문구 임의 편집·창작 ✗(받은 원문에서 발췌만).
카드 구성: 직업·근무시간 칩 / 발 고민 칩(평발·오다리 등) / 실착 사진(신발 속 인솔 or 발) / 한 줄 + 본문 2~3줄.
질문지에 꼭 넣을 것: 직업·하루 서 있는 시간 · 발 고민 · 쓰던 신발 · 1주 착용 후 달라진 점 · 불편했던 점.
하단 '체험단 후기 — 제품 무상 제공' 고지는 카드 근처 9pt 이상.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반굽이라 재단 불필요(대표 확인 필요). 고시 취급주의의 '재단' 문구 삭제.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 10/15: M 15cm / L 17cm, 실제 사출 시 5% 편차. 상품정보고시 치수와 동일 표기.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물기·물 뿌림 연출 금지(성적서 전). 각인 없는 실물 사용. 대외 전달용 — 예산·보조금 정보 넣지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2103120" cy="329184"/>
          </a:xfrm>
          <a:prstGeom prst="roundRect">
            <a:avLst>
              <a:gd name="adj" fmla="val 13889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1887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INSOLE DETAIL v2 · 디핏 전달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아치가득 인솔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상세페이지 기획안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4시, 발이 먼저 퇴근하고 싶을 때.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754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21,500원 · 반굽 M 15cm(신발 220~255) / L 17cm(260~280) · 그레이 / 모카무스 · 국내 생산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CUT · 860px 세로형 · 스마트스토어 상세 = 와디즈 스토리 소스 · 오픈 11/11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2026-10-19 · ㈜알앤디메이커스 → 디핏파트너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(10/15) → v2 (10/19) 바뀐 점 — 디자이너 필독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881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737360"/>
                <a:gridCol w="667512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v2 확정 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히어로 비주얼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키비주얼 사용 (모카무스 인솔 · 흰 티 모델 · 라임 글로우) · 텍스트 최소화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10/16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컬러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2종 — 그레이 · 모카무스 (ICUT 13 컬러칩)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10/16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인솔 측면 'RHARA SHOE' 각인 없음 — 이미지·연출에 넣지 말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10/16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뒤꿈치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'뒤꿈치 컵' → '뒤꿈치 링 컵' (가운데 비운 링 구조)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실물 · 키비주얼 아이콘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ICUT 11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블록 — 디자인 등록 · 특허 출원 · 족저압 분포 시험 (🔒 번호·성적서 수령 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KIMCO 의뢰안 10/19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촬영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인솔을 신은 모습 · 인솔 측면(링 컵·아치 라인)이 보이게 — 족자 RS3과 같은 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10/18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이미지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연출 이미지 사용 시 'AI 연출 이미지' 고지 · 실물 컷 나오면 교체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표시광고 가드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인솔 11/11 (워킹화 11/20 별도) · 키비주얼 하단 '2026.11.11 OPEN'은 오픈 후 삭제본으로 교체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10/18·19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ICUT 03+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 고민별 솔루션 — 평발 · 오다리 · 체형 불균형 (광고 표기는 대표 최종 수정)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10/19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ICUT 11+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써본 사람들 — 체험단 후기 (가안 → 10/28 실제 후기 교체)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10/19 · M03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1887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INSOLE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아치가득 인솔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상세페이지 16 CUT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4시, 발이 먼저 퇴근하고 싶을 때.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572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  후킹·전문의 배지(01~02) → 구조(03~08, 08 반굽) → 소재·전문의·검증(09~11) → 사용·사이즈·컬러(12~13) → 구매(14~16)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 '다른 신발용' · 워킹화와 묶지 않기 · 아치 '지지·교정' 등 효능 ✗ · 의료기기 아님 고지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 스마트스토어 상세 = 이 16 CUT / 와디즈 스토리 = 같은 소스 재구성 (리워드가 별도)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01 후킹 카피 — 확정: 2번 (10/15)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881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280160"/>
                <a:gridCol w="5486400"/>
                <a:gridCol w="3291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카피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욕망변화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아치 아래 빈 공간, 가득 채웠습니다.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ICUT 04 본문 헤드로 활용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고통자극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오후 4시, 발이 먼저 퇴근하고 싶을 때.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확정 (대표 10/15) — 히어로 · 썸네일 · 숏폼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D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욕망변화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신발 말고, 새 바닥.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짧고 강함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호기심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신발 속 깔창, 마지막으로 꺼내 본 게 언제인가요?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OK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고통자극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오후만 되면, 발바닥이 먼저 말해요.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ICUT 02 공감 헤드로 활용 (10/19 교체)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 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사회적증거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정형외과 전문의가 직접 신어 보고 의견을 준 인솔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첫 화면 배지로 사용 (대표 10/15) · 원장 검수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D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욕망변화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발바닥 모양대로, 빈틈없이.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OK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타깃 호명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하루 7시간 서 있는 당신의 신발 속.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OK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목공소 우드칩이 발밑으로 왔습니다.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OK (우드칩 확인 10/15)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신던 신발은 그대로, 바닥만 새로.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서브카피로 강등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544068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금칙어 — 교정 · 평발 · 오다리 · 자세교정 · 체형 · 족저근막염 · 통증 · 피로 감소/회복 · 치료 · 의료용 · 기능성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공산품 인솔이 교정·효능을 표방하면 의료기기 오인 광고 (판매중지·단속) + 전문의 출연 블록과 결합 시 원장 계약 제6조 위반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후킹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01 / 18   첫 화면 — 확정 키비주얼 + 전문의 자문 배지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pic>
        <p:nvPicPr>
          <p:cNvPr id="15" name="Image 0" descr="/home/user/harness-system/launch/rs/design/insole-hero/라라슈_인솔_키비주얼_최종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7904" y="1965960"/>
            <a:ext cx="1463040" cy="21945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94944" y="4325112"/>
            <a:ext cx="310896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2104" y="4398264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10/15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첫 화면 배지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설계 자문 배지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효능 문구와 분리 · 대가 표기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확정 키비주얼 (대표 10/16) — 모카무스 인솔 · 흰 티 · 라임 글로우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pic>
        <p:nvPicPr>
          <p:cNvPr id="20" name="Image 1" descr="/home/user/harness-system/launch/rs/design/insole-hero/라라슈_인솔_키비주얼_최종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47488" y="2057400"/>
            <a:ext cx="1554480" cy="214884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818888" y="4270248"/>
            <a:ext cx="20116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855464" y="427024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정형외과 전문의 이문홍 설계 자문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5001768" y="4727448"/>
            <a:ext cx="1645920" cy="256032"/>
          </a:xfrm>
          <a:prstGeom prst="roundRect">
            <a:avLst>
              <a:gd name="adj" fmla="val 10714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038344" y="472744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· 쿼드그립 아치가득 인솔</a:t>
            </a:r>
            <a:endParaRPr lang="en-US" sz="700" dirty="0"/>
          </a:p>
        </p:txBody>
      </p:sp>
      <p:sp>
        <p:nvSpPr>
          <p:cNvPr id="25" name="Text 21"/>
          <p:cNvSpPr txBox="1"/>
          <p:nvPr/>
        </p:nvSpPr>
        <p:spPr>
          <a:xfrm>
            <a:off x="4636008" y="5029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이문홍 원장은 ㈜알앤디메이커스 제품 설계 자문에 참여하고 자문료를 받았습니다.</a:t>
            </a:r>
            <a:endParaRPr lang="en-US" sz="500" dirty="0"/>
          </a:p>
        </p:txBody>
      </p:sp>
      <p:sp>
        <p:nvSpPr>
          <p:cNvPr id="26" name="Text 22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4시 장면 + 하단 전문의 배지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4시,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발이 먼저 퇴근하고 싶을 때.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신던 신발 속 바닥만 바꿔 보세요.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정형외과 전문의 이문홍 설계 자문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쿼드그립 아치가득 인솔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배지는 '설계 자문'만 · 추천·인정 ✗ · 대가 표기 같은 화면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공감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02 / 18   공감 — 오후가 되면, 발이 먼저 지친다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아치쿠션 기획안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공감 3장면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3분할 사진 + 칩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발 불편은 '고객 목소리'로만, 제품 효능 연결 ✗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아치쿠션 기획안 CUT 05 형식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36008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오후만 되면,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발바닥이 먼저 말해요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36008" y="2651760"/>
            <a:ext cx="758952" cy="1463040"/>
          </a:xfrm>
          <a:prstGeom prst="roundRect">
            <a:avLst>
              <a:gd name="adj" fmla="val 3614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72584" y="2651760"/>
            <a:ext cx="685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7시간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서서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40680" y="2651760"/>
            <a:ext cx="758952" cy="1463040"/>
          </a:xfrm>
          <a:prstGeom prst="roundRect">
            <a:avLst>
              <a:gd name="adj" fmla="val 3614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77256" y="2651760"/>
            <a:ext cx="685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계산대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45352" y="2651760"/>
            <a:ext cx="758952" cy="1463040"/>
          </a:xfrm>
          <a:prstGeom prst="roundRect">
            <a:avLst>
              <a:gd name="adj" fmla="val 3614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81928" y="2651760"/>
            <a:ext cx="685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퇴근길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계단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4636008" y="4343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발이 먼저 퇴근하고 싶은 날.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3분할 · 오래 서 있는 하루의 3장면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오후만 되면,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발바닥이 먼저 말해요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7시간 서 있는 주방,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종일 계산대 앞,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퇴근길 지하철 계단.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발바닥이 화끈, 뻐근.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오늘도 발이 먼저 퇴근하고 싶은 날.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03 / 18   제품 등장 — 쿼드그립의 구조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타사 레퍼런스는 없음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3600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아치가득 인솔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13248" y="3017520"/>
            <a:ext cx="822960" cy="1371600"/>
          </a:xfrm>
          <a:prstGeom prst="roundRect">
            <a:avLst>
              <a:gd name="adj" fmla="val 33333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49824" y="3017520"/>
            <a:ext cx="749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반굽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04688" y="2697480"/>
            <a:ext cx="566928" cy="566928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04688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논슬립패턴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윗면/아랫면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6099048" y="3200400"/>
            <a:ext cx="566928" cy="566928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99048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서포터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532120" y="3977640"/>
            <a:ext cx="566928" cy="566928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3212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통기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구멍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001768" y="4160520"/>
            <a:ext cx="566928" cy="566928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01768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반굽 인솔 탑뷰 + 아이콘 4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가지(quadgrip)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포인트를 잡았습니다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아치 라인을 따라 쿠션 가득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뒤꿈치 링 컵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논슬립 패턴 윗면/아랫면 적용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통기 구멍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쿼드그립 quadgrip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공감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03+ / 18   발 고민별 솔루션 — 평발 · 오다리 · 체형 균형 (신규)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바르너 (벤치마킹)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발 고민별 카드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평발 · O다리 · 체형 불균형을 족적/뒷모습 그림으로 나눠 보여줌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우리는 ICUT 03의 4구조와 1:1로 짝지어 해결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대표 지시 10/19 — 바르너식 고민 해결형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36008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발이라면, 아치가득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81728" y="2468880"/>
            <a:ext cx="640080" cy="731520"/>
          </a:xfrm>
          <a:prstGeom prst="roundRect">
            <a:avLst>
              <a:gd name="adj" fmla="val 4286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18304" y="2468880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족적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(아치 없음)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367528" y="2468880"/>
            <a:ext cx="1600200" cy="7315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04104" y="2468880"/>
            <a:ext cx="152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평발 — 발바닥이 통째로 닿아 금방 지침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아치 서포터가 빈 아치를 가득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4681728" y="3291840"/>
            <a:ext cx="640080" cy="731520"/>
          </a:xfrm>
          <a:prstGeom prst="roundRect">
            <a:avLst>
              <a:gd name="adj" fmla="val 4286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18304" y="3291840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뒷모습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O자 다리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5367528" y="3291840"/>
            <a:ext cx="1600200" cy="7315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04104" y="3291840"/>
            <a:ext cx="152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오다리 — 체중이 바깥으로 쏠려 바깥만 닳음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뒤꿈치 링 컵이 뒤꿈치를 감싸 고정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4681728" y="4114800"/>
            <a:ext cx="640080" cy="731520"/>
          </a:xfrm>
          <a:prstGeom prst="roundRect">
            <a:avLst>
              <a:gd name="adj" fmla="val 4286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18304" y="4114800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 있는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전신 실루엣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5367528" y="4114800"/>
            <a:ext cx="1600200" cy="7315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04104" y="4114800"/>
            <a:ext cx="152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체형 불균형 — 짝다리 · 한쪽만 닳는 신발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아치+링 컵으로 좌우 바닥을 고르게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4681728" y="4937760"/>
            <a:ext cx="2286000" cy="411480"/>
          </a:xfrm>
          <a:prstGeom prst="roundRect">
            <a:avLst>
              <a:gd name="adj" fmla="val 6667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18304" y="493776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발이 바로 서야, 몸이 바로 섭니다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고민 3카드 (그림 | 고민 | 해결 구조) + 하단 한 줄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평발 · 오다리 · 체형 불균형,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발바닥부터 바로잡습니다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평발 — 무너진 아치를 가득 받쳐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오다리 — 바깥으로 쏠리는 뒤꿈치를 잡아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체형 불균형 — 좌우 바닥을 고르게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발이 바로 서야, 몸이 바로 섭니다.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체형교정의 시작은 발바닥부터.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⚖️ 대표 표기 수정 예정(10/19) — 교정·평발·오다리 효능 표현은 의료기기 오인 광고 소지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04 / 18   POINT 01 · 아치 아래 빈 공간, 가득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기획안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측면 곡선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 높이를 선으로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측면 실루엣 + 곡선 하이라이트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아치쿠션 기획안 측면 단면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01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 아래 빈 공간, 가득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27448" y="2971800"/>
            <a:ext cx="2194560" cy="822960"/>
          </a:xfrm>
          <a:prstGeom prst="roundRect">
            <a:avLst>
              <a:gd name="adj" fmla="val 3333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64024" y="297180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측면 실루엣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93208" y="2971800"/>
            <a:ext cx="1280160" cy="0"/>
          </a:xfrm>
          <a:prstGeom prst="line">
            <a:avLst/>
          </a:prstGeom>
          <a:noFill/>
          <a:ln w="38100">
            <a:solidFill>
              <a:srgbClr val="C6F4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36008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 아치 라인을 따라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채우는 형태로 설계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 측면 실루엣 + 라임 곡선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 아래 빈 공간,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가득 채웠습니다.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 아치 라인을 따라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채우는 형태로 설계했습니다.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'아치 지지·교정·평발 개선' ✗ — 형태 설명만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05 / 18   POINT 02 · 쿼드그립 4점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라임 4점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보행 궤적 4점 배치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같은 4점 그래픽으로 패밀리룩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워킹화 CUT 07~08 그래픽 재사용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02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워킹화의 4점을 인솔에도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13248" y="2880360"/>
            <a:ext cx="822960" cy="1645920"/>
          </a:xfrm>
          <a:prstGeom prst="roundRect">
            <a:avLst>
              <a:gd name="adj" fmla="val 33333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96128" y="4160520"/>
            <a:ext cx="228600" cy="22860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24728" y="3749040"/>
            <a:ext cx="228600" cy="22860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70448" y="3291840"/>
            <a:ext cx="228600" cy="22860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50408" y="3017520"/>
            <a:ext cx="228600" cy="22860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 바닥면 4점 하이라이트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워킹화의 4점을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인솔에도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4점 배치를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인솔에 그대로 담았습니다.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🔒 반굽 인솔 4점 실제 위치·패드 재질 확인 후 문구 확정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06 / 18   POINT 03 · 뒤꿈치 링 컵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행택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뒤꿈치 컵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뒤꿈치를 감싸는 컵 형태 구조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깊이 mm 숫자 하나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행택 핵심기능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910328" y="2514600"/>
            <a:ext cx="1828800" cy="1554480"/>
          </a:xfrm>
          <a:prstGeom prst="roundRect">
            <a:avLst>
              <a:gd name="adj" fmla="val 1765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46904" y="251460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 컵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3/4 클로즈업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373368" y="26060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7336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[mm]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뒤꿈치를 감싸는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 형태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 3/4 클로즈업 + 깊이 표기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뒤꿈치를 감싸는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 컵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가운데를 비운 링 구조로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뒤꿈치를 감싸는 형태입니다.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07 / 18   POINT 04 · 통기 도트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행택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통기 도트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도트 패턴으로 통기 구조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매크로 1컷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행택 핵심기능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04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27448" y="2514600"/>
            <a:ext cx="2194560" cy="1645920"/>
          </a:xfrm>
          <a:prstGeom prst="roundRect">
            <a:avLst>
              <a:gd name="adj" fmla="val 1667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64024" y="2514600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 도트 매크로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도트 패턴으로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통기 구조를 더했습니다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 매크로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통기 도트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도트 패턴으로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통기 구조를 더했습니다.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'땀·냄새·항균' 효능 ✗ (시험 없음)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08 / 18   POINT 05 · 반굽 — 쓰던 깔창 밑에 한 장 더 (신규)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코멘트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반굽 길이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인솔 밑에 깔면 신발 재질에 따라 신을 때 흘러내리는 현상을 막는다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겹침 단면도 + 전/후 GIF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대표 10/15 — 반굽 인솔 겹쳐 쓰기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8968" y="2075688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58968" y="2075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05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쓰던 깔창 밑에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더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73168" y="2834640"/>
            <a:ext cx="21031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9744" y="28346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쓰던 깔창 (위)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773168" y="3136392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9744" y="313639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아치가득 반굽 (아래)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4773168" y="3438144"/>
            <a:ext cx="2103120" cy="228600"/>
          </a:xfrm>
          <a:prstGeom prst="roundRect">
            <a:avLst>
              <a:gd name="adj" fmla="val 1200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09744" y="3438144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 바닥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681728" y="3840480"/>
            <a:ext cx="1097280" cy="914400"/>
          </a:xfrm>
          <a:prstGeom prst="roundRect">
            <a:avLst>
              <a:gd name="adj" fmla="val 300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18304" y="3840480"/>
            <a:ext cx="1024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뒤꿈치가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헐겁게 빠짐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870448" y="3840480"/>
            <a:ext cx="1097280" cy="914400"/>
          </a:xfrm>
          <a:prstGeom prst="roundRect">
            <a:avLst>
              <a:gd name="adj" fmla="val 3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07024" y="3840480"/>
            <a:ext cx="1024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공간이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채워짐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4636008" y="4846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 15cm · L 17cm 반굽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겹침 단면도 (신발 · 기존 깔창 · 아치가득) + 뒤꿈치 GIF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쓰던 깔창 밑에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더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뒤꿈치부터 아치까지 오는 반굽 길이라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쓰는 깔창 밑에 겹쳐 깔 수 있습니다.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 속 빈 공간이 채워져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신을 때 신발이 헐겁게 흘러내리는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느낌을 잡아 줍니다.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하단 고지: 신발 형태·재질에 따라 착용감이 다를 수 있습니다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E9C7E"/>
          </a:solidFill>
          <a:ln w="12700">
            <a:solidFill>
              <a:srgbClr val="7E9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09 / 18   소재 — 목공소에서 온 우드칩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팩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새활용 서사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버려지던 자투리 → 소재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3단 그래픽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워킹화 CUT 18 From Road to Floor와 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3600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목공소에서 온 우드칩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27448" y="2697480"/>
            <a:ext cx="594360" cy="594360"/>
          </a:xfrm>
          <a:prstGeom prst="ellipse">
            <a:avLst/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27448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목공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자투리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532120" y="2697480"/>
            <a:ext cx="594360" cy="594360"/>
          </a:xfrm>
          <a:prstGeom prst="ellipse">
            <a:avLst/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3212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우드칩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327648" y="2697480"/>
            <a:ext cx="594360" cy="59436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7648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4636008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E-실리폴리렌에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목공소 자투리 우드칩을 배합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환경부 새활용 산업 육성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지원사업 수행 기업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자투리 → 우드칩 → 인솔 3단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목공소에서 온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우드칩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E-실리폴리렌에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목공소 자투리 우드칩을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배합했습니다.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'환경부 인증·무공해' ✗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E9C7E"/>
          </a:solidFill>
          <a:ln w="12700">
            <a:solidFill>
              <a:srgbClr val="7E9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10 / 18   정형외과 전문의 설계 자문 — 인솔 형태·착용 방식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촬영 D3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족부 모형 + 인솔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모형 옆에 반굽 인솔을 대어 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X-ray ✗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워킹화 08+와 같은 형식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2103120"/>
            <a:ext cx="2286000" cy="1051560"/>
          </a:xfrm>
          <a:prstGeom prst="roundRect">
            <a:avLst>
              <a:gd name="adj" fmla="val 2609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2103120"/>
            <a:ext cx="221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 족부 모형 옆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반굽 아치가득 인솔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81728" y="3227832"/>
            <a:ext cx="2286000" cy="23774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18304" y="322783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아치 라인을 채우는 형태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81728" y="3502152"/>
            <a:ext cx="2286000" cy="23774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18304" y="350215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뒤꿈치 컵 깊이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681728" y="3776472"/>
            <a:ext cx="2286000" cy="23774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18304" y="377647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반굽 길이 · 깔창 밑 겹쳐 쓰는 방식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40873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"아치 라인을 채우는 형태와 뒤꿈치 컵 깊이,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깔창 밑에 겹쳐 쓰는 방식을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착용해 보고 의견을 드렸습니다."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47091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정형외과 전문의 이문홍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4636008" y="4937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이문홍 원장은 ㈜알앤디메이커스 제품 설계 자문에 참여하고 자문료를 받았습니다.</a:t>
            </a:r>
            <a:endParaRPr lang="en-US" sz="500" dirty="0"/>
          </a:p>
        </p:txBody>
      </p:sp>
      <p:sp>
        <p:nvSpPr>
          <p:cNvPr id="30" name="Text 28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 컷 + 자문 포인트 3 + 인용 + 대가 표기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정형외과 전문의가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신어 보고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의견을 주었습니다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 라인을 채우는 형태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 컵 깊이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깔창 밑에 겹쳐 쓰는 방식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정형외과 전문의 이문홍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자문 = 형태·착용 방식 · 효능(피로·교정·평발) ✗ · 원장 검수본만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E9C7E"/>
          </a:solidFill>
          <a:ln w="12700">
            <a:solidFill>
              <a:srgbClr val="7E9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11 / 18   검증 — 디자인 등록 · 특허 출원 · 족저압 분포 시험 (신규)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ip-status.md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IP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 디자인 등록 완료 · 특허 출원 완료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번호 표기 필수 (번호 없이 '특허' ✗)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KIMCO 의뢰안 10/19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족저압 분포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 전/후 비교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구조 수치만 · 효능 해석 ✗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족자 RS2 체크리스트와 같은 형식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2148840"/>
            <a:ext cx="2286000" cy="365760"/>
          </a:xfrm>
          <a:prstGeom prst="roundRect">
            <a:avLst>
              <a:gd name="adj" fmla="val 750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18304" y="21488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디자인 등록 제30-○○○○호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81728" y="2587752"/>
            <a:ext cx="2286000" cy="365760"/>
          </a:xfrm>
          <a:prstGeom prst="roundRect">
            <a:avLst>
              <a:gd name="adj" fmla="val 750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18304" y="258775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특허 출원 제10-2026-○○○○호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681728" y="3026664"/>
            <a:ext cx="2286000" cy="365760"/>
          </a:xfrm>
          <a:prstGeom prst="roundRect">
            <a:avLst>
              <a:gd name="adj" fmla="val 750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18304" y="302666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족저압 분포 시험 (기관 · 일자)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681728" y="3520440"/>
            <a:ext cx="1097280" cy="1188720"/>
          </a:xfrm>
          <a:prstGeom prst="roundRect">
            <a:avLst>
              <a:gd name="adj" fmla="val 250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18304" y="3520440"/>
            <a:ext cx="1024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족저압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히트맵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870448" y="3520440"/>
            <a:ext cx="1097280" cy="1188720"/>
          </a:xfrm>
          <a:prstGeom prst="roundRect">
            <a:avLst>
              <a:gd name="adj" fmla="val 25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07024" y="3520440"/>
            <a:ext cx="1024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 접촉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○% ↑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4636008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조건 · 기관 · 일자 표기 / 의료기기 아님</a:t>
            </a:r>
            <a:endParaRPr lang="en-US" sz="600" dirty="0"/>
          </a:p>
        </p:txBody>
      </p:sp>
      <p:sp>
        <p:nvSpPr>
          <p:cNvPr id="32" name="Text 30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 3줄 + 족저압 전/후 히트맵 자리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말이 아니라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기록으로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등록 · 특허 출원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족저압 분포 시험 (착용 전/후)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시험 조건과 기관을 함께 표기합니다.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🔒 성적서·번호 수령 후에만 게시 · '통증·피로·교정' 해석 ✗ · 특허명('자세교정') 노출 ✗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E9C7E"/>
          </a:solidFill>
          <a:ln w="12700">
            <a:solidFill>
              <a:srgbClr val="7E9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11+ / 18   먼저 써본 사람들 — 실착 체험단 후기 (신규)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체험단 M03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후기·사진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직업 · 근무시간 · 발 고민 + 실착 사진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같은 처지 사람 목소리가 가장 센 증거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스마트스토어/와디즈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포토리뷰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 요약 + 포토 카드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직업 칩으로 '나 같은 사람' 찾게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checklist M03 · 실착 체험단(조리 종사자) 10/28 회수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2075688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18304" y="207568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[평균 별점] · 체험단 [N]명 실착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81728" y="2560320"/>
            <a:ext cx="1115568" cy="822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18304" y="2560320"/>
            <a:ext cx="1042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[조리사 · 10시간]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"마감 때 발바닥이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덜 뻐근해요"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5852160" y="2560320"/>
            <a:ext cx="1115568" cy="822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88736" y="2560320"/>
            <a:ext cx="1042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[매장 판매직]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"아치가 꽉 차는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느낌이 좋아요"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681728" y="3456432"/>
            <a:ext cx="1115568" cy="822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18304" y="3456432"/>
            <a:ext cx="1042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[평발]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"아치를 딱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받쳐줘요"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5852160" y="3456432"/>
            <a:ext cx="1115568" cy="822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888736" y="3456432"/>
            <a:ext cx="1042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[오다리]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"뒤꿈치가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덜 쏠려요"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4681728" y="4352544"/>
            <a:ext cx="1115568" cy="822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18304" y="4352544"/>
            <a:ext cx="1042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[간호사]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"운동화에 겹쳐도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껴요"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5852160" y="4352544"/>
            <a:ext cx="1115568" cy="822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88736" y="4352544"/>
            <a:ext cx="1042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[물류 · 택배]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"신발 속에서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밀려요"</a:t>
            </a:r>
            <a:endParaRPr lang="en-US" sz="600" dirty="0"/>
          </a:p>
        </p:txBody>
      </p:sp>
      <p:sp>
        <p:nvSpPr>
          <p:cNvPr id="35" name="Text 33"/>
          <p:cNvSpPr txBox="1"/>
          <p:nvPr/>
        </p:nvSpPr>
        <p:spPr>
          <a:xfrm>
            <a:off x="4636008" y="5212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체험단 후기 — 제품 무상 제공 · 개인차 있음</a:t>
            </a:r>
            <a:endParaRPr lang="en-US" sz="600" dirty="0"/>
          </a:p>
        </p:txBody>
      </p:sp>
      <p:sp>
        <p:nvSpPr>
          <p:cNvPr id="36" name="Text 34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 요약 + 후기 카드 6 (직업·고민 칩 + 실착 사진)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신어 본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사람들의 이야기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"마감 때쯤 발바닥이 덜 뻐근했어요."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주방 조리사 · 하루 10시간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"평발이라 깔창 여럿 써봤는데,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아치를 딱 받쳐줘요."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매장 판매직 · 평발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🔒 문구는 가안 — 10/28 체험단 실제 후기로 교체 · 무상 제공 고지 함께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12 / 18   이렇게 쓰세요 — 깔창 밑에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반굽 인솔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겹쳐 쓰기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쓰던 깔창 들기 → 밑에 깔기 → 다시 덮기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재단 불필요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사용 3스텝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27448" y="2240280"/>
            <a:ext cx="594360" cy="59436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27448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깔창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들기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5532120" y="2240280"/>
            <a:ext cx="594360" cy="59436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뒤꿈치에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맞춰 깔기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6327648" y="2240280"/>
            <a:ext cx="594360" cy="59436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27648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깔창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덮기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4681728" y="3017520"/>
            <a:ext cx="2286000" cy="1280160"/>
          </a:xfrm>
          <a:prstGeom prst="roundRect">
            <a:avLst>
              <a:gd name="adj" fmla="val 2143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18304" y="301752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 속 단면 사진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(뒤꿈치 끝에 맞춘 반굽)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4434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깔창이 없는 신발엔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아치가득만 단독으로 넣어도 됩니다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3스텝 사진 + 단독 사용 안내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쓰던 깔창 밑에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깔기만 하세요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쓰던 깔창을 들고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뒤꿈치 끝에 맞춰 깔고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깔창을 다시 덮으면 끝.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자를 필요 없습니다.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🔒 단독 사용 권장 여부 대표 확인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13 / 18   사이즈 M · L + 컬러 2종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사이즈표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발길이 범위 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M/L 2칸 표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슈니엘 #23 FAQ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2240280"/>
            <a:ext cx="1097280" cy="1097280"/>
          </a:xfrm>
          <a:prstGeom prst="roundRect">
            <a:avLst>
              <a:gd name="adj" fmla="val 25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2240280"/>
            <a:ext cx="1024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 15cm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 220~255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870448" y="2240280"/>
            <a:ext cx="1097280" cy="1097280"/>
          </a:xfrm>
          <a:prstGeom prst="roundRect">
            <a:avLst>
              <a:gd name="adj" fmla="val 25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07024" y="2240280"/>
            <a:ext cx="1024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 17cm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 260~280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사출 특성상 ±5% 편차가 있을 수 있습니다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4681728" y="3840480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18304" y="384048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경계 사이즈면?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81728" y="4315968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18304" y="431596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물로 씻어도 되나요?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M/L 표 + 편차 고지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 · L / 그레이 · 모카무스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 길이 15cm · 신발 220~255mm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 길이 17cm · 신발 260~280mm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컬러 2종 — 그레이 · 모카무스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사출 특성상 ±5% 편차가 있을 수 있습니다.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경계 사이즈(255/260) 안내 문구 대표 확인 · 컬러칩은 실물 촬영 색 기준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공감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14 / 18   이런 분께 + 워킹화엔 필요 없어요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1페이지 마케팅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⑧ 교차판매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워킹화엔 깔창 필요 없음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그래서 '다른 신발용'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역설 메시지 (스레드 실측 반응 좋음)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2148840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21488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오래 서 있거나 걷는 일이 많다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81728" y="2606040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18304" y="26060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신을 때 신발이 헐겁게 빠진다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81728" y="3063240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18304" y="30632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평발 · 오다리라 신발이 한쪽만 닳는다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81728" y="3520440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18304" y="35204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새 신발 대신 바닥만 바꾸고 싶다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81728" y="4069080"/>
            <a:ext cx="2286000" cy="868680"/>
          </a:xfrm>
          <a:prstGeom prst="roundRect">
            <a:avLst>
              <a:gd name="adj" fmla="val 3158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18304" y="406908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워킹화엔 필요 없어요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깔창 없는 일체형이니까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 보러 가기 →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 4줄 + 하단 워킹화 배너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해당되면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오래 서 있거나 걷는 일이 많다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신을 때 신발이 헐겁게 빠진다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평발 · 오다리라 신발이 한쪽만 닳는다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새 신발 대신 바닥만 바꾸고 싶다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워킹화엔 필요 없어요.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15 / 18   스펙 · 주의 · 상품정보고시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고시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구두/신발 + 패션잡화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유형 모두 채움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박스·행택 표기와 1:1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content/insole-product-info-notice.md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2103120"/>
            <a:ext cx="2286000" cy="141732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2103120"/>
            <a:ext cx="221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(반굽)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재질: 합성수지(E-실리폴리렌), 목분(우드칩)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 15cm · L 17cm (±5%) · 그레이 / 모카무스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제조국 대한민국 · ㈜알앤디메이커스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고객센터 0507-1317-2516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681728" y="3657600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18304" y="365760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고온·직사광선 ✗ · 건조기·표백제 ✗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깔창 용도 외 사용 ✗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81728" y="4343400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18304" y="434340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제품은 의료기기가 아닙니다.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표 + 주의 + 의료기기 아님 고지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SPEC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합성수지(E-실리폴리렌), 목분(우드칩)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 15cm · L 17cm (±5%)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그레이 / 모카무스 · 대한민국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제품은 의료기기가 아닙니다.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🔴 고시 빈칸(모델명·보증 일수·CS 시간) 채운 뒤 확정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16 / 18   구성 · 엔딩 — Made for Standing.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가격안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1·2·3·4개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운동화 하나, 출근화 하나 / 가족 / 우리 가게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스마트스토어는 1개 21,500 + 묶음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와디즈 리워드 구성 (I1~I4)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2148840"/>
            <a:ext cx="1097280" cy="731520"/>
          </a:xfrm>
          <a:prstGeom prst="roundRect">
            <a:avLst>
              <a:gd name="adj" fmla="val 375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2148840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21,500원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870448" y="2148840"/>
            <a:ext cx="1097280" cy="731520"/>
          </a:xfrm>
          <a:prstGeom prst="roundRect">
            <a:avLst>
              <a:gd name="adj" fmla="val 375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07024" y="2148840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운동화+출근화</a:t>
            </a:r>
            <a:endParaRPr lang="en-US" sz="700" dirty="0"/>
          </a:p>
        </p:txBody>
      </p:sp>
      <p:pic>
        <p:nvPicPr>
          <p:cNvPr id="23" name="Image 0" descr="/home/user/harness-system/launch/rs/design/detail-walking/img/rs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04688" y="3429000"/>
            <a:ext cx="640080" cy="539496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4636008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Made for Standing.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카드 + 로고 락업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Made for Standing.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 21,500원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 — 운동화 하나, 출근화 하나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· RhaRa Shoe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와디즈 펀딩가는 별도 (wadiz-reward-pricing.md) · 할인 표기 ✗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 촬영 리스트 · 전달 자료 · 일정</a:t>
            </a:r>
            <a:endParaRPr lang="en-US" sz="2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881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035040"/>
                <a:gridCol w="2377440"/>
                <a:gridCol w="16459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쓰이는 곳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IS-01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인솔을 신은(밟은) 모습 · 인솔 측면(링 컵·아치 라인) — 그레이/모카무스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ICUT 01 대체 · 04 · 족자 RS3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10/28 촬영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IS-02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인솔 단독 탑뷰 · M/L 나란히 · 2컬러 (45°)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ICUT 03 · 13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IS-03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측면 실루엣 (아치 곡선 하이라이트용, 흰 배경)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ICUT 04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IS-04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뒤꿈치 링 컵 3/4 클로즈업 · 깊이 mm 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ICUT 06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IS-05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쓰던 깔창 밑에 겹쳐 깔기 3스텝 + BEFORE/AFTER 3초 GIF (같은 신발·발·각도)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ICUT 08 · 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IS-06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족부 모형 옆 반굽 인솔 (원장 D3, X-ray ✗)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ICUT 10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원장 일정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키비주얼 PNG · RS 로고 벡터 · 행택/박스 문안 · 상품정보고시 · 원장 확정 인용문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디핏 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촬영 10/28 → 1차 시안 11/3 → 수정 11/6 → 최종 11/8 → 오픈 11/11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RhaRa Shoe Detail">
  <a:themeElements>
    <a:clrScheme name="RhaRa Shoe Detail">
      <a:dk1>
        <a:srgbClr val="232323"/>
      </a:dk1>
      <a:lt1>
        <a:srgbClr val="FFFFFF"/>
      </a:lt1>
      <a:dk2>
        <a:srgbClr val="0D0D0D"/>
      </a:dk2>
      <a:lt2>
        <a:srgbClr val="F1F1F1"/>
      </a:lt2>
      <a:accent1>
        <a:srgbClr val="C6F432"/>
      </a:accent1>
      <a:accent2>
        <a:srgbClr val="3D4A12"/>
      </a:accent2>
      <a:accent3>
        <a:srgbClr val="FF6B3D"/>
      </a:accent3>
      <a:accent4>
        <a:srgbClr val="7E9C7E"/>
      </a:accent4>
      <a:accent5>
        <a:srgbClr val="A8CF8A"/>
      </a:accent5>
      <a:accent6>
        <a:srgbClr val="C2F0B8"/>
      </a:accent6>
      <a:hlink>
        <a:srgbClr val="3D4A12"/>
      </a:hlink>
      <a:folHlink>
        <a:srgbClr val="7E9C7E"/>
      </a:folHlink>
    </a:clrScheme>
    <a:fontScheme name="RhaRa Shoe Detail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라라슈 상세페이지 제작 기획서 v2 (디핏파트너 전달용)</dc:title>
  <dc:subject>PptxGenJS Presentation</dc:subject>
  <dc:creator>RhaRa Shoe</dc:creator>
  <cp:lastModifiedBy>RhaRa Shoe</cp:lastModifiedBy>
  <cp:revision>1</cp:revision>
  <dcterms:created xsi:type="dcterms:W3CDTF">2026-10-19T04:21:40Z</dcterms:created>
  <dcterms:modified xsi:type="dcterms:W3CDTF">2026-10-19T04:21:40Z</dcterms:modified>
</cp:coreProperties>
</file>