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828e976c-0351-2c25-50c8-76c72b948ec3}">
          <p14:sldIdLst>
            <p14:sldId id="256"/>
            <p14:sldId id="257"/>
          </p14:sldIdLst>
        </p14:section>
        <p14:section name="인솔" id="{9b5b3de3-6012-2b2c-809d-b6c25c880254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실행" id="{500cb594-bb8d-3a55-df12-e5f2af34abcb}">
          <p14:sldIdLst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= 10/15 v1 이후 대표 확정 사항 반영본. 금칙어·전문의 가드는 v1과 동일(다음 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요청: 오다리·평발·자세교정·발피로 저감에 적합한 후킹 → 그대로는 불가(의료기기법·표시광고법). 대체 카피 10안. 근거·대체 문장표: content/insole-detail-plan.md §0~1.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v2(10/19): 히어로 = 확정 키비주얼(design/insole-hero/라라슈_인솔_키비주얼_최종.png). 텍스트는 대표 지시대로 최소화 — 헤드라인 + 아이콘 3(우드칩 배합 · 뒤꿈치 링 컵 · MADE IN KOREA)만. 하단 'AI 연출 이미지 · 의료기기 아님' 고지 유지. 인솔 측면 각인 없음(이미지 수정 완료).
확정 후킹(대표 10/15): '오후 4시, 발이 먼저 퇴근하고 싶을 때.' — 효능 대신 상황 묘사.
전문의 배지: 대표 10/15 첫 화면 노출 OK → 원장 서면 승인(계약 제7조) 후 게시. 배지 문구는 '설계 자문'으로 고정, '추천·인정·보증' 금지.
비주얼: 오후 햇빛 + 벽시계 4시 + 신발 뒤축을 살짝 빼는 발(얼굴 없음). 인솔은 ICUT 02 끝에서 처음 등장.
숏폼 비트컷: 0.0s 시계 4시 → 0.5s 신발 뒤축 빼는 발 → 1.0s 신발 속 납작한 깔창 → 1.5s 아치가득 인솔 꺼내기.
인솔은 '다른 신발용' — 워킹화와 묶는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공감 축 = '발이 힘든 하루'(신발 아까움 ✗, 대표 지적 10/19). 발 불편은 고객 1인칭 상황 묘사로만 — '통증·평발·족저근막' 등 의학 단어 ✗, 다음 컷에서 '편해집니다/완화' 같은 효능 연결 ✗. 사진은 발·종아리 클로즈업 + 서 있는 현장(얼굴 연출 자유). 다음 CUT 03 제품 등장은 '그래서 신발 속 바닥부터' 톤으로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반굽(15/17cm) 인솔에서 4점이 어디에 있는지 실물 사진으로 확인.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v2: 실물 = 뒤꿈치 가운데가 뚫린 링 구조 → '링 컵'으로 통일(키비주얼 아이콘과 동일). 깊이 mm 실측 있으면 원형 라벨.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아치가득 = 반굽(뒤꿈치~아치) 인솔. 기존 인솔 밑에 깔면 신발 재질에 따라 신을 때 흘러내려가는 현상을 막을 수 있다.
표현: '흘러내림을 잡아 준다'는 착용감·핏 설명(의학 효능 아님) — 단 '100% 방지·완벽 고정' 같은 단정 금지, 하단 고지 필수.
촬영: 슬립온·로퍼 1켤레로 BEFORE(뒤꿈치 들림)/AFTER 비교 GIF 3초 — 같은 신발·같은 발·같은 각도. 연출 과장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우드칩 배합 확인(대표 10/15). 재질 표기: 합성수지(E-실리폴리렌), 목분(우드칩).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원장 인솔 기능 관련 자문 추가, 첫 화면 노출 가능.
자문 범위는 '형태·착용 방식'으로 한정 — 원장이 '피로가 줄어든다/평발에 좋다'고 말하는 구조는 의료기기 오인 + 계약 제6조 위반.
인용문은 초안 — 원장 확정본으로 교체(임의 편집·발췌 금지). expert/doctor-collab-plan.md §2-#2.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v2 신규. 족자 RS2와 같은 '체크' 톤.
게시 조건: ① 디자인 등록번호 ② 특허 출원번호 ③ 족저압 분포 성적서(KIMCO 의뢰안 research/kimco-test-plan-2026-10-19.md). 미수령 항목은 줄 삭제.
족저압 결과는 '아치 부위 접촉면적 ○% 증가'처럼 구조 수치로만. '압력 분산으로 피로 감소' 같은 효능 해석 금지.
인솔 특허 명칭에 '자세교정'이 있으므로 명칭은 쓰지 않고 '특허 출원 제○호'만.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반굽이라 재단 불필요(대표 확인 필요). 고시 취급주의의 '재단' 문구 삭제.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10/15: M 15cm / L 17cm, 실제 사출 시 5% 편차. 상품정보고시 치수와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물기·물 뿌림 연출 금지(성적서 전). 각인 없는 실물 사용. 대외 전달용 — 예산·보조금 정보 넣지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210312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INSOLE DETAIL v2 · 디핏 전달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기획안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7548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· 반굽 M 15cm(신발 220~255) / L 17cm(260~280) · 그레이 / 모카무스 · 국내 생산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CUT · 860px 세로형 · 스마트스토어 상세 = 와디즈 스토리 소스 · 오픈 11/11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2026-10-19 · ㈜알앤디메이커스 → 디핏파트너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(10/15) → v2 (10/19) 바뀐 점 — 디자이너 필독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737360"/>
                <a:gridCol w="6675120"/>
                <a:gridCol w="2011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확정 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히어로 비주얼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키비주얼 사용 (모카무스 인솔 · 흰 티 모델 · 라임 글로우) · 텍스트 최소화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2종 — 그레이 · 모카무스 (ICUT 13 컬러칩)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'RHARA SHOE' 각인 없음 — 이미지·연출에 넣지 말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뒤꿈치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'뒤꿈치 컵' → '뒤꿈치 링 컵' (가운데 비운 링 구조)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실물 · 키비주얼 아이콘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ICUT 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블록 — 디자인 등록 · 특허 출원 · 족저압 분포 시험 (🔒 번호·성적서 수령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KIMCO 의뢰안 10/19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인솔을 신은 모습 · 인솔 측면(링 컵·아치 라인)이 보이게 — 족자 RS3과 같은 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연출 이미지 사용 시 'AI 연출 이미지' 고지 · 실물 컷 나오면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표시광고 가드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오픈일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11/11 (워킹화 11/20 별도) · 키비주얼 하단 '2026.11.11 OPEN'은 오픈 후 삭제본으로 교체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10/18·19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16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 발이 먼저 퇴근하고 싶을 때.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후킹·전문의 배지(01~02) → 구조(03~08, 08 반굽) → 소재·전문의·검증(09~11) → 사용·사이즈·컬러(12~13) → 구매(14~16)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16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후킹 카피 — 확정: 2번 (10/15)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54864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카피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아치 아래 빈 공간, 가득 채웠습니다.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 본문 헤드로 활용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 4시, 발이 먼저 퇴근하고 싶을 때.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확정 (대표 10/15) — 히어로 · 썸네일 · 숏폼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신발 말고, 새 바닥.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짧고 강함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호기심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신발 속 깔창, 마지막으로 꺼내 본 게 언제인가요?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고통자극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오후만 되면, 발바닥이 먼저 말해요.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02 공감 헤드로 활용 (10/19 교체)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사회적증거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정형외과 전문의가 직접 신어 보고 의견을 준 인솔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첫 화면 배지로 사용 (대표 10/15) · 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BD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욕망변화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발바닥 모양대로, 빈틈없이.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타깃 호명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하루 7시간 서 있는 당신의 신발 속.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목공소 우드칩이 발밑으로 왔습니다.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 (우드칩 확인 10/15)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신던 신발은 그대로, 바닥만 새로.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서브카피로 강등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44068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금칙어 — 교정 · 평발 · 오다리 · 자세교정 · 체형 · 족저근막염 · 통증 · 피로 감소/회복 · 치료 · 의료용 · 기능성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공산품 인솔이 교정·효능을 표방하면 의료기기 오인 광고 (판매중지·단속) + 전문의 출연 블록과 결합 시 원장 계약 제6조 위반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16   첫 화면 — 확정 키비주얼 + 전문의 자문 배지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insole-hero/라라슈_인솔_키비주얼_최종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19456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25112"/>
            <a:ext cx="3108960" cy="1115568"/>
          </a:xfrm>
          <a:prstGeom prst="roundRect">
            <a:avLst>
              <a:gd name="adj" fmla="val 491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398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10/15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첫 화면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설계 자문 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효능 문구와 분리 · 대가 표기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확정 키비주얼 (대표 10/16) — 모카무스 인솔 · 흰 티 · 라임 글로우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pic>
        <p:nvPicPr>
          <p:cNvPr id="20" name="Image 1" descr="/home/user/harness-system/launch/rs/design/insole-hero/라라슈_인솔_키비주얼_최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47488" y="2057400"/>
            <a:ext cx="1554480" cy="214884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4818888" y="4270248"/>
            <a:ext cx="201168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855464" y="4270248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700" dirty="0"/>
          </a:p>
        </p:txBody>
      </p:sp>
      <p:sp>
        <p:nvSpPr>
          <p:cNvPr id="23" name="Shape 19"/>
          <p:cNvSpPr/>
          <p:nvPr/>
        </p:nvSpPr>
        <p:spPr>
          <a:xfrm>
            <a:off x="5001768" y="4727448"/>
            <a:ext cx="1645920" cy="256032"/>
          </a:xfrm>
          <a:prstGeom prst="roundRect">
            <a:avLst>
              <a:gd name="adj" fmla="val 10714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38344" y="4727448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 장면 + 하단 전문의 배지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 속 바닥만 바꿔 보세요.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이문홍 설계 자문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배지는 '설계 자문'만 · 추천·인정 ✗ · 대가 표기 같은 화면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16   공감 — 오후가 되면, 발이 먼저 지친다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 불편은 '고객 목소리'로만, 제품 효능 연결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오후만 되면,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발바닥이 먼저 말해요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7시간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지하철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싶은 날.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오래 서 있는 하루의 3장면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오후만 되면,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발바닥이 먼저 말해요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7시간 서 있는 주방,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계산대 앞,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지하철 계단.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발바닥이 화끈, 뻐근.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오늘도 발이 먼저 퇴근하고 싶은 날.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16   제품 등장 — 5가지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+ 반굽 길이 추가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+ 반굽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13248" y="3017520"/>
            <a:ext cx="822960" cy="137160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9824" y="3017520"/>
            <a:ext cx="749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51460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514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337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550408" y="448056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550408" y="4480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 탑뷰 + 아이콘 5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길이 — 쓰던 깔창 밑에도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링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'4점'·'통기 도트'는 실물 확인 후 — 미확인 시 3가지로 축소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16   POINT 01 ·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16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880360"/>
            <a:ext cx="822960" cy="1645920"/>
          </a:xfrm>
          <a:prstGeom prst="roundRect">
            <a:avLst>
              <a:gd name="adj" fmla="val 3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160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7490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0408" y="301752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반굽 인솔 4점 실제 위치·패드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16   POINT 03 · 뒤꿈치 링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가운데를 비운 링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형태입니다.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16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16   POINT 05 · 반굽 — 쓰던 깔창 밑에 한 장 더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코멘트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반굽 길이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인솔 밑에 깔면 신발 재질에 따라 신을 때 흘러내리는 현상을 막는다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겹침 단면도 + 전/후 GIF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대표 10/15 — 반굽 인솔 겹쳐 쓰기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075688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0756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73168" y="2834640"/>
            <a:ext cx="2103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9744" y="283464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쓰던 깔창 (위)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773168" y="3136392"/>
            <a:ext cx="118872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9744" y="3136392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아치가득 반굽 (아래)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773168" y="3438144"/>
            <a:ext cx="2103120" cy="228600"/>
          </a:xfrm>
          <a:prstGeom prst="roundRect">
            <a:avLst>
              <a:gd name="adj" fmla="val 1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9744" y="3438144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바닥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68172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1830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뒤꿈치가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헐겁게 빠짐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5870448" y="3840480"/>
            <a:ext cx="1097280" cy="914400"/>
          </a:xfrm>
          <a:prstGeom prst="roundRect">
            <a:avLst>
              <a:gd name="adj" fmla="val 3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07024" y="3840480"/>
            <a:ext cx="1024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공간이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채워짐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반굽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겹침 단면도 (신발 · 기존 깔창 · 아치가득) + 뒤꿈치 GIF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뒤꿈치부터 아치까지 오는 반굽 길이라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쓰는 깔창 밑에 겹쳐 깔 수 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빈 공간이 채워져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신을 때 신발이 헐겁게 흘러내리는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느낌을 잡아 줍니다.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하단 고지: 신발 형태·재질에 따라 착용감이 다를 수 있습니다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16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16   정형외과 전문의 설계 자문 — 인솔 형태·착용 방식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반굽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051560"/>
          </a:xfrm>
          <a:prstGeom prst="roundRect">
            <a:avLst>
              <a:gd name="adj" fmla="val 260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아치가득 인솔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322783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22783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아치 라인을 채우는 형태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50215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0215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뒤꿈치 컵 깊이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76472"/>
            <a:ext cx="2286000" cy="237744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76472"/>
            <a:ext cx="2212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반굽 길이 · 깔창 밑 겹쳐 쓰는 방식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08736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채우는 형태와 뒤꿈치 컵 깊이,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밑에 겹쳐 쓰는 방식을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착용해 보고 의견을 드렸습니다."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0916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937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이문홍 원장은 ㈜알앤디메이커스 제품 설계 자문에 참여하고 자문료를 받았습니다.</a:t>
            </a:r>
            <a:endParaRPr lang="en-US" sz="5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자문 포인트 3 + 인용 + 대가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주었습니다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채우는 형태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밑에 겹쳐 쓰는 방식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이문홍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자문 = 형태·착용 방식 · 효능(피로·교정·평발) ✗ · 원장 검수본만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16   검증 — 디자인 등록 · 특허 출원 · 족저압 분포 시험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ip-status.md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디자인 등록 완료 · 특허 출원 완료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번호 표기 필수 (번호 없이 '특허' ✗)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KIMCO 의뢰안 10/19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족저압 분포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전/후 비교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구조 수치만 · 효능 해석 ✗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족자 RS2 체크리스트와 같은 형식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디자인 등록 제30-○○○○호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2587752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587752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특허 출원 제10-2026-○○○○호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026664"/>
            <a:ext cx="2286000" cy="365760"/>
          </a:xfrm>
          <a:prstGeom prst="roundRect">
            <a:avLst>
              <a:gd name="adj" fmla="val 7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26664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족저압 분포 시험 (기관 · 일자)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3520440"/>
            <a:ext cx="1097280" cy="118872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3520440"/>
            <a:ext cx="1024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족저압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히트맵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870448" y="3520440"/>
            <a:ext cx="1097280" cy="118872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07024" y="3520440"/>
            <a:ext cx="10241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접촉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○% ↑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636008" y="4800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조건 · 기관 · 일자 표기 / 의료기기 아님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족저압 전/후 히트맵 자리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말이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· 특허 출원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족저압 분포 시험 (착용 전/후)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시험 조건과 기관을 함께 표기합니다.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성적서·번호 수령 후에만 게시 · '통증·피로·교정' 해석 ✗ · 특허명('자세교정') 노출 ✗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16   이렇게 쓰세요 — 깔창 밑에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반굽 인솔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겹쳐 쓰기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들기 → 밑에 깔기 → 다시 덮기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불필요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사용 3스텝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들기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532120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맞춰 깔기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6327648" y="22402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240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덮기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4681728" y="301752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01752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속 단면 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(뒤꿈치 끝에 맞춘 반굽)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434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없는 신발엔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아치가득만 단독으로 넣어도 됩니다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 + 단독 사용 안내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깔창 밑에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깔기만 하세요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쓰던 깔창을 들고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뒤꿈치 끝에 맞춰 깔고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깔창을 다시 덮으면 끝.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자를 필요 없습니다.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단독 사용 권장 여부 대표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16   사이즈 M · L + 컬러 2종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15cm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220~255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17cm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260~280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4290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681728" y="384048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384048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경계 사이즈면?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431596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431596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표 + 편차 고지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 / 그레이 · 모카무스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길이 15cm · 신발 220~255mm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길이 17cm · 신발 260~280mm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2종 — 그레이 · 모카무스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사출 특성상 ±5% 편차가 있을 수 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경계 사이즈(255/260) 안내 문구 대표 확인 · 컬러칩은 실물 촬영 색 기준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16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060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060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69080"/>
            <a:ext cx="2286000" cy="868680"/>
          </a:xfrm>
          <a:prstGeom prst="roundRect">
            <a:avLst>
              <a:gd name="adj" fmla="val 3158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69080"/>
            <a:ext cx="2212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+ 하단 워킹화 배너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신을 때 신발이 헐겁게 빠진다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쓰던 깔창은 그대로 두고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15 / 16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박스·행택 표기와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41732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(반굽)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재질: 합성수지(E-실리폴리렌), 목분(우드칩)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 · 그레이 / 모카무스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5760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5760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34340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34340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합성수지(E-실리폴리렌), 목분(우드칩)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15cm · L 17cm (±5%)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그레이 / 모카무스 · 대한민국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빈칸(모델명·보증 일수·CS 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16 / 16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촬영 리스트 · 전달 자료 · 일정</a:t>
            </a:r>
            <a:endParaRPr lang="en-US" sz="2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058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035040"/>
                <a:gridCol w="237744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인솔을 신은(밟은) 모습 · 인솔 측면(링 컵·아치 라인) — 그레이/모카무스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01 대체 · 04 · 족자 RS3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 촬영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단독 탑뷰 · M/L 나란히 · 2컬러 (45°)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03 · 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측면 실루엣 (아치 곡선 하이라이트용, 흰 배경)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뒤꿈치 링 컵 3/4 클로즈업 · 깊이 mm 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쓰던 깔창 밑에 겹쳐 깔기 3스텝 + BEFORE/AFTER 3초 GIF (같은 신발·발·각도)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08 · 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IS-06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족부 모형 옆 반굽 인솔 (원장 D3, X-ray ✗)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ICUT 10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키비주얼 PNG · RS 로고 벡터 · 행택/박스 문안 · 상품정보고시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디핏 전달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2026-10-19T03:47:03Z</dcterms:created>
  <dcterms:modified xsi:type="dcterms:W3CDTF">2026-10-19T03:47:03Z</dcterms:modified>
</cp:coreProperties>
</file>