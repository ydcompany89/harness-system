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31210b31-af36-771a-8b9e-07ac78da2dde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1막 후킹" id="{f951eb52-be79-9a4e-d94a-46f479a0a526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막 안전" id="{b0720a18-e55c-0b89-be53-e42ec4612209}">
          <p14:sldIdLst>
            <p14:sldId id="268"/>
            <p14:sldId id="269"/>
            <p14:sldId id="270"/>
            <p14:sldId id="271"/>
            <p14:sldId id="272"/>
          </p14:sldIdLst>
        </p14:section>
        <p14:section name="3막 편안" id="{b679ccc9-7c1d-bd94-d027-bdc687a2dd37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4막 신뢰·구매" id="{187990bd-68c1-8e08-115a-f471de293119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실행" id="{667e7855-7659-0b77-50d3-f5cdc85125cc}">
          <p14:sldIdLst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상세페이지 전체 = 28 CUT. 성적서가 필요한 CUT은 🔒 표시, 오픈 시점에 없으면 블록째 빼고 오픈 → 수령 즉시 삽입.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템플릿 2페이지 형식. 상품명 SEO는 네이버 50자 내외. 가격 42,500원 = 국산 · 새활용 소재 · 특허출원 구조가 근거(대표 결정 10/08).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분석 원문: research/detail-page-references.md, research/competitor-shuniel-sl100.md, content/detail-walking-plan.md §0~0-3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2026-10-08 대표: 국산이라 더 비싸게 판다 / 미끄럼 + 경량 + 고탄력으로 오래 서 있는 사람의 피로를 줄이려 했다. 표시광고법·카피 가드상 '피로 감소·발 안 아픔'은 효능 주장 → 무게·반발탄성 수치와 구조 설명으로 치환.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3초에 '바닥이 다른 신발'임을 각인. 히어로 A안(다크 렌더). B안 = CUT 05 모델 밑창 들기 컷을 첫 화면으로 올리는 버전 → A/B 테스트.
샷: 다크 플로팅 렌더(브랜드 필름 outsole-studio 소스 활용).
스티코 렌더와 같은 각도·오렌지 톤 금지(C11 FTO 진행 중).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국산은 가격 차액(슈니엘 33,000원 중국 생산 대비 +9,500원)의 첫 근거. 원산지 표시와 반드시 일치.
배송 조건은 물류 확정 후 기입.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샷 #3장면: 주방 젖은 바닥 / 급식실 물청소 / 매장 카운터. 크림·저채도 아닌 다크 톤이지만 공포 이미지 금지.
'발 아프다·통증' 금지 → 상황 묘사만 (사회적증거 전략 ②).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의도 3가지(미끄럼 · 경량 · 고탄력)를 '불만'으로 먼저 제시 → 2막·3막이 하나씩 답하는 구조.
'통증 · 붓기 · 족저' 단어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샷 #1 '모델이 밑창 들어 보이는 컷' — 썸네일 05와 공용. 대표 본인 출연도 OK(창업 서사와 연결).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사회적 증거 치환 ⑤ — 신제품이 지금 당장 쓸 수 있는 가장 강한 증거. 대표 실화(스레드 팩 §2) 기준으로 문장 다듬기. 대표 사진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샷 #2 밑창 탑뷰(기존 리터칭본 outsole.jpg 사용 가능).
'미끄럽지 않은 · 논슬립' 금지 — 구조 사실만. 성능은 CUT 10 성적서가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research/quadgrip-placement-evidence.md — 직접 입증 논문 없음, '설계 가설' 수준. '과학적으로 입증' 금지.
특허 표기는 출원번호 수령 후(C07). 스티코 특허 청구항과 겹치는 표현 피할 것(C11, 10/31).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슈니엘이 '패턴 어필'을 무력화하는 논리를 쓰므로, 우리는 '패턴 + 별도 배합 패드'로 그 논리 밖에 선다.
재질 표기는 행택 확정값과 일치(K07): 패드 = 폐타이어 재생고무 + 실크벽지 재생 PVC.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C02 의뢰 시 반드시: KS M ISO 13287, 세제수용액 + 글리세린 두 조건, 쿼드그립 A(패드 있음)/B(없음) 비교.
경쟁사 수치(0.82 등) 언급·비교 금지. '1등급' 등급 표현은 성적서에 등급이 명시될 때만.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증명 3단 중 '현실' 단계. 미끄러질 뻔한 연출 · 안 미끄러진다는 연출 모두 금지(오인 광고). 업무 장면만.
샷: 급식실 물청소, 주방 타일, 매장 바닥 — 실제 현장 섭외(친구 가게).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의도: 경량성으로 오래 서 있는 사람의 부담을 덜어준다. '피로 감소'는 효능 주장 → 무게 실측(g)과 '1만 번 든다'는 산수 사실로 치환.
🔒 무게 실측 필요(230mm 한쪽, 사이즈별 표는 CUT 27). 경쟁사 무게 비교 표기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의도: 고탄력 원료로 오래 신어도 발이 편하게. '발 아프지 않게 · 충격 흡수 · 쿠션감 ○배'는 근거 전 금지 → 반발탄성 % 와 눌렀다 돌아오는 GIF로 '보여주기'.
C09 마감 10/10. 일반 EVA 대조 시료 같이 시험.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C09의 '유지' 측정값(압축영구줄음률). 장기 착용 단면 사진은 체험단 실착 샘플로 런칭 후 교체 가능.
🔒 수치 없으면 '꺼질 깔창도 없습니다' 구조 문장만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'깔창 없음'이 '쿠션 없음'으로 읽히지 않게 CUT 13(탄력) 바로 뒤에 배치. 물세척 후 깔창 말릴 필요 없음도 CUT 21과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 사실만. 두께 mm 실측 있으면 원형 라벨에 기입.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 결정(10/08): 국산이라 더 비싸게 판다 → 가격 정당화 핵심 CUT. 원산지 표시(스펙표·행택)와 완전 일치 필수.
납품처 실명 사용은 대표 승인(10/06) — 단 '라라슈 제품 실적'처럼 쓰지 않음. 타사 원산지 비교 문구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Road to Floor 는 소재 맥락에서만(히어로와 한 화면 금지).
새활용 마크는 자체 표식임을 명확히(인증 마크처럼 보이면 안 됨). 행택 K07 마감 10/12에 맞춰 마크 시안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타깃: 급식 조리사 / 식당 사장님·셰프 / 매장 직원 / 병원·미화. 질병명(족저근막염 등) 체크 항목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중 가장 오래 걸리는 컷(로케 4곳). 같은 날 친구 가게 + 시장 + 퇴근길 동선으로 묶기.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⏳ 세탁 테스트 결과 확인 후 확정(세제 종류 · 건조 방법). 표백제·고온 금지는 CUT 27 주의사항과 일치.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반품 1순위 원인 = 사이즈. P03(사이즈 체계)·P16(발볼) 확정 전에는 표 비워 두지 말고 CUT 자체를 보류.
'패드 떨어지지 않나요?' 답은 P10 박리 테스트(물 24h·유분) 결과로만.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서류가 안 나온 칸은 빈칸 대신 칸째 삭제. '특허' 단독 표기 ✗ → '특허 출원'. 디자인 등록번호 기재.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상품정보: 워킹화 3색 × 6사이즈 = 18 SKU. 컬러명 확정 필요(K02 바코드와 동일 명칭).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카피(copy-system). 문의는 rharashoe.netlify.app 랜딩 폼(?src=detail) 연결. 단가표는 F03/F04 확정 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인솔은 워킹화용이 아님(워킹화는 깔창 없음) → '가지고 계신 다른 신발용'으로만 제안. 이 역설 자체가 후킹 소재(스레드 실측).
할인 정책은 marketing-expert 가격·프로모션 정책 확정 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K04 표시사항 대조표와 같은 값. 친환경 문구는 성적서 없으면 제외. KC/생활용품 안전관리 대상 여부(C01) 확인 후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로고 락업: RS · RhaRa Shoe · Made for Standing. 영상 엔딩과 동일. From Road to Floor 와 같은 화면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rness-system/launch/rs/design/detail-walking/img/outsole-stud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683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18872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PAGE PLAN v1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종일편한 워킹화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 기획안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사람의 신발은, 바닥부터 달라야 한다.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 제뉴인그립 3400 · 스티코 NEC-03 · 슈니엘 SL-100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 Clove · 르무통 메이트 · HOKA Bondi SR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CUT · 860px 세로형 · 2026-10-08 · 대표 검토용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제목 (상품명 · 상세 타이틀 후보)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 SEO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0972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국산 주방화 조리화 경량 그립패드 식당 급식실 작업화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5544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[국산] 바닥부터 다른 주방화 ㅣ 4점 쿼드그립 패드 · 깔창 없는 일체형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11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0116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1만 보 서서 일한다면 ㅣ 가볍고 탄탄한 쿼드그립 워킹화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68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4688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 고무를 그립 패드로 ㅣ 국내에서 만든 라라슈 워킹화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71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'미끄럼방지·논슬립' 키워드는 C02 미끄럼 시험 성적서 수령 후 상품명·태그에 추가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요약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23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한 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40233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만든, 바닥부터 다른 워킹화. 미끄럼은 4점 쿼드그립 패드로, 하루 종일 서 있는 무게는 가벼움과 탄력으로 덜어냅니다.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00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구조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48006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안전(쿼드그립) → 편안(가벼움 · 고탄력 E-실리폴리렌 · 일체형) → 국산 · 새활용 → 증거 → 구매. 축마다 문제 → 해결 → 증거 루프.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77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차별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55778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경쟁사는 '안전 장비' 또는 '숫자 1등'. 라라슈는 서서 일하는 사람의 하루 전체(미끄럼 + 무게 + 탄력)와 국산 · 새활용 이야기로 42,500원을 설명합니다.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3사 — 무엇을 가져오고 무엇을 버리나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36392"/>
                <a:gridCol w="3136392"/>
                <a:gridCol w="314553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제뉴인그립 3400 (대표 제공)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스티코 NEC-03 (대표 제공)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슈니엘 SL-100 (대표 제공)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포지션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주방화 · '안전 장비' 톤 · 식자재몰 B2B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패드 삽입 아웃솔 원조격 · 친환경 프로젝트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스마트스토어 1위권 · 33,000원 · 리뷰 3.5천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가져올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일상 코디 라이프스타일컷 · 번호형 기능 01~06 · 각도기 수치 그래픽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밑창 들어 보이는 모델컷 · 다크 3D 렌더 · Re:born 프로젝트 + 라벨 마크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2축(안전→편안) 구조 · 증명 3단 · 기능 네이밍 · FAQ · 썸네일 10장 순서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버릴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깔창 분리형 강조 (우리는 일체형)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다점 도트 구도 · '무공해' 문구 (C11 FTO 진행 중)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수치 · '세계 1위' · 낙상 공포 · 부상 사진 · 타사 비교 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이길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 0 · 소재 차별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고무 패드 vs 폐타이어 재생 패드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중국 생산 vs 국산 · 분리 인솔 vs 일체형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레퍼런스 (Claude 선정): Clove — 직업인 타깃·관리 편의 / 르무통 — 소재 네이밍·발볼 고민 호명 / HOKA Bondi SR — 바닥 조건 명시·스펙표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42,500원의 이유 — 3가지 기능 + 2가지 바탕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4점 쿼드그립 패드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4곳에 별도 배합 그립 패드를 끼워 넣은 구조 (특허 출원)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C02 KS M ISO 13287 성적서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가벼움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257g (270mm)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1만 보면, 신발 무게도 1만 번 듭니다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실측 완료 · 230mm 값은 추후 교체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탄력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눌렀다 돌아오는 고탄력 소재 · 안창까지 일체형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증거: C09 반발탄성 · 압축영구줄음률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663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국산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663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만듭니다 — 원산지 표시와 동일하게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99632" y="46634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4663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새활용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4663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Road to Floor — 폐타이어 고무를 그립 패드로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의도 "오래 신어도 발 아프지 않게" → 상세에서는 효능 대신 사실(무게 g · 반발탄성 % · 구조)로 말합니다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 — 28 CUT, 4막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1막 · 후킹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첫 화면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67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신뢰 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51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공감 3장면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35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세 가지 불만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제품 등장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03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창업 서사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1188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2막 · 안전 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17830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1783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쿼드그립 4점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16712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2167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왜 4점인가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255117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2551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패드 소재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93522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2935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성적서 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33192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현장 테스트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1188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3막 · 편안 축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17830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1783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가벼움 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216712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2167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고탄력 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255117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2551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오래 신어도 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293522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2935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깔창 없는 일체형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3192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발목 테두리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370332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63640" y="3703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국산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69680" y="1188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8696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4막 · 신뢰 · 구매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869680" y="17830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06840" y="1783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From Road to Floor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69680" y="216712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06840" y="2167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이런 분께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69680" y="255117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06840" y="2551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일상 착화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869680" y="293522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06840" y="2935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관리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69680" y="331927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00684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사이즈 · FAQ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869680" y="370332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06840" y="3703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증거 모음 🔒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69680" y="4087368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06840" y="40873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컬러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869680" y="4471416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006840" y="4471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단체 구매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69680" y="4855464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06840" y="4855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런칭 혜택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69680" y="5239512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006840" y="52395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스펙 · 주의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69680" y="562356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006840" y="5623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엔딩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리듬: 다크(문제) ↔ 라이트(해결) 교차 · 시그니처 = 라임 4점 (썸네일부터 엔딩까지 반복) · 🔒 = 성적서/실측 필요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 &amp; 비주얼 가이드</a:t>
            </a:r>
            <a:endParaRPr lang="en-US" sz="2000" dirty="0"/>
          </a:p>
        </p:txBody>
      </p:sp>
      <p:pic>
        <p:nvPicPr>
          <p:cNvPr id="3" name="Image 0" descr="/home/user/harness-system/launch/rs/design/detail-walking/img/outs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120640" cy="2093976"/>
          </a:xfrm>
          <a:prstGeom prst="rect">
            <a:avLst/>
          </a:prstGeom>
        </p:spPr>
      </p:pic>
      <p:pic>
        <p:nvPicPr>
          <p:cNvPr id="4" name="Image 1" descr="/home/user/harness-system/launch/rs/design/detail-walking/img/shoe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3429000"/>
            <a:ext cx="2468880" cy="2560320"/>
          </a:xfrm>
          <a:prstGeom prst="rect">
            <a:avLst/>
          </a:prstGeom>
        </p:spPr>
      </p:pic>
      <p:pic>
        <p:nvPicPr>
          <p:cNvPr id="5" name="Image 2" descr="/home/user/harness-system/launch/rs/design/detail-walking/ref/stico-rend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91840" y="3429000"/>
            <a:ext cx="2468880" cy="25603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291840" y="6035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스티코 다크 렌더 (구도 복제 ✗)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6217920" y="1188720"/>
            <a:ext cx="987552" cy="1097280"/>
          </a:xfrm>
          <a:prstGeom prst="rect">
            <a:avLst/>
          </a:prstGeom>
          <a:solidFill>
            <a:srgbClr val="232323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217920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#232323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7296912" y="1188720"/>
            <a:ext cx="987552" cy="1097280"/>
          </a:xfrm>
          <a:prstGeom prst="rect">
            <a:avLst/>
          </a:prstGeom>
          <a:solidFill>
            <a:srgbClr val="0D0D0D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296912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#0D0D0D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8375904" y="1188720"/>
            <a:ext cx="987552" cy="1097280"/>
          </a:xfrm>
          <a:prstGeom prst="rect">
            <a:avLst/>
          </a:prstGeom>
          <a:solidFill>
            <a:srgbClr val="C6F432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375904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#C6F432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9454896" y="1188720"/>
            <a:ext cx="987552" cy="1097280"/>
          </a:xfrm>
          <a:prstGeom prst="rect">
            <a:avLst/>
          </a:prstGeom>
          <a:solidFill>
            <a:srgbClr val="3D4A12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454896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#3D4A12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0533888" y="1188720"/>
            <a:ext cx="987552" cy="109728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0533888" y="1188720"/>
            <a:ext cx="987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#F5F2EC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56032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제품은 블랙, 포인트는 라임 패드 하나 — 슈니엘의 '레드 밑창' 자리를 라임 4점이 맡는다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CUT은 다크(1C1C1C), 해결 CUT은 크림/화이트 — 공포 대신 공감 톤 (부상 사진 ✗)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CUT은 'POINT 0N' 라임 칩 + 한 블록 한 기능 한 사진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크게(라임) — 단, 실측/성적서 숫자만. 자리 표시는 [시험값]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모델: 조리복 · 앞치마 · 일상복(데님+흰 양말) 3종. 얼굴보다 발 · 밑창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이미지는 배경·연출에만, 신발 실물은 실사 합성 원칙 유지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후킹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01 / 28   첫 화면 — 바닥이 주인공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5" name="Image 0" descr="/home/user/harness-system/launch/rs/design/detail-walking/ref/stico-rend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965960"/>
            <a:ext cx="3108960" cy="22402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94944" y="4370832"/>
            <a:ext cx="3108960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" y="4443984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다크 플로팅 렌더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배경에 밑창 패드가 보이게 띄움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라임 4점이 보이는 각도, 구도는 다르게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3D 렌더 / 슈니엘 썸네일 01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8172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사람의 신발은,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바닥부터 달라야 한다.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681728" y="2624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편해야, 일이 편하다.</a:t>
            </a:r>
            <a:endParaRPr lang="en-US" sz="800" dirty="0"/>
          </a:p>
        </p:txBody>
      </p:sp>
      <p:pic>
        <p:nvPicPr>
          <p:cNvPr id="22" name="Image 1" descr="/home/user/harness-system/launch/rs/design/detail-walking/img/outsole-studi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6008" y="3017520"/>
            <a:ext cx="2377440" cy="14173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093208" y="4663440"/>
            <a:ext cx="1463040" cy="27432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129784" y="46634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쿼드그립 종일편한 워킹화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4636008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모션: 신발이 천천히 회전 → 밑창 정면에서 정지</a:t>
            </a:r>
            <a:endParaRPr lang="en-US" sz="700" dirty="0"/>
          </a:p>
        </p:txBody>
      </p:sp>
      <p:sp>
        <p:nvSpPr>
          <p:cNvPr id="26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 860×1075 안에 카피 완결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사람의 신발은,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바닥부터 달라야 한다.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편해야, 일이 편하다.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쿼드그립 종일편한 워킹화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02 / 28   신뢰 바 — 국산 · 오늘출발 · 새활용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#00 상단 배너 2장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N배송 오늘도착 / 1등급·프리미엄 스토어·정품 인증마크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첫 스크롤 전에 신뢰부터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대체 근거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국산 · 오늘출발 조건 · 환경부 새활용 지원사업 수행 기업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숫자 없이도 쓸 수 있는 사실만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#00 배송·공식판매처 배너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6008" y="2240280"/>
            <a:ext cx="2377440" cy="502920"/>
          </a:xfrm>
          <a:prstGeom prst="roundRect">
            <a:avLst>
              <a:gd name="adj" fmla="val 5455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72584" y="22402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IN KOREA  ·  국내에서 만듭니다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73168" y="301752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316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국산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50408" y="301752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5040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27648" y="301752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764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새활용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 지원사업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기업이 만들었습니다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36008" y="4343400"/>
            <a:ext cx="237744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72584" y="43434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(다음: CUT 03 공감)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띠 2줄 · 아이콘 3개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만듭니다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출발 [주문 마감 시각]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 지원사업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기업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'환경부 인증' 표기 금지 — 지원사업 ≠ 인증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03 / 28   공감 3장면 — 서서 보내는 하루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#02~03 공포 소구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미끄러지는 다리 · 부상 사진 · 낙상 통계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버림. 같은 문제를 '장면'으로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아치쿠션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CUT 05 공감 3장면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사진 + 기존 방법 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형식 재사용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#02 문제제기 → 공포를 공감으로 치환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퇴근하면 신발부터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벗고 싶다면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36008" y="269748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72584" y="269748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젖은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바닥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269748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77256" y="269748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물청소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45352" y="2697480"/>
            <a:ext cx="758952" cy="1463040"/>
          </a:xfrm>
          <a:prstGeom prst="roundRect">
            <a:avLst>
              <a:gd name="adj" fmla="val 361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269748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카운터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36008" y="434340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36008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조심조심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40680" y="434340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40680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종종걸음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45352" y="434340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45352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앉을 틈 0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636008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사람이면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아는 그 순간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3분할 사진 · 얼굴은 프레임 밖 · 발 중심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신발부터 벗고 싶다면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젖은 바닥은 조심조심,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바쁜 시간엔 종종걸음,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앉을 틈은 없고.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사람이면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아는 그 순간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04 / 28   주방화의 세 가지 불만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#18 기존 주방화가 발이 아픈 이유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딱딱한 바닥 · 꺼지는 인솔 · 힘이 들어감 · 붓는 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체크리스트 형식만, 의학 표현 버림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#18 CHECK LIST / 아치쿠션 CUT 03 문제 3단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신던 주방화, 이랬다면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27448" y="2606040"/>
            <a:ext cx="2194560" cy="59436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64024" y="260604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젖은 바닥에서 자꾸 조심하게 된다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27448" y="3291840"/>
            <a:ext cx="2194560" cy="59436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329184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오후가 되면 신발이 무겁게 느껴진다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27448" y="3977640"/>
            <a:ext cx="2194560" cy="59436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4024" y="397764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딱딱한 바닥이 그대로 올라온다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미끄럼 · 무게 · 탄력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카드 · 문제 → 다음 CUT에서 해답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신던 주방화,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이랬다면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젖은 바닥에서 자꾸 조심하게 된다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오후가 되면 신발이 무겁게 느껴진다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딱딱한 바닥이 그대로 올라온다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05 / 28   제품 등장 — 그래서 바닥부터 다시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모델이 밑창을 카메라로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조리복 모델이 신발 바닥을 들어 보임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히어로 B안 · 썸네일 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#05 GOOD POINT 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+ 부위별 핀 포인트 3개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미끄럼 · 가벼움 · 탄력 3핀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모델 밑창 들기 / 슈니엘 #05 GOOD POINT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바닥부터 다시 만들었습니다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1768" y="2606040"/>
            <a:ext cx="1645920" cy="1920240"/>
          </a:xfrm>
          <a:prstGeom prst="roundRect">
            <a:avLst>
              <a:gd name="adj" fmla="val 166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38344" y="2606040"/>
            <a:ext cx="15727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조리복 모델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(얼굴 미소 · 밑창 정면)</a:t>
            </a:r>
            <a:endParaRPr lang="en-US" sz="800" dirty="0"/>
          </a:p>
        </p:txBody>
      </p:sp>
      <p:pic>
        <p:nvPicPr>
          <p:cNvPr id="24" name="Image 0" descr="/home/user/harness-system/launch/rs/design/detail-walking/img/outso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1808" y="3429000"/>
            <a:ext cx="1005840" cy="4114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36008" y="2880360"/>
            <a:ext cx="411480" cy="4114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3600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601968" y="3154680"/>
            <a:ext cx="411480" cy="4114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01968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가벼움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601968" y="3886200"/>
            <a:ext cx="411480" cy="41148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01968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탄력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910328" y="4709160"/>
            <a:ext cx="1828800" cy="320040"/>
          </a:xfrm>
          <a:prstGeom prst="roundRect">
            <a:avLst>
              <a:gd name="adj" fmla="val 8571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46904" y="47091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쿼드그립 종일편한 워킹화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밑창 들기 + 3핀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바닥부터 다시 만들었습니다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미끄럼은 4점 쿼드그립 패드로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무게는 가볍게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바닥은 탄력 있게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06 / 28   창업 서사 — 친구 셋의 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르무통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브랜드 철학 한 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'편하지 않으면 출시하지 않는다'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'발이 편해야, 일이 편하다.'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공통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약점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왜·누가 만들었는지 없음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서사가 곧 차별화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르무통 브랜드 철학 / 사회적 증거 ⑤ 서사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7448" y="2194560"/>
            <a:ext cx="2194560" cy="1463040"/>
          </a:xfrm>
          <a:prstGeom prst="roundRect">
            <a:avLst>
              <a:gd name="adj" fmla="val 1875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64024" y="219456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실사진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(친구 가게 주방 · 작업장)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"식당 하는 친구 셋이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퇴근하면 신발부터 벗더라고요"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636008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라라슈 대표 신동규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4846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편해야, 일이 편하다.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실사진 + 손글씨 톤 인용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 하는 친구 셋의 발에서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시작했습니다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서서 일하는 친구들이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퇴근하면 신발부터 벗었습니다.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편해야, 일이 편하다.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07 / 28   POINT 01 · 쿼드그립 4점 패드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01 미끄럼방지 아웃솔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클로즈업 1장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 블록 한 기능 한 사진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슈니엘·스티코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기능 네이밍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 GRIP · 자연통기 시스템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QUAD GRIP 시스템으로 이름 붙이기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#4 아웃솔 / 슈니엘 #15 ZERO GRIP 네이밍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QUAD GRIP · 4점 쿼드그립 패드</a:t>
            </a:r>
            <a:endParaRPr lang="en-US" sz="900" dirty="0"/>
          </a:p>
        </p:txBody>
      </p:sp>
      <p:pic>
        <p:nvPicPr>
          <p:cNvPr id="24" name="Image 0" descr="/home/user/harness-system/launch/rs/design/detail-walking/img/outso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36008" y="2834640"/>
            <a:ext cx="2377440" cy="96926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636008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4곳에 그립 패드를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끼워 넣었습니다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18888" y="45262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55464" y="45262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확대 원형 크롭 ×4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탑뷰 · 4점 라임 하이라이트 순차 점등 GIF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QUAD GRIP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4점 쿼드그립 패드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4곳에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그립 패드를 끼워 넣었습니다.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라임색 4점이 바닥을 딛습니다.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08 / 28   왜 4점인가 — 딛는 순서대로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오렌지 원형 도트 다수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전체에 패드 여러 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4점 — 구조 차이를 정면으로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04 앞코 각도 ○○°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각도기로 수치를 그림으로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발바닥 위 4점 + 보행 화살표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다점 도트 (차별) / 제뉴인그립 각도기 그래픽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01-2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바닥에 닿는 순서대로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13248" y="2788920"/>
            <a:ext cx="822960" cy="210312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4526280"/>
            <a:ext cx="274320" cy="2743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235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04688" y="3931920"/>
            <a:ext cx="274320" cy="2743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04688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79008" y="3383280"/>
            <a:ext cx="274320" cy="2743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79008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41848" y="2880360"/>
            <a:ext cx="274320" cy="2743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41848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19088" y="2926080"/>
            <a:ext cx="0" cy="1828800"/>
          </a:xfrm>
          <a:prstGeom prst="line">
            <a:avLst/>
          </a:prstGeom>
          <a:noFill/>
          <a:ln w="19050">
            <a:solidFill>
              <a:srgbClr val="3D4A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앞꿈치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4636008" y="4983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출원 제10-[번호] (C07)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윤곽 일러스트 · 화살표 애니메이션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4점일까요?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바닥에 닿는 순서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→ 발 중간 → 발볼 → 앞꿈치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길을 따라 4곳을 골랐습니다.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패드를 밑창에 끼워 넣는 구조로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특허를 출원했습니다.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C11 변리사 FTO 의견 후 문구 확정 · '입증' 표현 ✗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09 / 28   패드 소재 — 패턴이 아니라, 따로 만든 패드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#09 핵심 USP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'패턴만 특별하다고 미끄럼 방지가 될까요? 차이는 소재'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소재 + 구조 둘 다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#09 '패턴이 아니라 소재'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01-3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밑창과 패드는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재료로 만듭니다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18888" y="29260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55464" y="29260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 · E-실리폴리렌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47488" y="3520440"/>
            <a:ext cx="502920" cy="5029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4748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53328" y="3520440"/>
            <a:ext cx="502920" cy="50292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5332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 재생고무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실크벽지 재생 PVC 배합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18888" y="4663440"/>
            <a:ext cx="2011680" cy="365760"/>
          </a:xfrm>
          <a:prstGeom prst="roundRect">
            <a:avLst>
              <a:gd name="adj" fmla="val 7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55464" y="46634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+ 별도 배합 패드 = 2중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분해도: 본체 / 패드 / 끼움 구조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무늬만 바꾼 게 아닙니다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밑창은 헤링본 패턴,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닿는 4곳은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배합한 그립 패드.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재료가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바닥을 만듭니다.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10 / 28   증명 1단 — 미끄럼 저항 시험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#09·#12 공인 성적서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KATRI · KS M ISO 13287 · 세제수용액/글리세린 두 조건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규격 · 같은 두 조건으로 의뢰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HOKA SR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바닥 조건 명시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 · 기름 · 세제 바닥에서 테스트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조건을 먼저 보여준다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#09 성적서 · #12 막대그래프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말로만 하지 않고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재봤습니다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651760"/>
            <a:ext cx="1005840" cy="13258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651760"/>
            <a:ext cx="932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시험성적서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70448" y="3429000"/>
            <a:ext cx="320040" cy="548640"/>
          </a:xfrm>
          <a:prstGeom prst="roundRect">
            <a:avLst>
              <a:gd name="adj" fmla="val 8571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2834640"/>
            <a:ext cx="320040" cy="1143000"/>
          </a:xfrm>
          <a:prstGeom prst="roundRect">
            <a:avLst>
              <a:gd name="adj" fmla="val 8571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33288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세제  ·  글리세린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81728" y="443484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4434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 M ISO 13287 · [시험기관]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[시험값] (세제) / [시험값] (글리세린)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성적서 스캔 + 막대그래프 GIF · 수치는 수령 후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말로만 하지 않고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재봤습니다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 M ISO 13287 미끄럼 저항 시험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세제 바닥 [시험값]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기름(글리세린) 바닥 [시험값]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[시험기관] · [성적서 번호]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C02 — 차주 의뢰(대표 10/08). 없으면 이 CUT 빼고 오픈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11 / 28   증명 2단 — 현장 그대로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#10~11 극한 테스트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기름 경사로 · 워터슬라이드 역행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버림 — 과장 연출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거품 바닥 · 마대걸레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물청소 중 착화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실제 업무 장면만 가져옴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#10~11·#21 / 스티코 거품 바닥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물청소하는 급식실,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바닥 그대로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651760"/>
            <a:ext cx="2286000" cy="1554480"/>
          </a:xfrm>
          <a:prstGeom prst="roundRect">
            <a:avLst>
              <a:gd name="adj" fmla="val 1765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65176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· 마대걸레 거품 바닥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위를 걷는 발 (측면 로우앵글)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81728" y="4343400"/>
            <a:ext cx="1097280" cy="685800"/>
          </a:xfrm>
          <a:prstGeom prst="roundRect">
            <a:avLst>
              <a:gd name="adj" fmla="val 4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8304" y="43434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타일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70448" y="4343400"/>
            <a:ext cx="1097280" cy="685800"/>
          </a:xfrm>
          <a:prstGeom prst="roundRect">
            <a:avLst>
              <a:gd name="adj" fmla="val 40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07024" y="4343400"/>
            <a:ext cx="1024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바닥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 물청소 GIF 3초 · 발 클로즈업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물청소하는 급식실,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바닥 그대로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무대가 아니라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일하는 바닥에서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12 / 28   POINT 02 · 가벼움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HOKA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스펙 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무게 · 드롭 · 미드솔 숫자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무게를 큰 숫자 하나로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스펙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230mm 한쪽 220g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 실측이 기준선 (비교 표기 ✗)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HOKA Bondi SR 스펙표 / 슈니엘 220g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02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무게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636008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257 g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5093208" y="3474720"/>
            <a:ext cx="1463040" cy="960120"/>
          </a:xfrm>
          <a:prstGeom prst="roundRect">
            <a:avLst>
              <a:gd name="adj" fmla="val 285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9784" y="3474720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저울 위 신발 한 짝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(230mm)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4572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1만 보면,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무게도 1만 번 듭니다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숫자 + 저울 위 한 짝 사진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 257g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(270mm 기준)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1만 보를 걸으면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무게도 1만 번 들어 올립니다.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가볍게 만들었습니다.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13 / 28   POINT 03 · 고탄력 E-실리폴리렌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르무통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특허 원단 H1-TEX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소재에 이름을 붙여 브랜드 자산화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E-실리폴리렌™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#20 소재 설명 GIF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갑피 누르기 · 인솔 구부리기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엄지로 눌렀다 돌아오는 GIF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르무통 H1-TEX 소재 네이밍 / 슈니엘 #20 누르기 GIF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03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2788920"/>
            <a:ext cx="1143000" cy="1188720"/>
          </a:xfrm>
          <a:prstGeom prst="roundRect">
            <a:avLst>
              <a:gd name="adj" fmla="val 24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8304" y="2788920"/>
            <a:ext cx="1069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엄지로 꾹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돌아옴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07608" y="3337560"/>
            <a:ext cx="365760" cy="640080"/>
          </a:xfrm>
          <a:prstGeom prst="roundRect">
            <a:avLst>
              <a:gd name="adj" fmla="val 7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2880360"/>
            <a:ext cx="365760" cy="1097280"/>
          </a:xfrm>
          <a:prstGeom prst="roundRect">
            <a:avLst>
              <a:gd name="adj" fmla="val 75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16168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EVA · 우리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81728" y="443484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18304" y="4434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반발탄성 [시험값]% (KS 규격)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 · 실리콘 직접 배합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 누르기 GIF + 반발탄성 그래프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눌렀다,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돌아옵니다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EVA에 실리콘을 직접 배합한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E-실리폴리렌™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반발탄성 [시험값]%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(일반 EVA [시험값]%)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C09 반발탄성 시험 후 수치 · 전엔 소재 설명만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14 / 28   오래 신어도 꺼지지 않게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ANTI-SHRINK 수축방지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성질에 영문 이름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KEEP SHAPE 같은 이름 후보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#17 내구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'80% 마모돼도 성능 그대로'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수치 클레임은 버림, 형식만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ANTI-SHRINK / 슈니엘 #17 '마모돼도 성능 유지'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달을 신어도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그 높이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2743200"/>
            <a:ext cx="1005840" cy="1280160"/>
          </a:xfrm>
          <a:prstGeom prst="roundRect">
            <a:avLst>
              <a:gd name="adj" fmla="val 272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2743200"/>
            <a:ext cx="932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신발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16168" y="2743200"/>
            <a:ext cx="1005840" cy="1280160"/>
          </a:xfrm>
          <a:prstGeom prst="roundRect">
            <a:avLst>
              <a:gd name="adj" fmla="val 2727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52744" y="2743200"/>
            <a:ext cx="932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[N]개월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단면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27448" y="420624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64024" y="42062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압축영구줄음률 [시험값]%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없음 = 꺼질 깔창도 없음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신발 vs [N]개월 착용 신발 단면 비교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달을 신어도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그 높이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눌린 채 굳지 않는 소재,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압축영구줄음률 [시험값]%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꺼질 깔창도 없습니다.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15 / 28   POINT 04 · 깔창 없는 일체형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제뉴인그립·슈니엘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분리형 인솔 강조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인솔을 빼서 보여주고 따로 판매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역이용: 빠지고 밀리는 깔창이 없다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현장 목소리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'깔창이 자꾸 딸려 나와요'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문제로 제시 (인용은 프리미엄 톤으로)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#9 EVA 인솔 / 슈니엘 리뷰 '깔창이 푹신해요'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안창까지 한 몸</a:t>
            </a:r>
            <a:endParaRPr lang="en-US" sz="900" dirty="0"/>
          </a:p>
        </p:txBody>
      </p:sp>
      <p:pic>
        <p:nvPicPr>
          <p:cNvPr id="24" name="Image 0" descr="/home/user/harness-system/launch/rs/design/detail-walking/img/sho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10328" y="2788920"/>
            <a:ext cx="1828800" cy="146304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81728" y="4389120"/>
            <a:ext cx="1097280" cy="5943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18304" y="438912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딸려 나오는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870448" y="4389120"/>
            <a:ext cx="1097280" cy="594360"/>
          </a:xfrm>
          <a:prstGeom prst="roundRect">
            <a:avLst>
              <a:gd name="adj" fmla="val 4615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07024" y="438912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일체형 안창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일러스트: 안창까지 한 몸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깔창이 없습니다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E-실리폴리렌으로 안창까지 한 몸.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벗을 때 딸려 나오지도,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걷다가 앞으로 밀리지도 않습니다.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16 / 28   POINT 05 · 도톰한 발목 테두리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02~03 측면·앞코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부위 하나를 클로즈업 한 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발목 테두리 클로즈업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#5~6 측면 디테일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210312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3D4A12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58968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05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들어가는 입구</a:t>
            </a:r>
            <a:endParaRPr lang="en-US" sz="900" dirty="0"/>
          </a:p>
        </p:txBody>
      </p:sp>
      <p:pic>
        <p:nvPicPr>
          <p:cNvPr id="22" name="Image 0" descr="/home/user/harness-system/launch/rs/design/detail-walking/img/shoes2-c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8888" y="2834640"/>
            <a:ext cx="2011680" cy="15544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281928" y="2880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D4A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8192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[mm]</a:t>
            </a:r>
            <a:endParaRPr lang="en-US" sz="700" dirty="0"/>
          </a:p>
        </p:txBody>
      </p:sp>
      <p:sp>
        <p:nvSpPr>
          <p:cNvPr id="25" name="Text 22"/>
          <p:cNvSpPr txBox="1"/>
          <p:nvPr/>
        </p:nvSpPr>
        <p:spPr>
          <a:xfrm>
            <a:off x="4636008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부분보다 두껍게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둘렀습니다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클로즈업 · 손가락으로 테두리 집기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입구는 더 도톰하게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들어가는 테두리를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부분보다 두껍게 둘렀습니다.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17 / 28   국산 — 국내에서 만듭니다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스펙표 원산지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워크워크코리아 · 원산지 중국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국산을 한 CUT으로 크게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제조 이력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생활용품 매장 욕실화 납품 제조사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회사 근거로만 (라라슈 실적 ✗)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원산지 중국 (비교 표기 ✗) / 다이소 납품 제조사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148840"/>
            <a:ext cx="2286000" cy="502920"/>
          </a:xfrm>
          <a:prstGeom prst="roundRect">
            <a:avLst>
              <a:gd name="adj" fmla="val 5455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1488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IN KOREA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2788920"/>
            <a:ext cx="731520" cy="1097280"/>
          </a:xfrm>
          <a:prstGeom prst="roundRect">
            <a:avLst>
              <a:gd name="adj" fmla="val 375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278892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사출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58968" y="2788920"/>
            <a:ext cx="731520" cy="1097280"/>
          </a:xfrm>
          <a:prstGeom prst="roundRect">
            <a:avLst>
              <a:gd name="adj" fmla="val 375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95544" y="278892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끼움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36208" y="2788920"/>
            <a:ext cx="731520" cy="1097280"/>
          </a:xfrm>
          <a:prstGeom prst="roundRect">
            <a:avLst>
              <a:gd name="adj" fmla="val 375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72784" y="278892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다이소 · 오피스디포 등에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납품해 온 제조사가 만듭니다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636008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알앤디메이커스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다큐 3컷 + MADE IN KOREA 스탬프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만듭니다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사출부터 패드 끼움, 검수까지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공장에서.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매장에 신발을 납품해 온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제조사가 만듭니다.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18 / 28   From Road to Floor — 새활용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pic>
        <p:nvPicPr>
          <p:cNvPr id="15" name="Image 0" descr="/home/user/harness-system/launch/rs/design/detail-walking/ref/stico-rebor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40764" y="1965960"/>
            <a:ext cx="1417320" cy="2286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94944" y="4416552"/>
            <a:ext cx="31089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" y="4489704"/>
            <a:ext cx="2834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스티코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Re:born Eco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 + 라벨 마크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행택 새활용 마크로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Re:born Eco Project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Road to Floor.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636008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도로를 달리던 고무, 주방 바닥으로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27448" y="288036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27448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532120" y="2880360"/>
            <a:ext cx="594360" cy="5943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3212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고무 칩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327648" y="2880360"/>
            <a:ext cx="594360" cy="59436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27648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727448" y="3749040"/>
            <a:ext cx="2194560" cy="731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64024" y="374904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 새활용 마크 확대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마크를 확인하세요"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636008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수행 기업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타이어 → 칩 → 패드 3단 + 행택 마크 확대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Road to Floor.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그립 패드 4개,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한때 도로를 달리던 고무입니다.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 산업 육성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수행 기업이 만들었습니다.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'타이어로 만든 신발' ✗ · '무공해·인증' ✗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F6B3D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19 / 28   이런 분께 — 하나라도 해당되면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아치쿠션 기획안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체크리스트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 라라슈 차례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형식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 리뷰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확장 타깃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작업자 장화 대체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런칭 후 2차 타깃 후보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아치쿠션 기획안 CUT 12 / 슈니엘 축사 리뷰 (확장 타깃)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차례입니다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7448" y="274320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27432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하루 7시간 이상 서서 일한다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27448" y="329184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4024" y="32918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바닥이 자주 젖는 곳에서 일한다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27448" y="384048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64024" y="384048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깔창이 자꾸 딸려 나왔다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27448" y="438912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64024" y="4389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퇴근길에도 신고 싶은 작업화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4줄 · 직업 아이콘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해당되면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차례입니다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하루 7시간 이상 서서 일한다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바닥이 자주 젖는 곳에서 일한다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깔창이 자꾸 딸려 나왔다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퇴근길에도 신고 싶은 작업화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20 / 28   일상 착화 — 주방에서도, 퇴근길에도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라이프스타일 4컷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잔디 · 주방 · 데님+흰 양말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작업화 같지 않은 작업화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썸네일 07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후드 · 캐주얼 착화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일상복 모델 1컷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#2 라이프스타일 4컷 / 슈니엘 썸네일 07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주방에서도, 퇴근길에도.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514600"/>
            <a:ext cx="1097280" cy="123444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514600"/>
            <a:ext cx="1024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조리복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70448" y="2514600"/>
            <a:ext cx="1097280" cy="123444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07024" y="2514600"/>
            <a:ext cx="1024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전통시장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앞치마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1728" y="3840480"/>
            <a:ext cx="1097280" cy="123444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3840480"/>
            <a:ext cx="1024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데님+흰 양말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70448" y="3840480"/>
            <a:ext cx="1097280" cy="1234440"/>
          </a:xfrm>
          <a:prstGeom prst="roundRect">
            <a:avLst>
              <a:gd name="adj" fmla="val 25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07024" y="3840480"/>
            <a:ext cx="1024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카운터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그리드 · 텍스트 최소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주방에서도,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퇴근길에도.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갈아 신지 않아도 되는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21 / 28   관리 — 물로 헹구면 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Clove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관리 편의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닦아내면 끝 · 밑창 세탁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헹굼 GIF 한 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#24 금지 아이콘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건조기 · 드라이어 · 직사광선 · 표백제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주의사항은 CUT 27로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Clove 'wipe clean' / 슈니엘 #24 주의사항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헹구고, 닦고, 말리면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514600"/>
            <a:ext cx="2286000" cy="1371600"/>
          </a:xfrm>
          <a:prstGeom prst="roundRect">
            <a:avLst>
              <a:gd name="adj" fmla="val 2000"/>
            </a:avLst>
          </a:prstGeom>
          <a:solidFill>
            <a:srgbClr val="D8D2C6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514600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· 싱크대 물줄기에 헹굼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73168" y="40690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316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헹굼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50408" y="40690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5040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닦기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27648" y="4069080"/>
            <a:ext cx="548640" cy="548640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그늘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싱크대 헹굼 GIF + 3스텝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물로 헹구면 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헹구고, 닦고, 그늘에 말리면.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말릴 깔창도 따로 없습니다.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22 / 28   사이즈 가이드 + FAQ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#23 FAQ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사이즈? 운동화와 동일 · 발볼 넓으면 한 치수 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Q바 카드 형식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르무통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발볼·발등 고민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고민을 직접 불러줌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발볼 넓은 분 안내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#23 FAQ / 르무통 발볼 고민 호명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103120"/>
            <a:ext cx="2286000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8304" y="21031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 · 240 · 250 · 260 · 270 · 280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길이 / 발볼 [mm] 실측표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30632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0632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사이즈는 어떻게 고르나요?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81728" y="3538728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53872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깔창은 왜 없나요?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81728" y="4014216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401421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패드가 떨어지지 않나요?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81728" y="4489704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18304" y="448970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물세척 되나요?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사이즈표 + Q바 4개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사이즈, 이렇게 고르세요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운동화 사이즈 그대로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발볼이 넓으면 [안내]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깔창은 왜 없나요?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패드가 떨어지지 않나요?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물세척 되나요?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P03 사이즈 체계 · P16 발볼 · P10 패드 박리 테스트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E9C7E"/>
          </a:solidFill>
          <a:ln w="12700">
            <a:solidFill>
              <a:srgbClr val="7E9C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23 / 28   증거 모음 — 성적서 · 디자인 · 특허 🔒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#10 검증된 신발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시험성적서 · 인증서 이미지 2장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받은 서류만 이미지로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3218688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" y="3291840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인증 구간 톤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네이비 + 골드로 톤 전환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블랙 + 라임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#10 성적서 2장 / 슈니엘 #09 네이비+골드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것만, 보여드립니다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560320"/>
            <a:ext cx="1097280" cy="114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2560320"/>
            <a:ext cx="1024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 저항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성적서 (C02)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870448" y="2560320"/>
            <a:ext cx="1097280" cy="114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07024" y="2560320"/>
            <a:ext cx="1024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유해물질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성적서 (C03)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81728" y="3794760"/>
            <a:ext cx="1097280" cy="114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3794760"/>
            <a:ext cx="1024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등록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870448" y="3794760"/>
            <a:ext cx="1097280" cy="114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07024" y="3794760"/>
            <a:ext cx="1024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출원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제10-[번호]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 썸네일 4장 · 번호 표기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것만,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보여드립니다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 저항 시험 성적서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유해물질 시험 성적서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등록 2건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출원 제10-[번호]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🔒 C02 · C03 · C07 — 받은 서류만 노출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24 / 28   컬러 &amp; 제품컷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공통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제품컷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 · 뒤 3/4 · 밑창 · 페어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컬러별 4앵글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스티코 COLOR · 슈니엘 #22 룩북 · 제뉴인그립 #11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1000" dirty="0"/>
          </a:p>
        </p:txBody>
      </p:sp>
      <p:pic>
        <p:nvPicPr>
          <p:cNvPr id="20" name="Image 0" descr="/home/user/harness-system/launch/rs/design/detail-walking/img/sho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8888" y="2468880"/>
            <a:ext cx="2011680" cy="13716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230368" y="4023360"/>
            <a:ext cx="365760" cy="365760"/>
          </a:xfrm>
          <a:prstGeom prst="ellipse">
            <a:avLst/>
          </a:prstGeom>
          <a:solidFill>
            <a:srgbClr val="232323"/>
          </a:solidFill>
          <a:ln w="12700">
            <a:solidFill>
              <a:srgbClr val="D9D6C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41848" y="4023360"/>
            <a:ext cx="365760" cy="365760"/>
          </a:xfrm>
          <a:prstGeom prst="ellipse">
            <a:avLst/>
          </a:prstGeom>
          <a:solidFill>
            <a:srgbClr val="D8D2C6"/>
          </a:solidFill>
          <a:ln w="12700">
            <a:solidFill>
              <a:srgbClr val="D9D6C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53328" y="402336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6C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36008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[컬러명 1] · [컬러명 2] · [컬러명 3]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패드는 모두 라임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 3종 × 4앵글 · 스튜디오 연회색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[컬러명 1] · [컬러명 2] · [컬러명 3]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색이든, 바닥은 라임.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25 / 28   단체 구매 — 유니폼은 맞췄는데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B2B 유통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급식·병원 식자재몰 공급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단체 구매 문의 동선을 상세 안에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Clove 직업인 B2B / 제뉴인그립 식자재몰 유통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240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유니폼은 맞췄는데,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신발은요?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81728" y="2971800"/>
            <a:ext cx="2286000" cy="1188720"/>
          </a:xfrm>
          <a:prstGeom prst="roundRect">
            <a:avLst>
              <a:gd name="adj" fmla="val 2308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8304" y="297180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 · 주방 팀 단체 착화 사진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56048" y="4343400"/>
            <a:ext cx="1737360" cy="411480"/>
          </a:xfrm>
          <a:prstGeom prst="roundRect">
            <a:avLst>
              <a:gd name="adj" fmla="val 6667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92624" y="43434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구매 문의 →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636008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수량별 개별 견적 · 로고 각인 상담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배너 + 문의 버튼(랜딩 폼 QR)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유니폼은 맞췄는데,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신발은요?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 · 주방 · 매장 단체 구매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수량별 개별 견적으로 안내합니다.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26 / 28   런칭 혜택 + 인솔 함께 보기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크로스셀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최상단 인솔 추가구매 링크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우리는 하단 · '다른 신발용'으로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슈니엘 최상단 인솔 크로스셀 / 이벤트 배너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2286000" cy="1097280"/>
          </a:xfrm>
          <a:prstGeom prst="roundRect">
            <a:avLst>
              <a:gd name="adj" fmla="val 2500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혜택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[혜택 내용 · 기간]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신청 [N]명 ([날짜] 기준)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다른 신발엔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81728" y="3749040"/>
            <a:ext cx="2286000" cy="11887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8304" y="37490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신발은 그대로, 바닥만 새로.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21,500원 →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배너 + 인솔 카드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혜택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[혜택 내용 · 기간]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신던 다른 신발에는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36992" y="548640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FF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5486400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알림 신청 수는 실제 수치 + 날짜만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27 / 28   스펙 · 주의사항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제뉴인그립·슈니엘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PRODUCT SPEC + 금지 아이콘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· 무게 · 원산지 · 고열/표백제 금지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법정 표시 + 분쟁 예방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#12~13 / 슈니엘 #24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F5F2EC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36008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SPEC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2377440"/>
            <a:ext cx="228600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8304" y="237744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제품명 · 모델명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소재: 본체 E-실리폴리렌 / 패드 재생고무+재생PVC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230~280 · 무게 257g(270mm)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제조국 대한민국 · 제조자 (주)알앤디메이커스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A/S · 품질보증 기준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27448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2744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고열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111496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114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건조기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495544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95544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직사광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879592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7959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표백제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263640" y="40690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6B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날카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로움</a:t>
            </a:r>
            <a:endParaRPr lang="en-US" sz="6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행택 품질표시와 1:1 일치 (K04)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표 + 금지 아이콘 6개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SPEC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· 사이즈 · 무게 · 제조국 · 제조자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고열 · 건조기 · 직사광선 · 표백제 ·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날카로운 물건 주의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859536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2064" y="8595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822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 28 / 28   엔딩 — Made for Standing.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859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쿼드그립 종일편한 워킹화 · 스마트스토어/자사몰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solidFill>
            <a:srgbClr val="A8CF8A"/>
          </a:solidFill>
          <a:ln w="12700">
            <a:solidFill>
              <a:srgbClr val="A8C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solidFill>
            <a:srgbClr val="C2F0B8"/>
          </a:solidFill>
          <a:ln w="12700">
            <a:solidFill>
              <a:srgbClr val="C2F0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7368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구성레이아웃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12801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기획안멘트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62672" y="1709928"/>
            <a:ext cx="3474720" cy="46634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9659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039112"/>
            <a:ext cx="2834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슈니엘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#14 브랜드 선언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셰프가 밑창 들어 보이기 + 선언 카피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엔딩도 밑창 · 라임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 · 제뉴인그립 #16 엔딩 / 슈니엘 #14 브랜드 선언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1965960"/>
            <a:ext cx="2560320" cy="3520440"/>
          </a:xfrm>
          <a:prstGeom prst="rect">
            <a:avLst/>
          </a:prstGeom>
          <a:solidFill>
            <a:srgbClr val="1C1C1C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148840"/>
            <a:ext cx="2286000" cy="1828800"/>
          </a:xfrm>
          <a:prstGeom prst="roundRect">
            <a:avLst>
              <a:gd name="adj" fmla="val 150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21488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 뒷모습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라임 살짝</a:t>
            </a:r>
            <a:endParaRPr lang="en-US" sz="800" dirty="0"/>
          </a:p>
        </p:txBody>
      </p:sp>
      <p:pic>
        <p:nvPicPr>
          <p:cNvPr id="21" name="Image 0" descr="/home/user/harness-system/launch/rs/design/detail-walking/img/r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4688" y="4114800"/>
            <a:ext cx="640080" cy="53949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636008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178808" y="5687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라이프스타일 + 로고 락업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845552" y="20116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리스트</a:t>
            </a:r>
            <a:endParaRPr lang="en-US" sz="2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1463040"/>
                <a:gridCol w="384048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컷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· 연출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밑창 들어 보이기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 · 썸네일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주방, 조리복, 정면 미소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썸네일 1순위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다크 플로팅 렌더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 · 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검정 배경, 밑창 4점 사선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필름 소스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공감 3장면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젖은 주방 · 급식실 물청소 · 매장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얼굴 프레임 밖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착화 GIF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급식실 마대걸레 거품 바닥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미끄럼 연출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저울 · 누르기 GIF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· 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스튜디오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270mm 257g 실측 · C09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공장 다큐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사출 · 패드 끼움 · 검수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국산 근거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라이프스타일 4컷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주방 · 시장 · 퇴근길 · 매장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오래 걸림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헹굼 GIF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싱크대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세탁 테스트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컬러 × 4앵글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연회색 스튜디오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양산 컬러로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실사진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 가게 · 작업장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게이트 — 🔒 CUT은 무엇이 있어야 열리나</a:t>
            </a:r>
            <a:endParaRPr lang="en-US" sz="2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37160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트래커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· 마감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· 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미끄럼 저항 성적서 (KS M ISO 13287, 세제+글리세린)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차주 의뢰 (대표 10/08)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 삭제하고 오픈 → 수령 즉시 삽입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· 27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무게 실측 ✅ 270mm 한쪽 257g (10/09) · 230mm 값 추후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표기 없이 숫자만 쓰지 않기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 · 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반발탄성 · 압축영구줄음률 (일반 EVA 대조)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설명 + GIF만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특허 출원번호 · 스티코 FTO 의견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C07 · C11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10/08 · 10/31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출원 사실 문장 보류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체계 · 발볼 · 패드 박리 테스트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P03 · P16 · P10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 보류 (반품 리스크)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유해물질 성적서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삭제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새활용 마크 디자인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마크 없이 3단 그래픽만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 가드 — 대표 의도를 이렇게 바꿔 씁니다</a:t>
            </a:r>
            <a:endParaRPr lang="en-US" sz="2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56616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의도 / 쓰고 싶은 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그대로 쓰면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상세에서는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오래 신어도 발 아프지 않게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효능 · 의학 오인 (표시광고법)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반발탄성 [시험값]% · 눌렀다 돌아오는 GIF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피로감을 줄이는 경량성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'피로 감소' 효능 주장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한쪽 257g(270mm) · '하루 1만 보면 신발도 1만 번 든다'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주방 미끄럼 방지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'미끄럽지 않은 · 논슬립' (성적서 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4점 쿼드그립 패드(구조) → 성적서 후 KS 수치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종일 편한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'종일 편합니다' 효능 문장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'종일편한'은 제품명으로만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국산이라 더 좋다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타사 원산지 비교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'국내에서 만듭니다' + 공장 다큐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친환경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53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'무공해 · 환경부 인증'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4A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'폐타이어 고무를 그립 패드로' · 지원사업 수행 기업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325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히어로 A(다크 렌더) / B(밑창 들기 모델) 선택 · CUT 순서 승인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9264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756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0756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미끄럼 시험 의뢰 — KS M ISO 13287 · 세제+글리세린 · 패드 A/B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20756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25496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254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8254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발볼 사양(P16) · 사이즈 체계(P03) · 패드 박리(P10)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825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753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57530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10/28 확정(DP01) — 이 샷 리스트로 외주 브리핑 · 로케 4곳 섭외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5753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 확정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25112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3251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3251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CUT부터 860px HTML 시안 렌더링 (🔒 CUT은 자리만)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43251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즉시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074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변리사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5074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C11 스티코 FTO 의견 → CUT 08 문구 확정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10/31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aRa Shoe Detail">
  <a:themeElements>
    <a:clrScheme name="RhaRa Shoe Detail">
      <a:dk1>
        <a:srgbClr val="232323"/>
      </a:dk1>
      <a:lt1>
        <a:srgbClr val="FFFFFF"/>
      </a:lt1>
      <a:dk2>
        <a:srgbClr val="0D0D0D"/>
      </a:dk2>
      <a:lt2>
        <a:srgbClr val="F1F1F1"/>
      </a:lt2>
      <a:accent1>
        <a:srgbClr val="C6F432"/>
      </a:accent1>
      <a:accent2>
        <a:srgbClr val="3D4A12"/>
      </a:accent2>
      <a:accent3>
        <a:srgbClr val="FF6B3D"/>
      </a:accent3>
      <a:accent4>
        <a:srgbClr val="7E9C7E"/>
      </a:accent4>
      <a:accent5>
        <a:srgbClr val="A8CF8A"/>
      </a:accent5>
      <a:accent6>
        <a:srgbClr val="C2F0B8"/>
      </a:accent6>
      <a:hlink>
        <a:srgbClr val="3D4A12"/>
      </a:hlink>
      <a:folHlink>
        <a:srgbClr val="7E9C7E"/>
      </a:folHlink>
    </a:clrScheme>
    <a:fontScheme name="RhaRa Shoe Detai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쿼드그립 종일편한 워킹화 상세페이지 기획안</dc:title>
  <dc:subject>PptxGenJS Presentation</dc:subject>
  <dc:creator>RhaRa Shoe</dc:creator>
  <cp:lastModifiedBy>RhaRa Shoe</cp:lastModifiedBy>
  <cp:revision>1</cp:revision>
  <dcterms:created xsi:type="dcterms:W3CDTF">2026-10-14T14:39:26Z</dcterms:created>
  <dcterms:modified xsi:type="dcterms:W3CDTF">2026-10-14T14:39:26Z</dcterms:modified>
</cp:coreProperties>
</file>