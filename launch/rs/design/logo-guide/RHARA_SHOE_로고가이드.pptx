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fc219ca-588d-6fda-c8b8-6599817148c5}">
          <p14:sldIdLst>
            <p14:sldId id="256"/>
          </p14:sldIdLst>
        </p14:section>
        <p14:section name="기본" id="{dd9f4071-5940-ac2a-59ef-1a045ff1f006}">
          <p14:sldIdLst>
            <p14:sldId id="257"/>
            <p14:sldId id="258"/>
          </p14:sldIdLst>
        </p14:section>
        <p14:section name="컬러" id="{e939e0ec-85fb-9420-9b0f-ae3a6d59eea7}">
          <p14:sldIdLst>
            <p14:sldId id="259"/>
            <p14:sldId id="260"/>
          </p14:sldIdLst>
        </p14:section>
        <p14:section name="사용 규칙" id="{475b2977-ae23-e3a8-a5e0-8c723782c8ee}">
          <p14:sldIdLst>
            <p14:sldId id="261"/>
            <p14:sldId id="262"/>
            <p14:sldId id="263"/>
          </p14:sldIdLst>
        </p14:section>
        <p14:section name="적용" id="{1e935f6a-0b54-ccee-1ca9-fff3e66f7d9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2026-10-26 대표 확정: 영문 표기를 RHARA SHOE(대문자)로 통일. 이전 표기 RhaRa Shoe는 사용 중단.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rs-symbol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32584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63825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A6A65"/>
                </a:solidFill>
              </a:rPr>
              <a:t>RHARA SHOE  LOGO GUIDELINE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rs-symbol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32584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63825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A85"/>
                </a:solidFill>
              </a:rPr>
              <a:t>RHARA SHOE  LOGO GUIDELINE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로고" descr="img/rs-logo-rharashoe-caps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4023360" cy="4332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0" y="2377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</a:rPr>
              <a:t>LOGO GUIDELINE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9C4"/>
                </a:solidFill>
              </a:rPr>
              <a:t>RHARA SHOE 라라슈 로고 사용 기준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3886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432"/>
                </a:solidFill>
              </a:rPr>
              <a:t>Version 1.0  ·  알앤디메이커스 주식회사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400"/>
                </a:solidFill>
              </a:rPr>
              <a:t>01  NAMING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</a:rPr>
              <a:t>브랜드 표기는 하나로 씁니다</a:t>
            </a:r>
            <a:endParaRPr lang="en-US" sz="3000" dirty="0"/>
          </a:p>
        </p:txBody>
      </p:sp>
      <p:sp>
        <p:nvSpPr>
          <p:cNvPr id="4" name="바른 표기 카드"/>
          <p:cNvSpPr/>
          <p:nvPr/>
        </p:nvSpPr>
        <p:spPr>
          <a:xfrm>
            <a:off x="548640" y="169164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F432"/>
                </a:solidFill>
              </a:rPr>
              <a:t>이렇게 씁니다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</a:rPr>
              <a:t>RHARA SHOE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라라슈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690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8D8D3"/>
                </a:solidFill>
              </a:rPr>
              <a:t>영문은 항상 대문자, 두 단어 사이 한 칸 띄움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8D8D3"/>
                </a:solidFill>
              </a:rPr>
              <a:t>한글은 "라라슈" 세 글자 붙여 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8D8D3"/>
                </a:solidFill>
              </a:rPr>
              <a:t>문장 안에서도 같은 표기 (예: RHARA SHOE 쿼드그립 워킹화)</a:t>
            </a:r>
            <a:endParaRPr lang="en-US" sz="1400" dirty="0"/>
          </a:p>
        </p:txBody>
      </p:sp>
      <p:sp>
        <p:nvSpPr>
          <p:cNvPr id="9" name="잘못된 표기 카드"/>
          <p:cNvSpPr/>
          <p:nvPr/>
        </p:nvSpPr>
        <p:spPr>
          <a:xfrm>
            <a:off x="6400800" y="1691640"/>
            <a:ext cx="5242255" cy="4206240"/>
          </a:xfrm>
          <a:prstGeom prst="roundRect">
            <a:avLst>
              <a:gd name="adj" fmla="val 2609"/>
            </a:avLst>
          </a:prstGeom>
          <a:solidFill>
            <a:srgbClr val="F2F2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401F"/>
                </a:solidFill>
              </a:rPr>
              <a:t>이렇게 쓰지 않습니다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468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401F"/>
                </a:solidFill>
              </a:rPr>
              <a:t>✕</a:t>
            </a:r>
            <a:endParaRPr lang="en-US" sz="1800" dirty="0"/>
          </a:p>
        </p:txBody>
      </p:sp>
      <p:sp>
        <p:nvSpPr>
          <p:cNvPr id="12" name="금지 표기"/>
          <p:cNvSpPr txBox="1"/>
          <p:nvPr/>
        </p:nvSpPr>
        <p:spPr>
          <a:xfrm>
            <a:off x="726948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5"/>
                </a:solidFill>
              </a:rPr>
              <a:t>RhaRa Shoe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017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401F"/>
                </a:solidFill>
              </a:rPr>
              <a:t>✕</a:t>
            </a:r>
            <a:endParaRPr lang="en-US" sz="1800" dirty="0"/>
          </a:p>
        </p:txBody>
      </p:sp>
      <p:sp>
        <p:nvSpPr>
          <p:cNvPr id="14" name="금지 표기"/>
          <p:cNvSpPr txBox="1"/>
          <p:nvPr/>
        </p:nvSpPr>
        <p:spPr>
          <a:xfrm>
            <a:off x="7269480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5"/>
                </a:solidFill>
              </a:rPr>
              <a:t>Rhara Shoe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3566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401F"/>
                </a:solidFill>
              </a:rPr>
              <a:t>✕</a:t>
            </a:r>
            <a:endParaRPr lang="en-US" sz="1800" dirty="0"/>
          </a:p>
        </p:txBody>
      </p:sp>
      <p:sp>
        <p:nvSpPr>
          <p:cNvPr id="16" name="금지 표기"/>
          <p:cNvSpPr txBox="1"/>
          <p:nvPr/>
        </p:nvSpPr>
        <p:spPr>
          <a:xfrm>
            <a:off x="7269480" y="3566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5"/>
                </a:solidFill>
              </a:rPr>
              <a:t>Rha Ra Shoe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41148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401F"/>
                </a:solidFill>
              </a:rPr>
              <a:t>✕</a:t>
            </a:r>
            <a:endParaRPr lang="en-US" sz="1800" dirty="0"/>
          </a:p>
        </p:txBody>
      </p:sp>
      <p:sp>
        <p:nvSpPr>
          <p:cNvPr id="18" name="금지 표기"/>
          <p:cNvSpPr txBox="1"/>
          <p:nvPr/>
        </p:nvSpPr>
        <p:spPr>
          <a:xfrm>
            <a:off x="726948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5"/>
                </a:solidFill>
              </a:rPr>
              <a:t>RHARASHOE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663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401F"/>
                </a:solidFill>
              </a:rPr>
              <a:t>✕</a:t>
            </a:r>
            <a:endParaRPr lang="en-US" sz="1800" dirty="0"/>
          </a:p>
        </p:txBody>
      </p:sp>
      <p:sp>
        <p:nvSpPr>
          <p:cNvPr id="20" name="금지 표기"/>
          <p:cNvSpPr txBox="1"/>
          <p:nvPr/>
        </p:nvSpPr>
        <p:spPr>
          <a:xfrm>
            <a:off x="7269480" y="4663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5A55"/>
                </a:solidFill>
              </a:rPr>
              <a:t>라라 슈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5"/>
                </a:solidFill>
              </a:rPr>
              <a:t>예외: 주소·계정처럼 시스템이 소문자를 쓰는 곳 (예: @rharashoe)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400"/>
                </a:solidFill>
              </a:rPr>
              <a:t>02  LOGO SET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</a:rPr>
              <a:t>로고는 세 가지 형태로 씁니다</a:t>
            </a:r>
            <a:endParaRPr lang="en-US" sz="3000" dirty="0"/>
          </a:p>
        </p:txBody>
      </p:sp>
      <p:sp>
        <p:nvSpPr>
          <p:cNvPr id="4" name="로고 카드"/>
          <p:cNvSpPr/>
          <p:nvPr/>
        </p:nvSpPr>
        <p:spPr>
          <a:xfrm>
            <a:off x="548640" y="1691640"/>
            <a:ext cx="3454298" cy="4206240"/>
          </a:xfrm>
          <a:prstGeom prst="roundRect">
            <a:avLst>
              <a:gd name="adj" fmla="val 3177"/>
            </a:avLst>
          </a:prstGeom>
          <a:solidFill>
            <a:srgbClr val="F2F2EF"/>
          </a:solidFill>
          <a:ln/>
        </p:spPr>
      </p:sp>
      <p:pic>
        <p:nvPicPr>
          <p:cNvPr id="5" name="기본형 (세로)" descr="img/rs-logo-rharashoe-cap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841" y="1965960"/>
            <a:ext cx="2037897" cy="2194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44348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기본형 (세로)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89204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5"/>
                </a:solidFill>
              </a:rPr>
              <a:t>모든 매체의 기본. 행택·박스·족자·명함</a:t>
            </a:r>
            <a:endParaRPr lang="en-US" sz="1300" dirty="0"/>
          </a:p>
        </p:txBody>
      </p:sp>
      <p:sp>
        <p:nvSpPr>
          <p:cNvPr id="8" name="로고 카드"/>
          <p:cNvSpPr/>
          <p:nvPr/>
        </p:nvSpPr>
        <p:spPr>
          <a:xfrm>
            <a:off x="4368698" y="1691640"/>
            <a:ext cx="3454298" cy="4206240"/>
          </a:xfrm>
          <a:prstGeom prst="roundRect">
            <a:avLst>
              <a:gd name="adj" fmla="val 3177"/>
            </a:avLst>
          </a:prstGeom>
          <a:solidFill>
            <a:srgbClr val="F2F2EF"/>
          </a:solidFill>
          <a:ln/>
        </p:spPr>
      </p:sp>
      <p:pic>
        <p:nvPicPr>
          <p:cNvPr id="9" name="가로형" descr="img/rs-logo-horizontal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178" y="2842865"/>
            <a:ext cx="2631338" cy="4407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34458" y="44348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가로형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734458" y="489204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5"/>
                </a:solidFill>
              </a:rPr>
              <a:t>세로 공간이 좁을 때. 자사몰 상단·배너·영상 하단</a:t>
            </a:r>
            <a:endParaRPr lang="en-US" sz="1300" dirty="0"/>
          </a:p>
        </p:txBody>
      </p:sp>
      <p:sp>
        <p:nvSpPr>
          <p:cNvPr id="12" name="로고 카드"/>
          <p:cNvSpPr/>
          <p:nvPr/>
        </p:nvSpPr>
        <p:spPr>
          <a:xfrm>
            <a:off x="8188757" y="1691640"/>
            <a:ext cx="3454298" cy="4206240"/>
          </a:xfrm>
          <a:prstGeom prst="roundRect">
            <a:avLst>
              <a:gd name="adj" fmla="val 3177"/>
            </a:avLst>
          </a:prstGeom>
          <a:solidFill>
            <a:srgbClr val="F2F2EF"/>
          </a:solidFill>
          <a:ln/>
        </p:spPr>
      </p:sp>
      <p:pic>
        <p:nvPicPr>
          <p:cNvPr id="13" name="심볼 단독" descr="img/rs-symbol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30" y="1965960"/>
            <a:ext cx="2606753" cy="21945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54517" y="44348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심볼 단독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8554517" y="489204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5"/>
                </a:solidFill>
              </a:rPr>
              <a:t>이미 브랜드가 보이는 곳. SNS 프로필·신발 뒤꿈치·도장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400"/>
                </a:solidFill>
              </a:rPr>
              <a:t>03  COLOR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</a:rPr>
              <a:t>로고 컬러는 세 가지뿐입니다</a:t>
            </a:r>
            <a:endParaRPr lang="en-US" sz="3000" dirty="0"/>
          </a:p>
        </p:txBody>
      </p:sp>
      <p:sp>
        <p:nvSpPr>
          <p:cNvPr id="4" name="라임 LIME"/>
          <p:cNvSpPr/>
          <p:nvPr/>
        </p:nvSpPr>
        <p:spPr>
          <a:xfrm>
            <a:off x="548640" y="16916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C6F432"/>
          </a:solidFill>
          <a:ln w="12700">
            <a:solidFill>
              <a:srgbClr val="C9C9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라임 LIME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</a:rPr>
              <a:t>브랜드 대표색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5196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HEX  #C6F432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RGB  198 · 244 · 50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CMYK  C19 M0 Y80 K4 (참고값)</a:t>
            </a:r>
            <a:endParaRPr lang="en-US" sz="1300" dirty="0"/>
          </a:p>
        </p:txBody>
      </p:sp>
      <p:sp>
        <p:nvSpPr>
          <p:cNvPr id="8" name="잉크 INK"/>
          <p:cNvSpPr/>
          <p:nvPr/>
        </p:nvSpPr>
        <p:spPr>
          <a:xfrm>
            <a:off x="4368698" y="16916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0D0D0D"/>
          </a:solidFill>
          <a:ln w="12700">
            <a:solidFill>
              <a:srgbClr val="C9C9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4458" y="19202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잉크 INK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34458" y="342900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기본 배경·글자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425196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HEX  #0D0D0D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RGB  13 · 13 · 13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CMYK  C0 M0 Y0 K95 (참고값)</a:t>
            </a:r>
            <a:endParaRPr lang="en-US" sz="1300" dirty="0"/>
          </a:p>
        </p:txBody>
      </p:sp>
      <p:sp>
        <p:nvSpPr>
          <p:cNvPr id="12" name="화이트 WHITE"/>
          <p:cNvSpPr/>
          <p:nvPr/>
        </p:nvSpPr>
        <p:spPr>
          <a:xfrm>
            <a:off x="8188757" y="16916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C9C9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54517" y="19202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화이트 WHITE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54517" y="342900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0D0D"/>
                </a:solidFill>
              </a:rPr>
              <a:t>사진 위·어두운 배경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4251960"/>
            <a:ext cx="327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HEX  #FFFFFF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RGB  255 · 255 · 255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D0D0D"/>
                </a:solidFill>
              </a:rPr>
              <a:t>CMYK  C0 M0 Y0 K0 (참고값)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A65"/>
                </a:solidFill>
              </a:rPr>
              <a:t>CMYK는 화면 색을 단순 변환한 참고값입니다. 라임은 일반 인쇄에서 탁해지기 쉬우니, 인쇄소 컬러칩(별색·형광 별색)으로 교정 후 확정하세요.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400"/>
                </a:solidFill>
              </a:rPr>
              <a:t>04  BACKGROUND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</a:rPr>
              <a:t>배경에 따라 로고 색을 고릅니다</a:t>
            </a:r>
            <a:endParaRPr lang="en-US" sz="3000" dirty="0"/>
          </a:p>
        </p:txBody>
      </p:sp>
      <p:sp>
        <p:nvSpPr>
          <p:cNvPr id="4" name="잉크 배경"/>
          <p:cNvSpPr/>
          <p:nvPr/>
        </p:nvSpPr>
        <p:spPr>
          <a:xfrm>
            <a:off x="548640" y="1691640"/>
            <a:ext cx="2567864" cy="3017520"/>
          </a:xfrm>
          <a:prstGeom prst="roundRect">
            <a:avLst>
              <a:gd name="adj" fmla="val 4273"/>
            </a:avLst>
          </a:prstGeom>
          <a:solidFill>
            <a:srgbClr val="0D0D0D"/>
          </a:solidFill>
          <a:ln w="12700">
            <a:solidFill>
              <a:srgbClr val="C9C9C4"/>
            </a:solidFill>
            <a:prstDash val="solid"/>
          </a:ln>
        </p:spPr>
      </p:sp>
      <p:pic>
        <p:nvPicPr>
          <p:cNvPr id="5" name="잉크 배경 로고" descr="img/rs-logo-rharashoe-caps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892" y="2264940"/>
            <a:ext cx="1737360" cy="1870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92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</a:rPr>
              <a:t>잉크 배경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03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5"/>
                </a:solidFill>
              </a:rPr>
              <a:t>기본 조합 — 라임 로고</a:t>
            </a:r>
            <a:endParaRPr lang="en-US" sz="1300" dirty="0"/>
          </a:p>
        </p:txBody>
      </p:sp>
      <p:sp>
        <p:nvSpPr>
          <p:cNvPr id="8" name="흰 배경"/>
          <p:cNvSpPr/>
          <p:nvPr/>
        </p:nvSpPr>
        <p:spPr>
          <a:xfrm>
            <a:off x="3390824" y="1691640"/>
            <a:ext cx="2567864" cy="301752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C9C9C4"/>
            </a:solidFill>
            <a:prstDash val="solid"/>
          </a:ln>
        </p:spPr>
      </p:sp>
      <p:pic>
        <p:nvPicPr>
          <p:cNvPr id="9" name="흰 배경 로고" descr="img/rs-logo-rharashoe-caps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076" y="2264940"/>
            <a:ext cx="1737360" cy="1870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90824" y="4892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</a:rPr>
              <a:t>흰 배경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390824" y="5303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5"/>
                </a:solidFill>
              </a:rPr>
              <a:t>잉크 로고</a:t>
            </a:r>
            <a:endParaRPr lang="en-US" sz="1300" dirty="0"/>
          </a:p>
        </p:txBody>
      </p:sp>
      <p:sp>
        <p:nvSpPr>
          <p:cNvPr id="12" name="라임 배경"/>
          <p:cNvSpPr/>
          <p:nvPr/>
        </p:nvSpPr>
        <p:spPr>
          <a:xfrm>
            <a:off x="6233008" y="1691640"/>
            <a:ext cx="2567864" cy="3017520"/>
          </a:xfrm>
          <a:prstGeom prst="roundRect">
            <a:avLst>
              <a:gd name="adj" fmla="val 4273"/>
            </a:avLst>
          </a:prstGeom>
          <a:solidFill>
            <a:srgbClr val="C6F432"/>
          </a:solidFill>
          <a:ln w="12700">
            <a:solidFill>
              <a:srgbClr val="C9C9C4"/>
            </a:solidFill>
            <a:prstDash val="solid"/>
          </a:ln>
        </p:spPr>
      </p:sp>
      <p:pic>
        <p:nvPicPr>
          <p:cNvPr id="13" name="라임 배경 로고" descr="img/rs-logo-rharashoe-cap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260" y="2264940"/>
            <a:ext cx="1737360" cy="1870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33008" y="4892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</a:rPr>
              <a:t>라임 배경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233008" y="5303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5"/>
                </a:solidFill>
              </a:rPr>
              <a:t>잉크 로고 (흰 로고 ✕)</a:t>
            </a:r>
            <a:endParaRPr lang="en-US" sz="1300" dirty="0"/>
          </a:p>
        </p:txBody>
      </p:sp>
      <p:sp>
        <p:nvSpPr>
          <p:cNvPr id="16" name="사진·어두운 배경"/>
          <p:cNvSpPr/>
          <p:nvPr/>
        </p:nvSpPr>
        <p:spPr>
          <a:xfrm>
            <a:off x="9075191" y="1691640"/>
            <a:ext cx="2567864" cy="3017520"/>
          </a:xfrm>
          <a:prstGeom prst="roundRect">
            <a:avLst>
              <a:gd name="adj" fmla="val 4273"/>
            </a:avLst>
          </a:prstGeom>
          <a:solidFill>
            <a:srgbClr val="3A3A38"/>
          </a:solidFill>
          <a:ln w="12700">
            <a:solidFill>
              <a:srgbClr val="C9C9C4"/>
            </a:solidFill>
            <a:prstDash val="solid"/>
          </a:ln>
        </p:spPr>
      </p:sp>
      <p:pic>
        <p:nvPicPr>
          <p:cNvPr id="17" name="사진·어두운 배경 로고" descr="img/rs-logo-rharashoe-cap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443" y="2264940"/>
            <a:ext cx="1737360" cy="1870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75191" y="4892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0D0D"/>
                </a:solidFill>
              </a:rPr>
              <a:t>사진·어두운 배경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9075191" y="530352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5"/>
                </a:solidFill>
              </a:rPr>
              <a:t>흰 로고 — 단순한 부분에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400"/>
                </a:solidFill>
              </a:rPr>
              <a:t>05  CLEAR SPACE · MIN SIZE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</a:rPr>
              <a:t>로고 주변은 비우고, 너무 작게 쓰지 않습니다</a:t>
            </a:r>
            <a:endParaRPr lang="en-US" sz="3000" dirty="0"/>
          </a:p>
        </p:txBody>
      </p:sp>
      <p:sp>
        <p:nvSpPr>
          <p:cNvPr id="4" name="여백 영역"/>
          <p:cNvSpPr/>
          <p:nvPr/>
        </p:nvSpPr>
        <p:spPr>
          <a:xfrm>
            <a:off x="963800" y="1649600"/>
            <a:ext cx="3375920" cy="3558686"/>
          </a:xfrm>
          <a:prstGeom prst="rect">
            <a:avLst/>
          </a:prstGeom>
          <a:solidFill>
            <a:srgbClr val="EEF9C9"/>
          </a:solidFill>
          <a:ln w="12700">
            <a:solidFill>
              <a:srgbClr val="4A7400"/>
            </a:solidFill>
            <a:prstDash val="dash"/>
          </a:ln>
        </p:spPr>
      </p:sp>
      <p:pic>
        <p:nvPicPr>
          <p:cNvPr id="5" name="여백 예시 로고" descr="img/rs-logo-rharashoe-cap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148840"/>
            <a:ext cx="2377440" cy="25602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02140" y="1762060"/>
            <a:ext cx="49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400"/>
                </a:solidFill>
              </a:rPr>
              <a:t>X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3291783"/>
            <a:ext cx="49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400"/>
                </a:solidFill>
              </a:rPr>
              <a:t>X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73736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여백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A5A55"/>
                </a:solidFill>
              </a:rPr>
              <a:t>로고 사방으로 X 만큼은 글자·사진·선을 두지 않습니다. X = 심볼(RS) 높이의 1/4</a:t>
            </a:r>
            <a:endParaRPr lang="en-US" sz="1800" dirty="0"/>
          </a:p>
        </p:txBody>
      </p:sp>
      <p:graphicFrame>
        <p:nvGraphicFramePr>
          <p:cNvPr id="7" name="최소 크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063240"/>
          <a:ext cx="55778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0D0D"/>
                          </a:solidFill>
                        </a:rPr>
                        <a:t>형태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0D0D"/>
                          </a:solidFill>
                        </a:rPr>
                        <a:t>인쇄 최소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0D0D"/>
                          </a:solidFill>
                        </a:rPr>
                        <a:t>화면 최소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기본형 (세로)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가로 20mm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가로 120px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가로형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가로 35mm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가로 180px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심볼 단독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가로 8mm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0D0D"/>
                          </a:solidFill>
                        </a:rPr>
                        <a:t>가로 32px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035040" y="50749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A65"/>
                </a:solidFill>
              </a:rPr>
              <a:t>최소 크기보다 작으면 "라라슈" 글자가 뭉개집니다. 그보다 작은 곳은 심볼 단독을 쓰세요.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432"/>
                </a:solidFill>
              </a:rPr>
              <a:t>06  TYPEFACE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워드마크 서체와 함께 쓰는 서체</a:t>
            </a:r>
            <a:endParaRPr lang="en-US" sz="3000" dirty="0"/>
          </a:p>
        </p:txBody>
      </p:sp>
      <p:sp>
        <p:nvSpPr>
          <p:cNvPr id="4" name="서체 카드"/>
          <p:cNvSpPr/>
          <p:nvPr/>
        </p:nvSpPr>
        <p:spPr>
          <a:xfrm>
            <a:off x="548640" y="1691640"/>
            <a:ext cx="3454298" cy="4023360"/>
          </a:xfrm>
          <a:prstGeom prst="roundRect">
            <a:avLst>
              <a:gd name="adj" fmla="val 3177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43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RHARA SHOE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490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Poppins SemiBold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C4"/>
                </a:solidFill>
              </a:rPr>
              <a:t>워드마크 영문 · 영문 제목</a:t>
            </a:r>
            <a:endParaRPr lang="en-US" sz="1300" dirty="0"/>
          </a:p>
        </p:txBody>
      </p:sp>
      <p:sp>
        <p:nvSpPr>
          <p:cNvPr id="8" name="서체 카드"/>
          <p:cNvSpPr/>
          <p:nvPr/>
        </p:nvSpPr>
        <p:spPr>
          <a:xfrm>
            <a:off x="4368698" y="1691640"/>
            <a:ext cx="3454298" cy="4023360"/>
          </a:xfrm>
          <a:prstGeom prst="roundRect">
            <a:avLst>
              <a:gd name="adj" fmla="val 3177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34458" y="21031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4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라라슈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734458" y="37490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Noto Sans KR Bold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34458" y="420624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C4"/>
                </a:solidFill>
              </a:rPr>
              <a:t>워드마크 한글 · 한글 제목</a:t>
            </a:r>
            <a:endParaRPr lang="en-US" sz="1300" dirty="0"/>
          </a:p>
        </p:txBody>
      </p:sp>
      <p:sp>
        <p:nvSpPr>
          <p:cNvPr id="12" name="서체 카드"/>
          <p:cNvSpPr/>
          <p:nvPr/>
        </p:nvSpPr>
        <p:spPr>
          <a:xfrm>
            <a:off x="8188757" y="1691640"/>
            <a:ext cx="3454298" cy="4023360"/>
          </a:xfrm>
          <a:prstGeom prst="roundRect">
            <a:avLst>
              <a:gd name="adj" fmla="val 3177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54517" y="21031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6F4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서서 일하는 하루를 위한 신발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554517" y="374904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Noto Sans KR Regular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54517" y="4206240"/>
            <a:ext cx="272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C4"/>
                </a:solidFill>
              </a:rPr>
              <a:t>본문 · 설명문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4"/>
                </a:solidFill>
              </a:rPr>
              <a:t>로고의 글자는 서체로 다시 타이핑하지 말고, 항상 제공된 로고 파일을 씁니다. 두 서체 모두 무료(구글 폰트)입니다.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400"/>
                </a:solidFill>
              </a:rPr>
              <a:t>07  DON'T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</a:rPr>
              <a:t>이렇게 쓰지 않습니다</a:t>
            </a:r>
            <a:endParaRPr lang="en-US" sz="3000" dirty="0"/>
          </a:p>
        </p:txBody>
      </p:sp>
      <p:pic>
        <p:nvPicPr>
          <p:cNvPr id="4" name="금지 늘리거나 찌그러뜨리기" descr="img/bad-stre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3454298" cy="1427777"/>
          </a:xfrm>
          <a:prstGeom prst="rect">
            <a:avLst/>
          </a:prstGeom>
        </p:spPr>
      </p:pic>
      <p:sp>
        <p:nvSpPr>
          <p:cNvPr id="5" name="금지 표시"/>
          <p:cNvSpPr/>
          <p:nvPr/>
        </p:nvSpPr>
        <p:spPr>
          <a:xfrm>
            <a:off x="3500018" y="1737360"/>
            <a:ext cx="365760" cy="365760"/>
          </a:xfrm>
          <a:prstGeom prst="ellipse">
            <a:avLst/>
          </a:prstGeom>
          <a:solidFill>
            <a:srgbClr val="D2401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50001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19417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늘리거나 찌그러뜨리기</a:t>
            </a:r>
            <a:endParaRPr lang="en-US" sz="1400" dirty="0"/>
          </a:p>
        </p:txBody>
      </p:sp>
      <p:pic>
        <p:nvPicPr>
          <p:cNvPr id="8" name="금지 기울이거나 돌리기" descr="img/bad-rot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68698" y="1600200"/>
            <a:ext cx="3454298" cy="1427777"/>
          </a:xfrm>
          <a:prstGeom prst="rect">
            <a:avLst/>
          </a:prstGeom>
        </p:spPr>
      </p:pic>
      <p:sp>
        <p:nvSpPr>
          <p:cNvPr id="9" name="금지 표시"/>
          <p:cNvSpPr/>
          <p:nvPr/>
        </p:nvSpPr>
        <p:spPr>
          <a:xfrm>
            <a:off x="7320077" y="1737360"/>
            <a:ext cx="365760" cy="365760"/>
          </a:xfrm>
          <a:prstGeom prst="ellipse">
            <a:avLst/>
          </a:prstGeom>
          <a:solidFill>
            <a:srgbClr val="D2401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20077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368698" y="3119417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기울이거나 돌리기</a:t>
            </a:r>
            <a:endParaRPr lang="en-US" sz="1400" dirty="0"/>
          </a:p>
        </p:txBody>
      </p:sp>
      <p:pic>
        <p:nvPicPr>
          <p:cNvPr id="12" name="금지 정해지지 않은 색 쓰기" descr="img/bad-col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8757" y="1600200"/>
            <a:ext cx="3454298" cy="1427777"/>
          </a:xfrm>
          <a:prstGeom prst="rect">
            <a:avLst/>
          </a:prstGeom>
        </p:spPr>
      </p:pic>
      <p:sp>
        <p:nvSpPr>
          <p:cNvPr id="13" name="금지 표시"/>
          <p:cNvSpPr/>
          <p:nvPr/>
        </p:nvSpPr>
        <p:spPr>
          <a:xfrm>
            <a:off x="11140135" y="1737360"/>
            <a:ext cx="365760" cy="365760"/>
          </a:xfrm>
          <a:prstGeom prst="ellipse">
            <a:avLst/>
          </a:prstGeom>
          <a:solidFill>
            <a:srgbClr val="D2401F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11140135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188757" y="3119417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정해지지 않은 색 쓰기</a:t>
            </a:r>
            <a:endParaRPr lang="en-US" sz="1400" dirty="0"/>
          </a:p>
        </p:txBody>
      </p:sp>
      <p:pic>
        <p:nvPicPr>
          <p:cNvPr id="16" name="금지 그림자·빛 효과 넣기" descr="img/bad-effec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3713777"/>
            <a:ext cx="3454298" cy="1427777"/>
          </a:xfrm>
          <a:prstGeom prst="rect">
            <a:avLst/>
          </a:prstGeom>
        </p:spPr>
      </p:pic>
      <p:sp>
        <p:nvSpPr>
          <p:cNvPr id="17" name="금지 표시"/>
          <p:cNvSpPr/>
          <p:nvPr/>
        </p:nvSpPr>
        <p:spPr>
          <a:xfrm>
            <a:off x="3500018" y="3850937"/>
            <a:ext cx="365760" cy="365760"/>
          </a:xfrm>
          <a:prstGeom prst="ellipse">
            <a:avLst/>
          </a:prstGeom>
          <a:solidFill>
            <a:srgbClr val="D2401F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3500018" y="38509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232993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그림자·빛 효과 넣기</a:t>
            </a:r>
            <a:endParaRPr lang="en-US" sz="1400" dirty="0"/>
          </a:p>
        </p:txBody>
      </p:sp>
      <p:pic>
        <p:nvPicPr>
          <p:cNvPr id="20" name="금지 복잡한 사진 위에 올리기" descr="img/bad-bus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68698" y="3713777"/>
            <a:ext cx="3454298" cy="1427777"/>
          </a:xfrm>
          <a:prstGeom prst="rect">
            <a:avLst/>
          </a:prstGeom>
        </p:spPr>
      </p:pic>
      <p:sp>
        <p:nvSpPr>
          <p:cNvPr id="21" name="금지 표시"/>
          <p:cNvSpPr/>
          <p:nvPr/>
        </p:nvSpPr>
        <p:spPr>
          <a:xfrm>
            <a:off x="7320077" y="3850937"/>
            <a:ext cx="365760" cy="365760"/>
          </a:xfrm>
          <a:prstGeom prst="ellipse">
            <a:avLst/>
          </a:prstGeom>
          <a:solidFill>
            <a:srgbClr val="D2401F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7320077" y="38509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4368698" y="5232993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복잡한 사진 위에 올리기</a:t>
            </a:r>
            <a:endParaRPr lang="en-US" sz="1400" dirty="0"/>
          </a:p>
        </p:txBody>
      </p:sp>
      <p:pic>
        <p:nvPicPr>
          <p:cNvPr id="24" name="금지 다른 서체로 다시 쓰기" descr="img/bad-retyp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88757" y="3713777"/>
            <a:ext cx="3454298" cy="1427777"/>
          </a:xfrm>
          <a:prstGeom prst="rect">
            <a:avLst/>
          </a:prstGeom>
        </p:spPr>
      </p:pic>
      <p:sp>
        <p:nvSpPr>
          <p:cNvPr id="25" name="금지 표시"/>
          <p:cNvSpPr/>
          <p:nvPr/>
        </p:nvSpPr>
        <p:spPr>
          <a:xfrm>
            <a:off x="11140135" y="3850937"/>
            <a:ext cx="365760" cy="365760"/>
          </a:xfrm>
          <a:prstGeom prst="ellipse">
            <a:avLst/>
          </a:prstGeom>
          <a:solidFill>
            <a:srgbClr val="D2401F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11140135" y="38509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8188757" y="5232993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</a:rPr>
              <a:t>다른 서체로 다시 쓰기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400"/>
                </a:solidFill>
              </a:rPr>
              <a:t>08  APPLICATION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</a:rPr>
              <a:t>매체별로 이 버전을 씁니다</a:t>
            </a:r>
            <a:endParaRPr lang="en-US" sz="3000" dirty="0"/>
          </a:p>
        </p:txBody>
      </p:sp>
      <p:graphicFrame>
        <p:nvGraphicFramePr>
          <p:cNvPr id="10" name="매체별 적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3108960"/>
                <a:gridCol w="36850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매체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로고 형태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색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행택 · 신발 박스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기본형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라임 / 잉크 배경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표시사항 면은 잉크 1도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쇼핑백 (크라프트)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기본형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먹 1도 (실크)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라임 인쇄 ✕ — 크라프트 위에서 탁해짐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명함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기본형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라임 / 잉크 배경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뒷면은 잉크 로고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족자 · X배너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기본형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라임 또는 잉크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바닥에서 1.1~1.9m 높이에 배치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자사몰 상단 · 배너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가로형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잉크 (흰 바탕) / 라임 (어두운 바탕)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모바일 상단은 심볼 단독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SNS 프로필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심볼 단독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라임 / 잉크 배경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원형으로 잘려도 여백 확보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신발 뒤꿈치 · 깔창 각인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심볼 단독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단색 (소재색)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D"/>
                          </a:solidFill>
                        </a:rPr>
                        <a:t>금형 각인은 최소 8mm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6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432"/>
                </a:solidFill>
              </a:rPr>
              <a:t>09  FILES</a:t>
            </a:r>
            <a:endParaRPr lang="en-US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로고 파일은 이것만 씁니다</a:t>
            </a:r>
            <a:endParaRPr lang="en-US" sz="3000" dirty="0"/>
          </a:p>
        </p:txBody>
      </p:sp>
      <p:graphicFrame>
        <p:nvGraphicFramePr>
          <p:cNvPr id="11" name="파일 목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560320"/>
                <a:gridCol w="26791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D"/>
                          </a:solidFill>
                        </a:rPr>
                        <a:t>파일 이름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D"/>
                          </a:solidFill>
                        </a:rPr>
                        <a:t>형태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D"/>
                          </a:solidFill>
                        </a:rPr>
                        <a:t>색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F4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rs-logo-rharashoe-caps-{ink · lime · white}.svg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기본형 (세로)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잉크 · 라임 · 화이트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rs-logo-horizontal-{ink · lime · white}.svg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가로형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잉크 · 라임 · 화이트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rs-symbol-{ink · lime · white}.svg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심볼 단독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잉크 · 라임 · 화이트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6908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8D8D3"/>
                </a:solidFill>
              </a:rPr>
              <a:t>SVG = 벡터 원본 (인쇄소·디자이너 전달용, 크기를 키워도 깨지지 않음)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8D8D3"/>
                </a:solidFill>
              </a:rPr>
              <a:t>이전 파일 rs-logo-rharashoe-{색}.svg (RhaRa Shoe 표기)는 더 이상 쓰지 않습니다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8D8D3"/>
                </a:solidFill>
              </a:rPr>
              <a:t>파일이 필요하면 알앤디메이커스에 요청하세요 — 화면 캡처 로고는 쓰지 않습니다</a:t>
            </a:r>
            <a:endParaRPr lang="en-US" sz="1400" dirty="0"/>
          </a:p>
        </p:txBody>
      </p:sp>
      <p:pic>
        <p:nvPicPr>
          <p:cNvPr id="6" name="가로형 로고" descr="img/rs-logo-horizontal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5532120"/>
            <a:ext cx="2926080" cy="4901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HARA SHOE">
  <a:themeElements>
    <a:clrScheme name="RHARA SHOE">
      <a:dk1>
        <a:srgbClr val="0D0D0D"/>
      </a:dk1>
      <a:lt1>
        <a:srgbClr val="FFFFFF"/>
      </a:lt1>
      <a:dk2>
        <a:srgbClr val="2B2B2B"/>
      </a:dk2>
      <a:lt2>
        <a:srgbClr val="F2F2EF"/>
      </a:lt2>
      <a:accent1>
        <a:srgbClr val="C6F432"/>
      </a:accent1>
      <a:accent2>
        <a:srgbClr val="4A7400"/>
      </a:accent2>
      <a:accent3>
        <a:srgbClr val="8A8A85"/>
      </a:accent3>
      <a:accent4>
        <a:srgbClr val="D2401F"/>
      </a:accent4>
      <a:accent5>
        <a:srgbClr val="C9C9C4"/>
      </a:accent5>
      <a:accent6>
        <a:srgbClr val="5A5A55"/>
      </a:accent6>
      <a:hlink>
        <a:srgbClr val="4A7400"/>
      </a:hlink>
      <a:folHlink>
        <a:srgbClr val="8A8A85"/>
      </a:folHlink>
    </a:clrScheme>
    <a:fontScheme name="RHARA SHO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RHARA SHOE 로고 가이드</dc:title>
  <dc:subject>PptxGenJS Presentation</dc:subject>
  <dc:creator>알앤디메이커스 주식회사</dc:creator>
  <cp:lastModifiedBy>알앤디메이커스 주식회사</cp:lastModifiedBy>
  <cp:revision>1</cp:revision>
  <dcterms:created xsi:type="dcterms:W3CDTF">2026-10-26T04:59:54Z</dcterms:created>
  <dcterms:modified xsi:type="dcterms:W3CDTF">2026-10-26T04:59:54Z</dcterms:modified>
</cp:coreProperties>
</file>