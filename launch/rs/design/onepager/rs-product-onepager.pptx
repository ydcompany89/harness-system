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상품소개서" id="{960af134-f636-9a8c-f5c4-a41aec98f834}">
          <p14:sldIdLst>
            <p14:sldId id="25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워킹화 사진은 대표 제공 리터칭 이미지(2026-10-05), 인솔은 9/30 실물 리터칭. 밑창 패드는 양산 컬러(라임) 적용 이미지 — 라파 양산 컬러 확정(P18) 전 외부 배포 시 주의. 10/28 촬영본으로 교체 예정.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NEPAGER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005840"/>
            <a:ext cx="60350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005840"/>
            <a:ext cx="603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Made for Standing.</a:t>
            </a:r>
            <a:endParaRPr lang="en-US" sz="3600" dirty="0"/>
          </a:p>
        </p:txBody>
      </p:sp>
      <p:pic>
        <p:nvPicPr>
          <p:cNvPr id="3" name="RS 로고" descr="r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603504" cy="507492"/>
          </a:xfrm>
          <a:prstGeom prst="rect">
            <a:avLst/>
          </a:prstGeom>
        </p:spPr>
      </p:pic>
      <p:sp>
        <p:nvSpPr>
          <p:cNvPr id="4" name="브랜드명"/>
          <p:cNvSpPr txBox="1"/>
          <p:nvPr/>
        </p:nvSpPr>
        <p:spPr>
          <a:xfrm>
            <a:off x="1298448" y="384048"/>
            <a:ext cx="4114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RhaRa Shoe  라라슈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㈜알앤디메이커스 · 1차 라인업</a:t>
            </a:r>
            <a:endParaRPr lang="en-US" sz="1500" dirty="0"/>
          </a:p>
        </p:txBody>
      </p:sp>
      <p:sp>
        <p:nvSpPr>
          <p:cNvPr id="5" name="오픈 배지"/>
          <p:cNvSpPr/>
          <p:nvPr/>
        </p:nvSpPr>
        <p:spPr>
          <a:xfrm>
            <a:off x="9811512" y="429768"/>
            <a:ext cx="182880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6" name="오픈 일자"/>
          <p:cNvSpPr txBox="1"/>
          <p:nvPr/>
        </p:nvSpPr>
        <p:spPr>
          <a:xfrm>
            <a:off x="9811512" y="42976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2026.11.11 OPEN</a:t>
            </a:r>
            <a:endParaRPr lang="en-US" sz="1300" dirty="0"/>
          </a:p>
        </p:txBody>
      </p:sp>
      <p:sp>
        <p:nvSpPr>
          <p:cNvPr id="7" name="시작 이야기"/>
          <p:cNvSpPr txBox="1"/>
          <p:nvPr/>
        </p:nvSpPr>
        <p:spPr>
          <a:xfrm>
            <a:off x="6675120" y="1005840"/>
            <a:ext cx="49651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서서 일하는 하루를 위해 설계한 워킹화와 인솔</a:t>
            </a:r>
            <a:endParaRPr lang="en-US" sz="1200" dirty="0"/>
          </a:p>
          <a:p>
            <a:pPr algn="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현장의 목소리에서 출발해, 버려지는 자원으로 완성한 1차 라인업</a:t>
            </a:r>
            <a:endParaRPr lang="en-US" sz="1200" dirty="0"/>
          </a:p>
        </p:txBody>
      </p:sp>
      <p:sp>
        <p:nvSpPr>
          <p:cNvPr id="8" name="제품 카드"/>
          <p:cNvSpPr/>
          <p:nvPr/>
        </p:nvSpPr>
        <p:spPr>
          <a:xfrm>
            <a:off x="548640" y="1874520"/>
            <a:ext cx="5413248" cy="4023360"/>
          </a:xfrm>
          <a:prstGeom prst="roundRect">
            <a:avLst>
              <a:gd name="adj" fmla="val 1818"/>
            </a:avLst>
          </a:prstGeom>
          <a:solidFill>
            <a:schemeClr val="tx2"/>
          </a:solidFill>
          <a:ln/>
        </p:spPr>
      </p:sp>
      <p:sp>
        <p:nvSpPr>
          <p:cNvPr id="9" name="제품 카드"/>
          <p:cNvSpPr/>
          <p:nvPr/>
        </p:nvSpPr>
        <p:spPr>
          <a:xfrm>
            <a:off x="6236208" y="1874520"/>
            <a:ext cx="5413248" cy="4023360"/>
          </a:xfrm>
          <a:prstGeom prst="roundRect">
            <a:avLst>
              <a:gd name="adj" fmla="val 1818"/>
            </a:avLst>
          </a:prstGeom>
          <a:solidFill>
            <a:schemeClr val="tx2"/>
          </a:solidFill>
          <a:ln/>
        </p:spPr>
      </p:sp>
      <p:pic>
        <p:nvPicPr>
          <p:cNvPr id="10" name="워킹화 탑뷰" descr="tile-sho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984248"/>
            <a:ext cx="2194560" cy="1755648"/>
          </a:xfrm>
          <a:prstGeom prst="rect">
            <a:avLst/>
          </a:prstGeom>
        </p:spPr>
      </p:pic>
      <p:pic>
        <p:nvPicPr>
          <p:cNvPr id="11" name="밑창 그립 패드" descr="tile-outso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2656" y="2148840"/>
            <a:ext cx="2889504" cy="1179881"/>
          </a:xfrm>
          <a:prstGeom prst="rect">
            <a:avLst/>
          </a:prstGeom>
        </p:spPr>
      </p:pic>
      <p:sp>
        <p:nvSpPr>
          <p:cNvPr id="12" name="패드 캡션"/>
          <p:cNvSpPr txBox="1"/>
          <p:nvPr/>
        </p:nvSpPr>
        <p:spPr>
          <a:xfrm>
            <a:off x="2962656" y="3383585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밑창 · 양산 컬러(라임) 적용 이미지</a:t>
            </a:r>
            <a:endParaRPr lang="en-US" sz="1000" dirty="0"/>
          </a:p>
        </p:txBody>
      </p:sp>
      <p:pic>
        <p:nvPicPr>
          <p:cNvPr id="13" name="인솔(실물 리터칭)" descr="tile-inso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9053" y="1984248"/>
            <a:ext cx="2867558" cy="1792224"/>
          </a:xfrm>
          <a:prstGeom prst="rect">
            <a:avLst/>
          </a:prstGeom>
        </p:spPr>
      </p:pic>
      <p:sp>
        <p:nvSpPr>
          <p:cNvPr id="14" name="제품명"/>
          <p:cNvSpPr txBox="1"/>
          <p:nvPr/>
        </p:nvSpPr>
        <p:spPr>
          <a:xfrm>
            <a:off x="822960" y="3995928"/>
            <a:ext cx="3401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쿼드그립 종일편한 워킹화</a:t>
            </a:r>
            <a:endParaRPr lang="en-US" sz="1900" dirty="0"/>
          </a:p>
        </p:txBody>
      </p:sp>
      <p:sp>
        <p:nvSpPr>
          <p:cNvPr id="15" name="가격"/>
          <p:cNvSpPr txBox="1"/>
          <p:nvPr/>
        </p:nvSpPr>
        <p:spPr>
          <a:xfrm>
            <a:off x="4224528" y="399592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42,500원</a:t>
            </a:r>
            <a:endParaRPr lang="en-US" sz="1900" dirty="0"/>
          </a:p>
        </p:txBody>
      </p:sp>
      <p:sp>
        <p:nvSpPr>
          <p:cNvPr id="16" name="한줄 설명"/>
          <p:cNvSpPr txBox="1"/>
          <p:nvPr/>
        </p:nvSpPr>
        <p:spPr>
          <a:xfrm>
            <a:off x="822960" y="4398264"/>
            <a:ext cx="4864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주방·매장·현장에서 오래 서는 분들을 위한 신발</a:t>
            </a:r>
            <a:endParaRPr lang="en-US" sz="1200" dirty="0"/>
          </a:p>
        </p:txBody>
      </p:sp>
      <p:sp>
        <p:nvSpPr>
          <p:cNvPr id="17" name="번호"/>
          <p:cNvSpPr/>
          <p:nvPr/>
        </p:nvSpPr>
        <p:spPr>
          <a:xfrm>
            <a:off x="822960" y="4773168"/>
            <a:ext cx="256032" cy="25603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번호 글자"/>
          <p:cNvSpPr txBox="1"/>
          <p:nvPr/>
        </p:nvSpPr>
        <p:spPr>
          <a:xfrm>
            <a:off x="822960" y="47731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1</a:t>
            </a:r>
            <a:endParaRPr lang="en-US" sz="1100" dirty="0"/>
          </a:p>
        </p:txBody>
      </p:sp>
      <p:sp>
        <p:nvSpPr>
          <p:cNvPr id="19" name="구조 1"/>
          <p:cNvSpPr txBox="1"/>
          <p:nvPr/>
        </p:nvSpPr>
        <p:spPr>
          <a:xfrm>
            <a:off x="1207008" y="4745736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쿼드그립 4점 패드</a:t>
            </a:r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   밑창 4곳, 폐타이어 새활용 고무</a:t>
            </a:r>
            <a:endParaRPr lang="en-US" sz="1200" dirty="0"/>
          </a:p>
        </p:txBody>
      </p:sp>
      <p:sp>
        <p:nvSpPr>
          <p:cNvPr id="20" name="번호"/>
          <p:cNvSpPr/>
          <p:nvPr/>
        </p:nvSpPr>
        <p:spPr>
          <a:xfrm>
            <a:off x="822960" y="5111496"/>
            <a:ext cx="256032" cy="25603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1" name="번호 글자"/>
          <p:cNvSpPr txBox="1"/>
          <p:nvPr/>
        </p:nvSpPr>
        <p:spPr>
          <a:xfrm>
            <a:off x="822960" y="51114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2</a:t>
            </a:r>
            <a:endParaRPr lang="en-US" sz="1100" dirty="0"/>
          </a:p>
        </p:txBody>
      </p:sp>
      <p:sp>
        <p:nvSpPr>
          <p:cNvPr id="22" name="구조 2"/>
          <p:cNvSpPr txBox="1"/>
          <p:nvPr/>
        </p:nvSpPr>
        <p:spPr>
          <a:xfrm>
            <a:off x="1207008" y="5084064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깔창 없는 일체형 안창</a:t>
            </a:r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   E-실리폴리렌으로 안창까지 한 몸</a:t>
            </a:r>
            <a:endParaRPr lang="en-US" sz="1200" dirty="0"/>
          </a:p>
        </p:txBody>
      </p:sp>
      <p:sp>
        <p:nvSpPr>
          <p:cNvPr id="23" name="번호"/>
          <p:cNvSpPr/>
          <p:nvPr/>
        </p:nvSpPr>
        <p:spPr>
          <a:xfrm>
            <a:off x="822960" y="5449824"/>
            <a:ext cx="256032" cy="25603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4" name="번호 글자"/>
          <p:cNvSpPr txBox="1"/>
          <p:nvPr/>
        </p:nvSpPr>
        <p:spPr>
          <a:xfrm>
            <a:off x="822960" y="54498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3</a:t>
            </a:r>
            <a:endParaRPr lang="en-US" sz="1100" dirty="0"/>
          </a:p>
        </p:txBody>
      </p:sp>
      <p:sp>
        <p:nvSpPr>
          <p:cNvPr id="25" name="구조 3"/>
          <p:cNvSpPr txBox="1"/>
          <p:nvPr/>
        </p:nvSpPr>
        <p:spPr>
          <a:xfrm>
            <a:off x="1207008" y="5422392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도톰한 발목 테두리</a:t>
            </a:r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   입구 테두리를 다른 부분보다 두껍게</a:t>
            </a:r>
            <a:endParaRPr lang="en-US" sz="1200" dirty="0"/>
          </a:p>
        </p:txBody>
      </p:sp>
      <p:sp>
        <p:nvSpPr>
          <p:cNvPr id="26" name="제품명"/>
          <p:cNvSpPr txBox="1"/>
          <p:nvPr/>
        </p:nvSpPr>
        <p:spPr>
          <a:xfrm>
            <a:off x="6510528" y="3995928"/>
            <a:ext cx="3401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쿼드그립 아치가득 인솔</a:t>
            </a:r>
            <a:endParaRPr lang="en-US" sz="1900" dirty="0"/>
          </a:p>
        </p:txBody>
      </p:sp>
      <p:sp>
        <p:nvSpPr>
          <p:cNvPr id="27" name="가격"/>
          <p:cNvSpPr txBox="1"/>
          <p:nvPr/>
        </p:nvSpPr>
        <p:spPr>
          <a:xfrm>
            <a:off x="9912096" y="399592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21,500원</a:t>
            </a:r>
            <a:endParaRPr lang="en-US" sz="1900" dirty="0"/>
          </a:p>
        </p:txBody>
      </p:sp>
      <p:sp>
        <p:nvSpPr>
          <p:cNvPr id="28" name="한줄 설명"/>
          <p:cNvSpPr txBox="1"/>
          <p:nvPr/>
        </p:nvSpPr>
        <p:spPr>
          <a:xfrm>
            <a:off x="6510528" y="4398264"/>
            <a:ext cx="4864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가지고 계신 신발에 넣어 쓰는 인솔</a:t>
            </a:r>
            <a:endParaRPr lang="en-US" sz="1200" dirty="0"/>
          </a:p>
        </p:txBody>
      </p:sp>
      <p:sp>
        <p:nvSpPr>
          <p:cNvPr id="29" name="번호"/>
          <p:cNvSpPr/>
          <p:nvPr/>
        </p:nvSpPr>
        <p:spPr>
          <a:xfrm>
            <a:off x="6510528" y="4773168"/>
            <a:ext cx="256032" cy="25603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0" name="번호 글자"/>
          <p:cNvSpPr txBox="1"/>
          <p:nvPr/>
        </p:nvSpPr>
        <p:spPr>
          <a:xfrm>
            <a:off x="6510528" y="47731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1</a:t>
            </a:r>
            <a:endParaRPr lang="en-US" sz="1100" dirty="0"/>
          </a:p>
        </p:txBody>
      </p:sp>
      <p:sp>
        <p:nvSpPr>
          <p:cNvPr id="31" name="구조 1"/>
          <p:cNvSpPr txBox="1"/>
          <p:nvPr/>
        </p:nvSpPr>
        <p:spPr>
          <a:xfrm>
            <a:off x="6894576" y="4745736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아치가득 구조</a:t>
            </a:r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   발 아치 라인을 따라 가득 채운 형태</a:t>
            </a:r>
            <a:endParaRPr lang="en-US" sz="1200" dirty="0"/>
          </a:p>
        </p:txBody>
      </p:sp>
      <p:sp>
        <p:nvSpPr>
          <p:cNvPr id="32" name="번호"/>
          <p:cNvSpPr/>
          <p:nvPr/>
        </p:nvSpPr>
        <p:spPr>
          <a:xfrm>
            <a:off x="6510528" y="5111496"/>
            <a:ext cx="256032" cy="25603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3" name="번호 글자"/>
          <p:cNvSpPr txBox="1"/>
          <p:nvPr/>
        </p:nvSpPr>
        <p:spPr>
          <a:xfrm>
            <a:off x="6510528" y="51114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2</a:t>
            </a:r>
            <a:endParaRPr lang="en-US" sz="1100" dirty="0"/>
          </a:p>
        </p:txBody>
      </p:sp>
      <p:sp>
        <p:nvSpPr>
          <p:cNvPr id="34" name="구조 2"/>
          <p:cNvSpPr txBox="1"/>
          <p:nvPr/>
        </p:nvSpPr>
        <p:spPr>
          <a:xfrm>
            <a:off x="6894576" y="5084064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뒤꿈치 컵 구조</a:t>
            </a:r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   뒤꿈치를 감싸는 컵 모양</a:t>
            </a:r>
            <a:endParaRPr lang="en-US" sz="1200" dirty="0"/>
          </a:p>
        </p:txBody>
      </p:sp>
      <p:sp>
        <p:nvSpPr>
          <p:cNvPr id="35" name="번호"/>
          <p:cNvSpPr/>
          <p:nvPr/>
        </p:nvSpPr>
        <p:spPr>
          <a:xfrm>
            <a:off x="6510528" y="5449824"/>
            <a:ext cx="256032" cy="25603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6" name="번호 글자"/>
          <p:cNvSpPr txBox="1"/>
          <p:nvPr/>
        </p:nvSpPr>
        <p:spPr>
          <a:xfrm>
            <a:off x="6510528" y="54498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3</a:t>
            </a:r>
            <a:endParaRPr lang="en-US" sz="1100" dirty="0"/>
          </a:p>
        </p:txBody>
      </p:sp>
      <p:sp>
        <p:nvSpPr>
          <p:cNvPr id="37" name="구조 3"/>
          <p:cNvSpPr txBox="1"/>
          <p:nvPr/>
        </p:nvSpPr>
        <p:spPr>
          <a:xfrm>
            <a:off x="6894576" y="5422392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우드칩 배합 소재</a:t>
            </a:r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   목공소 자투리 우드칩을 섞은 E-실리폴리렌</a:t>
            </a:r>
            <a:endParaRPr lang="en-US" sz="1200" dirty="0"/>
          </a:p>
        </p:txBody>
      </p:sp>
      <p:sp>
        <p:nvSpPr>
          <p:cNvPr id="38" name="소재 메시지"/>
          <p:cNvSpPr txBox="1"/>
          <p:nvPr/>
        </p:nvSpPr>
        <p:spPr>
          <a:xfrm>
            <a:off x="548640" y="605332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새활용 소재</a:t>
            </a:r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   그립 패드는 폐타이어 고무·폐벽지 PVC를, 인솔은 목공소 우드칩을 새활용해 만듭니다.</a:t>
            </a:r>
            <a:endParaRPr lang="en-US" sz="1200" dirty="0"/>
          </a:p>
        </p:txBody>
      </p:sp>
      <p:sp>
        <p:nvSpPr>
          <p:cNvPr id="39" name="문의"/>
          <p:cNvSpPr txBox="1"/>
          <p:nvPr/>
        </p:nvSpPr>
        <p:spPr>
          <a:xfrm>
            <a:off x="8412480" y="5989320"/>
            <a:ext cx="2578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오픈 알림·체험단·단체 문의</a:t>
            </a:r>
            <a:endParaRPr lang="en-US" sz="1100" dirty="0"/>
          </a:p>
          <a:p>
            <a:pPr algn="r"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rharashoe.netlify.app</a:t>
            </a:r>
            <a:endParaRPr lang="en-US" sz="1100" dirty="0"/>
          </a:p>
        </p:txBody>
      </p:sp>
      <p:pic>
        <p:nvPicPr>
          <p:cNvPr id="40" name="QR" descr="qr-onepage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0" y="5961888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RS RhaRa Shoe">
  <a:themeElements>
    <a:clrScheme name="RS RhaRa Shoe">
      <a:dk1>
        <a:srgbClr val="0B0B0B"/>
      </a:dk1>
      <a:lt1>
        <a:srgbClr val="EDEDE8"/>
      </a:lt1>
      <a:dk2>
        <a:srgbClr val="161616"/>
      </a:dk2>
      <a:lt2>
        <a:srgbClr val="9A9A94"/>
      </a:lt2>
      <a:accent1>
        <a:srgbClr val="C6F432"/>
      </a:accent1>
      <a:accent2>
        <a:srgbClr val="2A2A2A"/>
      </a:accent2>
      <a:accent3>
        <a:srgbClr val="6E6E68"/>
      </a:accent3>
      <a:accent4>
        <a:srgbClr val="C6F432"/>
      </a:accent4>
      <a:accent5>
        <a:srgbClr val="EDEDE8"/>
      </a:accent5>
      <a:accent6>
        <a:srgbClr val="0B0B0B"/>
      </a:accent6>
      <a:hlink>
        <a:srgbClr val="C6F432"/>
      </a:hlink>
      <a:folHlink>
        <a:srgbClr val="C6F432"/>
      </a:folHlink>
    </a:clrScheme>
    <a:fontScheme name="RS RhaRa Sho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라라슈 RhaRa Shoe 1차 라인업 상품소개서</dc:title>
  <dc:subject>PptxGenJS Presentation</dc:subject>
  <dc:creator>㈜알앤디메이커스</dc:creator>
  <cp:lastModifiedBy>㈜알앤디메이커스</cp:lastModifiedBy>
  <cp:revision>1</cp:revision>
  <dcterms:created xsi:type="dcterms:W3CDTF">2026-10-05T08:22:15Z</dcterms:created>
  <dcterms:modified xsi:type="dcterms:W3CDTF">2026-10-05T08:22:15Z</dcterms:modified>
</cp:coreProperties>
</file>