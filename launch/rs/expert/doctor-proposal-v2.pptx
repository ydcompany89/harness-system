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60" r:id="rId10"/>
    <p:sldId id="256" r:id="rId2"/>
    <p:sldId id="258" r:id="rId3"/>
    <p:sldId id="261" r:id="rId11"/>
    <p:sldId id="257" r:id="rId4"/>
    <p:sldId id="262" r:id="rId12"/>
    <p:sldId id="259" r:id="rId5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49164"/>
                </a:solidFill>
                <a:latin typeface="Malgun Gothic"/>
              </a:rPr>
              <a:t>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0659"/>
            <a:ext cx="1078992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1B2320"/>
                </a:solidFill>
                <a:latin typeface="Malgun Gothic"/>
              </a:rPr>
              <a:t>기능성 신발 </a:t>
            </a:r>
            <a:r>
              <a:rPr lang="en-US" altLang="ko-KR" sz="2700" b="1" dirty="0">
                <a:solidFill>
                  <a:srgbClr val="1B2320"/>
                </a:solidFill>
                <a:latin typeface="Malgun Gothic"/>
              </a:rPr>
              <a:t>+ </a:t>
            </a:r>
            <a:r>
              <a:rPr lang="ko-KR" altLang="en-US" sz="2700" b="1" dirty="0">
                <a:solidFill>
                  <a:srgbClr val="1B2320"/>
                </a:solidFill>
                <a:latin typeface="Malgun Gothic"/>
              </a:rPr>
              <a:t>인솔 자문 의뢰서</a:t>
            </a:r>
            <a:endParaRPr sz="2700" b="1" dirty="0">
              <a:solidFill>
                <a:srgbClr val="1B2320"/>
              </a:solidFill>
              <a:latin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B6762"/>
                </a:solidFill>
                <a:latin typeface="Malgun Gothic"/>
              </a:rPr>
              <a:t>외식업·단체급식 현장의 ‘미끄러움’과 ‘발 피로’를 동시에 바라보는 기능성 풋웨어 R&amp;D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01952"/>
            <a:ext cx="315468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57984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349164"/>
                </a:solidFill>
                <a:latin typeface="Malgun Gothic"/>
              </a:rPr>
              <a:t>현장의 하루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26517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200" b="1">
                <a:solidFill>
                  <a:srgbClr val="1B2320"/>
                </a:solidFill>
                <a:latin typeface="Malgun Gothic"/>
              </a:rPr>
              <a:t>8시간+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10128"/>
            <a:ext cx="260604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7312D"/>
                </a:solidFill>
                <a:latin typeface="Malgun Gothic"/>
              </a:rPr>
              <a:t>기립·보행 중심의
장시간 근무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4096512"/>
            <a:ext cx="2423160" cy="283464"/>
          </a:xfrm>
          <a:prstGeom prst="roundRect">
            <a:avLst>
              <a:gd name="adj" fmla="val 8000"/>
            </a:avLst>
          </a:prstGeom>
          <a:solidFill>
            <a:srgbClr val="EBF3EF"/>
          </a:solidFill>
          <a:ln>
            <a:solidFill>
              <a:srgbClr val="EB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4096512"/>
            <a:ext cx="21488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5B6762"/>
                </a:solidFill>
                <a:latin typeface="Malgun Gothic"/>
              </a:rPr>
              <a:t>딱딱한 바닥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4480560"/>
            <a:ext cx="2423160" cy="283464"/>
          </a:xfrm>
          <a:prstGeom prst="roundRect">
            <a:avLst>
              <a:gd name="adj" fmla="val 8000"/>
            </a:avLst>
          </a:prstGeom>
          <a:solidFill>
            <a:srgbClr val="EBF3EF"/>
          </a:solidFill>
          <a:ln>
            <a:solidFill>
              <a:srgbClr val="EB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4480560"/>
            <a:ext cx="21488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5B6762"/>
                </a:solidFill>
                <a:latin typeface="Malgun Gothic"/>
              </a:rPr>
              <a:t>물기·기름기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4864608"/>
            <a:ext cx="2423160" cy="283464"/>
          </a:xfrm>
          <a:prstGeom prst="roundRect">
            <a:avLst>
              <a:gd name="adj" fmla="val 8000"/>
            </a:avLst>
          </a:prstGeom>
          <a:solidFill>
            <a:srgbClr val="EBF3EF"/>
          </a:solidFill>
          <a:ln>
            <a:solidFill>
              <a:srgbClr val="EB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4864608"/>
            <a:ext cx="21488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5B6762"/>
                </a:solidFill>
                <a:latin typeface="Malgun Gothic"/>
              </a:rPr>
              <a:t>반복되는 보행</a:t>
            </a:r>
          </a:p>
        </p:txBody>
      </p:sp>
      <p:sp>
        <p:nvSpPr>
          <p:cNvPr id="16" name="Oval 15"/>
          <p:cNvSpPr/>
          <p:nvPr/>
        </p:nvSpPr>
        <p:spPr>
          <a:xfrm>
            <a:off x="4096512" y="2999232"/>
            <a:ext cx="658368" cy="65836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96512" y="3008375"/>
            <a:ext cx="65836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lgun Gothic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3794760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5B6762"/>
                </a:solidFill>
                <a:latin typeface="Malgun Gothic"/>
              </a:rPr>
              <a:t>문제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3553" y="1901952"/>
            <a:ext cx="644652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76672" y="214884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349164"/>
                </a:solidFill>
                <a:latin typeface="Malgun Gothic"/>
              </a:rPr>
              <a:t>알앤디메이커스의 개발 방향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2655880"/>
            <a:ext cx="448056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 err="1">
                <a:solidFill>
                  <a:srgbClr val="1B2320"/>
                </a:solidFill>
                <a:latin typeface="Malgun Gothic"/>
              </a:rPr>
              <a:t>논슬립</a:t>
            </a:r>
            <a:r>
              <a:rPr sz="2200"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1B2320"/>
                </a:solidFill>
                <a:latin typeface="Malgun Gothic"/>
              </a:rPr>
              <a:t>초경량</a:t>
            </a:r>
            <a:r>
              <a:rPr sz="2200" b="1" dirty="0">
                <a:solidFill>
                  <a:srgbClr val="1B2320"/>
                </a:solidFill>
                <a:latin typeface="Malgun Gothic"/>
              </a:rPr>
              <a:t> </a:t>
            </a:r>
            <a:endParaRPr lang="en-US" sz="2200" b="1" dirty="0">
              <a:solidFill>
                <a:srgbClr val="1B2320"/>
              </a:solidFill>
              <a:latin typeface="Malgun Gothic"/>
            </a:endParaRPr>
          </a:p>
          <a:p>
            <a:pPr algn="l"/>
            <a:r>
              <a:rPr sz="2200" b="1" dirty="0" err="1">
                <a:solidFill>
                  <a:srgbClr val="1B2320"/>
                </a:solidFill>
                <a:latin typeface="Malgun Gothic"/>
              </a:rPr>
              <a:t>기능성</a:t>
            </a:r>
            <a:r>
              <a:rPr sz="2200"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1B2320"/>
                </a:solidFill>
                <a:latin typeface="Malgun Gothic"/>
              </a:rPr>
              <a:t>신발</a:t>
            </a:r>
            <a:endParaRPr sz="2200" b="1" dirty="0">
              <a:solidFill>
                <a:srgbClr val="1B2320"/>
              </a:solidFill>
              <a:latin typeface="Malgun Gothic"/>
            </a:endParaRPr>
          </a:p>
        </p:txBody>
      </p:sp>
      <p:pic>
        <p:nvPicPr>
          <p:cNvPr id="22" name="Picture 21" descr="p4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397" y="3972744"/>
            <a:ext cx="1821214" cy="9288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89720" y="33375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5B6762"/>
                </a:solidFill>
                <a:latin typeface="Malgun Gothic"/>
              </a:rPr>
              <a:t>재생 고무 논슬립</a:t>
            </a:r>
          </a:p>
        </p:txBody>
      </p:sp>
      <p:sp>
        <p:nvSpPr>
          <p:cNvPr id="24" name="Oval 23"/>
          <p:cNvSpPr/>
          <p:nvPr/>
        </p:nvSpPr>
        <p:spPr>
          <a:xfrm>
            <a:off x="5376672" y="3840480"/>
            <a:ext cx="310896" cy="310896"/>
          </a:xfrm>
          <a:prstGeom prst="ellipse">
            <a:avLst/>
          </a:prstGeom>
          <a:solidFill>
            <a:srgbClr val="CF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76672" y="3849624"/>
            <a:ext cx="3108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dirty="0">
                <a:solidFill>
                  <a:srgbClr val="349164"/>
                </a:solidFill>
                <a:latin typeface="Malgun Gothic"/>
              </a:rPr>
              <a:t>01</a:t>
            </a:r>
          </a:p>
        </p:txBody>
      </p:sp>
      <p:sp>
        <p:nvSpPr>
          <p:cNvPr id="27" name="Oval 26"/>
          <p:cNvSpPr/>
          <p:nvPr/>
        </p:nvSpPr>
        <p:spPr>
          <a:xfrm>
            <a:off x="7324344" y="3840480"/>
            <a:ext cx="310896" cy="310896"/>
          </a:xfrm>
          <a:prstGeom prst="ellipse">
            <a:avLst/>
          </a:prstGeom>
          <a:solidFill>
            <a:srgbClr val="CF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24344" y="3849624"/>
            <a:ext cx="3108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349164"/>
                </a:solidFill>
                <a:latin typeface="Malgun Gothic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7536" y="3822191"/>
            <a:ext cx="1417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7312D"/>
                </a:solidFill>
                <a:latin typeface="Malgun Gothic"/>
              </a:rPr>
              <a:t>강력한 접지력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97296" y="3808152"/>
            <a:ext cx="1417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dirty="0" err="1">
                <a:solidFill>
                  <a:srgbClr val="27312D"/>
                </a:solidFill>
                <a:latin typeface="Malgun Gothic"/>
              </a:rPr>
              <a:t>인체공학</a:t>
            </a:r>
            <a:r>
              <a:rPr sz="1050" b="1" dirty="0">
                <a:solidFill>
                  <a:srgbClr val="27312D"/>
                </a:solidFill>
                <a:latin typeface="Malgun Gothic"/>
              </a:rPr>
              <a:t> </a:t>
            </a:r>
            <a:r>
              <a:rPr sz="1050" b="1" dirty="0" err="1">
                <a:solidFill>
                  <a:srgbClr val="27312D"/>
                </a:solidFill>
                <a:latin typeface="Malgun Gothic"/>
              </a:rPr>
              <a:t>설계</a:t>
            </a:r>
            <a:endParaRPr sz="1050" b="1" dirty="0">
              <a:solidFill>
                <a:srgbClr val="27312D"/>
              </a:solidFill>
              <a:latin typeface="Malgun Gothi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75452" y="4304272"/>
            <a:ext cx="4910697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 err="1">
                <a:solidFill>
                  <a:srgbClr val="1B2320"/>
                </a:solidFill>
                <a:latin typeface="Malgun Gothic"/>
              </a:rPr>
              <a:t>단순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1B2320"/>
                </a:solidFill>
                <a:latin typeface="Malgun Gothic"/>
              </a:rPr>
              <a:t>제조를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1B2320"/>
                </a:solidFill>
                <a:latin typeface="Malgun Gothic"/>
              </a:rPr>
              <a:t>넘어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,  </a:t>
            </a:r>
            <a:endParaRPr lang="en-US" b="1" dirty="0">
              <a:solidFill>
                <a:srgbClr val="1B2320"/>
              </a:solidFill>
              <a:latin typeface="Malgun Gothic"/>
            </a:endParaRPr>
          </a:p>
          <a:p>
            <a:pPr algn="l"/>
            <a:r>
              <a:rPr b="1" dirty="0" err="1">
                <a:solidFill>
                  <a:srgbClr val="1B2320"/>
                </a:solidFill>
                <a:latin typeface="Malgun Gothic"/>
              </a:rPr>
              <a:t>전문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1B2320"/>
                </a:solidFill>
                <a:latin typeface="Malgun Gothic"/>
              </a:rPr>
              <a:t>의료진의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lang="ko-KR" altLang="en-US" b="1" dirty="0">
                <a:solidFill>
                  <a:srgbClr val="1B2320"/>
                </a:solidFill>
                <a:latin typeface="Malgun Gothic"/>
              </a:rPr>
              <a:t>의</a:t>
            </a:r>
            <a:r>
              <a:rPr b="1" dirty="0" err="1">
                <a:solidFill>
                  <a:srgbClr val="1B2320"/>
                </a:solidFill>
                <a:latin typeface="Malgun Gothic"/>
              </a:rPr>
              <a:t>견을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
</a:t>
            </a:r>
            <a:r>
              <a:rPr b="1" dirty="0" err="1">
                <a:solidFill>
                  <a:srgbClr val="1B2320"/>
                </a:solidFill>
                <a:latin typeface="Malgun Gothic"/>
              </a:rPr>
              <a:t>반영하는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1B2320"/>
                </a:solidFill>
                <a:latin typeface="Malgun Gothic"/>
              </a:rPr>
              <a:t>협업을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1B2320"/>
                </a:solidFill>
                <a:latin typeface="Malgun Gothic"/>
              </a:rPr>
              <a:t>제안합니다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5B6762"/>
                </a:solidFill>
                <a:latin typeface="Malgun Gothic"/>
              </a:rPr>
              <a:t>R&amp;D MAKERS  |  2026.10.14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>
                <a:solidFill>
                  <a:srgbClr val="5B6762"/>
                </a:solidFill>
                <a:latin typeface="Malgun Gothic"/>
              </a:rPr>
              <a:t>01</a:t>
            </a: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A1E2CE9F-3917-CE77-98D6-4A7D51461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114" y="2192436"/>
            <a:ext cx="1848969" cy="17103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49164"/>
                </a:solidFill>
                <a:latin typeface="Malgun Gothic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0659"/>
            <a:ext cx="1078992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1B2320"/>
                </a:solidFill>
                <a:latin typeface="Malgun Gothic"/>
              </a:rPr>
              <a:t>인솔은 </a:t>
            </a:r>
            <a:r>
              <a:rPr sz="2700" b="1" dirty="0">
                <a:solidFill>
                  <a:srgbClr val="1B2320"/>
                </a:solidFill>
                <a:latin typeface="Malgun Gothic"/>
              </a:rPr>
              <a:t>3가지 </a:t>
            </a:r>
            <a:r>
              <a:rPr sz="2700" b="1" dirty="0" err="1">
                <a:solidFill>
                  <a:srgbClr val="1B2320"/>
                </a:solidFill>
                <a:latin typeface="Malgun Gothic"/>
              </a:rPr>
              <a:t>설계</a:t>
            </a:r>
            <a:r>
              <a:rPr sz="2700"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sz="2700" b="1" dirty="0" err="1">
                <a:solidFill>
                  <a:srgbClr val="1B2320"/>
                </a:solidFill>
                <a:latin typeface="Malgun Gothic"/>
              </a:rPr>
              <a:t>원칙으로</a:t>
            </a:r>
            <a:r>
              <a:rPr sz="2700"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sz="2700" b="1" dirty="0" err="1">
                <a:solidFill>
                  <a:srgbClr val="1B2320"/>
                </a:solidFill>
                <a:latin typeface="Malgun Gothic"/>
              </a:rPr>
              <a:t>정리했습니다</a:t>
            </a:r>
            <a:r>
              <a:rPr sz="2700" b="1" dirty="0">
                <a:solidFill>
                  <a:srgbClr val="1B2320"/>
                </a:solidFill>
                <a:latin typeface="Malgun Gothic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B6762"/>
                </a:solidFill>
                <a:latin typeface="Malgun Gothic"/>
              </a:rPr>
              <a:t>친환경성 · 초경량성 · 인체공학적 지지 + 논슬립 안전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416052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3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067189"/>
            <a:ext cx="3611880" cy="3639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5687568"/>
            <a:ext cx="36118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5B6762"/>
                </a:solidFill>
                <a:latin typeface="Malgun Gothic"/>
              </a:rPr>
              <a:t>60% HALF-GEAR  /  RECOVERY EVA 28g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874519"/>
            <a:ext cx="644652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21808" y="2103120"/>
            <a:ext cx="384048" cy="3840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21808" y="2112263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2020824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B2320"/>
                </a:solidFill>
                <a:latin typeface="Malgun Gothic"/>
              </a:rPr>
              <a:t>인체공학적 지지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039112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349164"/>
                </a:solidFill>
                <a:latin typeface="Malgun Gothic"/>
              </a:rPr>
              <a:t>60% HALF-GEAR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872" y="2404872"/>
            <a:ext cx="3337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27312D"/>
                </a:solidFill>
                <a:latin typeface="Malgun Gothic"/>
              </a:rPr>
              <a:t>후족부·아치 60%를 정밀하게 받치고,
전족부의 유연한 보행 롤링은 유지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2386584"/>
            <a:ext cx="1938528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5B6762"/>
                </a:solidFill>
                <a:latin typeface="Malgun Gothic"/>
              </a:rPr>
              <a:t>족저근막의 과도한 신장 억제 · 아치 붕괴 방지 · 발목 흔들림 완화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3310127"/>
            <a:ext cx="644652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21808" y="3538727"/>
            <a:ext cx="384048" cy="384048"/>
          </a:xfrm>
          <a:prstGeom prst="ellipse">
            <a:avLst/>
          </a:prstGeom>
          <a:solidFill>
            <a:srgbClr val="273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21808" y="3547871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3456432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B2320"/>
                </a:solidFill>
                <a:latin typeface="Malgun Gothic"/>
              </a:rPr>
              <a:t>극대화된 초경량성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474720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349164"/>
                </a:solidFill>
                <a:latin typeface="Malgun Gothic"/>
              </a:rPr>
              <a:t>RECOVERY EVA 28g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872" y="3840479"/>
            <a:ext cx="3337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27312D"/>
                </a:solidFill>
                <a:latin typeface="Malgun Gothic"/>
              </a:rPr>
              <a:t>인솔 무게 28g · 고탄성 리커버리 EVA 폼 적용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3822191"/>
            <a:ext cx="1938528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5B6762"/>
                </a:solidFill>
                <a:latin typeface="Malgun Gothic"/>
              </a:rPr>
              <a:t>보행 시 지면 반발 충격 흡수 · 장시간 기립 시 하지 피로·부종 완화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4745736"/>
            <a:ext cx="64465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321808" y="4974336"/>
            <a:ext cx="384048" cy="3840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21808" y="4983479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3872" y="4892040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B2320"/>
                </a:solidFill>
                <a:latin typeface="Malgun Gothic"/>
              </a:rPr>
              <a:t>친환경성 &amp; 논슬립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910327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349164"/>
                </a:solidFill>
                <a:latin typeface="Malgun Gothic"/>
              </a:rPr>
              <a:t>Eco-friendly &amp;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3872" y="5276088"/>
            <a:ext cx="3337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27312D"/>
                </a:solidFill>
                <a:latin typeface="Malgun Gothic"/>
              </a:rPr>
              <a:t>폐타이어 재생 고무 헤링본 패턴 + 그린 접지 칩
수분·유분 환경 논슬립 설계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5257800"/>
            <a:ext cx="1938528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5B6762"/>
                </a:solidFill>
                <a:latin typeface="Malgun Gothic"/>
              </a:rPr>
              <a:t>조리실 낙상 위험 저감 · 통기·위생적 족부 환경 유지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808" y="6277356"/>
            <a:ext cx="6446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0" dirty="0">
                <a:solidFill>
                  <a:srgbClr val="5B6762"/>
                </a:solidFill>
                <a:latin typeface="Malgun Gothic"/>
              </a:rPr>
              <a:t>※ 위 ‘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의학적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기대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효과’는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전문의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자문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및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검증을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통해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구체화할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협업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항목입니다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5B6762"/>
                </a:solidFill>
                <a:latin typeface="Malgun Gothic"/>
              </a:rPr>
              <a:t>R&amp;D MAKERS  |  2026.10.14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49164"/>
                </a:solidFill>
                <a:latin typeface="Malgun Gothic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B2320"/>
                </a:solidFill>
                <a:latin typeface="Malgun Gothic"/>
              </a:rPr>
              <a:t>의사 이름이 아니라, ‘설계 과정’에 참여하는 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B6762"/>
                </a:solidFill>
                <a:latin typeface="Malgun Gothic"/>
              </a:rPr>
              <a:t>기능성 풋웨어 시장의 전문의 협업 사례에서 착안한 브랜드 신뢰 전략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5285232" cy="4096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349164"/>
                </a:solidFill>
                <a:latin typeface="Malgun Gothic"/>
              </a:rPr>
              <a:t>REFERENCE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688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1B2320"/>
                </a:solidFill>
                <a:latin typeface="Malgun Gothic"/>
              </a:rPr>
              <a:t>Bark</a:t>
            </a:r>
          </a:p>
        </p:txBody>
      </p:sp>
      <p:pic>
        <p:nvPicPr>
          <p:cNvPr id="9" name="Picture 8" descr="p2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907792"/>
            <a:ext cx="2084831" cy="2761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18688" y="290779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B2320"/>
                </a:solidFill>
                <a:latin typeface="Malgun Gothic"/>
              </a:rPr>
              <a:t>설계 → 개발 → 착화 테스트 →
최종 검증</a:t>
            </a:r>
          </a:p>
        </p:txBody>
      </p:sp>
      <p:sp>
        <p:nvSpPr>
          <p:cNvPr id="11" name="Oval 10"/>
          <p:cNvSpPr/>
          <p:nvPr/>
        </p:nvSpPr>
        <p:spPr>
          <a:xfrm>
            <a:off x="3218688" y="3785615"/>
            <a:ext cx="82296" cy="82296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3703320"/>
            <a:ext cx="21214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320"/>
                </a:solidFill>
                <a:latin typeface="Malgun Gothic"/>
              </a:rPr>
              <a:t>정형외과 전문의와 전 과정 협업</a:t>
            </a:r>
          </a:p>
        </p:txBody>
      </p:sp>
      <p:sp>
        <p:nvSpPr>
          <p:cNvPr id="13" name="Oval 12"/>
          <p:cNvSpPr/>
          <p:nvPr/>
        </p:nvSpPr>
        <p:spPr>
          <a:xfrm>
            <a:off x="3218688" y="4306824"/>
            <a:ext cx="82296" cy="82296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4224528"/>
            <a:ext cx="21214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320"/>
                </a:solidFill>
                <a:latin typeface="Malgun Gothic"/>
              </a:rPr>
              <a:t>‘의사가 검증한 구조’라는 신뢰 형성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4965192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49164"/>
                </a:solidFill>
                <a:latin typeface="Malgun Gothic"/>
              </a:rPr>
              <a:t>핵심은 ‘이름’보다
‘참여 방식’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874519"/>
            <a:ext cx="5321808" cy="4096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2130552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349164"/>
                </a:solidFill>
                <a:latin typeface="Malgun Gothic"/>
              </a:rPr>
              <a:t>REFERENCE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4688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1B2320"/>
                </a:solidFill>
                <a:latin typeface="Malgun Gothic"/>
              </a:rPr>
              <a:t>piplu</a:t>
            </a:r>
          </a:p>
        </p:txBody>
      </p:sp>
      <p:pic>
        <p:nvPicPr>
          <p:cNvPr id="19" name="Picture 18" descr="p2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907792"/>
            <a:ext cx="2148840" cy="22585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51392" y="2907792"/>
            <a:ext cx="22402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B2320"/>
                </a:solidFill>
                <a:latin typeface="Malgun Gothic"/>
              </a:rPr>
              <a:t>전문가 프로필과
연구 자문 이력 전면화</a:t>
            </a:r>
          </a:p>
        </p:txBody>
      </p:sp>
      <p:sp>
        <p:nvSpPr>
          <p:cNvPr id="21" name="Oval 20"/>
          <p:cNvSpPr/>
          <p:nvPr/>
        </p:nvSpPr>
        <p:spPr>
          <a:xfrm>
            <a:off x="8851392" y="3922776"/>
            <a:ext cx="82296" cy="82296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15984" y="3840480"/>
            <a:ext cx="20756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320"/>
                </a:solidFill>
                <a:latin typeface="Malgun Gothic"/>
              </a:rPr>
              <a:t>재활 족부 전문의·박사 협업</a:t>
            </a:r>
          </a:p>
        </p:txBody>
      </p:sp>
      <p:sp>
        <p:nvSpPr>
          <p:cNvPr id="23" name="Oval 22"/>
          <p:cNvSpPr/>
          <p:nvPr/>
        </p:nvSpPr>
        <p:spPr>
          <a:xfrm>
            <a:off x="8851392" y="4443983"/>
            <a:ext cx="82296" cy="82296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15984" y="4361688"/>
            <a:ext cx="20756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320"/>
                </a:solidFill>
                <a:latin typeface="Malgun Gothic"/>
              </a:rPr>
              <a:t>기능성 신발의 전문성 강조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51392" y="5074920"/>
            <a:ext cx="2148840" cy="502920"/>
          </a:xfrm>
          <a:prstGeom prst="roundRect">
            <a:avLst>
              <a:gd name="adj" fmla="val 8000"/>
            </a:avLst>
          </a:prstGeom>
          <a:solidFill>
            <a:srgbClr val="CFEFDE"/>
          </a:solidFill>
          <a:ln>
            <a:solidFill>
              <a:srgbClr val="CFE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0" y="5074920"/>
            <a:ext cx="1938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349164"/>
                </a:solidFill>
                <a:latin typeface="Malgun Gothic"/>
              </a:rPr>
              <a:t>우리의 방향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6108192"/>
            <a:ext cx="104241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7312D"/>
                </a:solidFill>
                <a:latin typeface="Malgun Gothic"/>
              </a:rPr>
              <a:t>“정형외과 전문의의 자문 공법으로 설계된 족부 맞춤형 신발”이라는 차별화된 가치 구축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5B6762"/>
                </a:solidFill>
                <a:latin typeface="Malgun Gothic"/>
              </a:rPr>
              <a:t>R&amp;D MAKERS  |  2026.10.14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49164"/>
                </a:solidFill>
                <a:latin typeface="Malgun Gothic"/>
              </a:rPr>
              <a:t>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B2320"/>
                </a:solidFill>
                <a:latin typeface="Malgun Gothic"/>
              </a:rPr>
              <a:t>원장님과 함께 만들고, 함께 알립니다.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B6762"/>
                </a:solidFill>
                <a:latin typeface="Malgun Gothic"/>
              </a:rPr>
              <a:t>R&amp;D 자문 → 전문가 콘텐츠 → 패키지 노출까지 하나의 협업 구조로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51560" y="2834640"/>
            <a:ext cx="10058400" cy="0"/>
          </a:xfrm>
          <a:prstGeom prst="line">
            <a:avLst/>
          </a:prstGeom>
          <a:ln w="2540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892807" y="2414016"/>
            <a:ext cx="841248" cy="8412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92807" y="2423160"/>
            <a:ext cx="841248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273552"/>
            <a:ext cx="32461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3568166"/>
            <a:ext cx="2788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1B2320"/>
                </a:solidFill>
                <a:latin typeface="Malgun Gothic"/>
              </a:rPr>
              <a:t>의학</a:t>
            </a:r>
            <a:r>
              <a:rPr sz="1400"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1B2320"/>
                </a:solidFill>
                <a:latin typeface="Malgun Gothic"/>
              </a:rPr>
              <a:t>자문</a:t>
            </a:r>
            <a:endParaRPr sz="1400" b="1" dirty="0">
              <a:solidFill>
                <a:srgbClr val="1B2320"/>
              </a:solidFill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9848" y="4005072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B6762"/>
                </a:solidFill>
                <a:latin typeface="Malgun Gothic"/>
              </a:rPr>
              <a:t>구조·경도·하중분산
생체역학적 검토</a:t>
            </a:r>
          </a:p>
        </p:txBody>
      </p:sp>
      <p:sp>
        <p:nvSpPr>
          <p:cNvPr id="12" name="Oval 11"/>
          <p:cNvSpPr/>
          <p:nvPr/>
        </p:nvSpPr>
        <p:spPr>
          <a:xfrm>
            <a:off x="5641848" y="2414016"/>
            <a:ext cx="841248" cy="8412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41848" y="2423160"/>
            <a:ext cx="841248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3273552"/>
            <a:ext cx="32461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27448" y="3511296"/>
            <a:ext cx="27889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B2320"/>
                </a:solidFill>
                <a:latin typeface="Malgun Gothic"/>
              </a:rPr>
              <a:t>상세페이지 &amp; 영상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4005072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B6762"/>
                </a:solidFill>
                <a:latin typeface="Malgun Gothic"/>
              </a:rPr>
              <a:t>전문가 코멘트·프로필
15–30초 인터뷰</a:t>
            </a:r>
          </a:p>
        </p:txBody>
      </p:sp>
      <p:sp>
        <p:nvSpPr>
          <p:cNvPr id="17" name="Oval 16"/>
          <p:cNvSpPr/>
          <p:nvPr/>
        </p:nvSpPr>
        <p:spPr>
          <a:xfrm>
            <a:off x="9390888" y="2414016"/>
            <a:ext cx="841248" cy="8412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90888" y="2423160"/>
            <a:ext cx="841248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3273552"/>
            <a:ext cx="32461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76488" y="3511296"/>
            <a:ext cx="27889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B2320"/>
                </a:solidFill>
                <a:latin typeface="Malgun Gothic"/>
              </a:rPr>
              <a:t>패키지 리플렛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4005072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B6762"/>
                </a:solidFill>
                <a:latin typeface="Malgun Gothic"/>
              </a:rPr>
              <a:t>사진·성함·소속
자문 참여 내역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19019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49164"/>
                </a:solidFill>
                <a:latin typeface="Malgun Gothic"/>
              </a:rPr>
              <a:t>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19019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49164"/>
                </a:solidFill>
                <a:latin typeface="Malgun Gothic"/>
              </a:rPr>
              <a:t>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19019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49164"/>
                </a:solidFill>
                <a:latin typeface="Malgun Gothic"/>
              </a:rPr>
              <a:t>BRAND TRUST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49824"/>
            <a:ext cx="10744200" cy="658368"/>
          </a:xfrm>
          <a:prstGeom prst="roundRect">
            <a:avLst>
              <a:gd name="adj" fmla="val 8000"/>
            </a:avLst>
          </a:prstGeom>
          <a:solidFill>
            <a:srgbClr val="EBF3EF"/>
          </a:solidFill>
          <a:ln>
            <a:solidFill>
              <a:srgbClr val="EB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5559552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49164"/>
                </a:solidFill>
                <a:latin typeface="Malgun Gothic"/>
              </a:rPr>
              <a:t>일정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559552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B2320"/>
                </a:solidFill>
                <a:latin typeface="Malgun Gothic"/>
              </a:rPr>
              <a:t>2026년 10월 (~10/24)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559552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49164"/>
                </a:solidFill>
                <a:latin typeface="Malgun Gothic"/>
              </a:rPr>
              <a:t>진행 방식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4688" y="5559552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B2320"/>
                </a:solidFill>
                <a:latin typeface="Malgun Gothic"/>
              </a:rPr>
              <a:t>원장님 일정 100% 맞춤 조율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5559552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49164"/>
                </a:solidFill>
                <a:latin typeface="Malgun Gothic"/>
              </a:rPr>
              <a:t>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5559552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80" b="1">
                <a:solidFill>
                  <a:srgbClr val="1B2320"/>
                </a:solidFill>
                <a:latin typeface="Malgun Gothic"/>
              </a:rPr>
              <a:t>자문비·출연 사례 협의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6473970"/>
            <a:ext cx="107442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50" dirty="0">
                <a:solidFill>
                  <a:srgbClr val="5B6762"/>
                </a:solidFill>
                <a:latin typeface="Malgun Gothic"/>
              </a:rPr>
              <a:t>감사합니다</a:t>
            </a:r>
            <a:r>
              <a:rPr lang="en-US" altLang="ko-KR" sz="950" dirty="0">
                <a:solidFill>
                  <a:srgbClr val="5B6762"/>
                </a:solidFill>
                <a:latin typeface="Malgun Gothic"/>
              </a:rPr>
              <a:t>.</a:t>
            </a:r>
            <a:endParaRPr sz="950" b="0" dirty="0">
              <a:solidFill>
                <a:srgbClr val="5B6762"/>
              </a:solidFill>
              <a:latin typeface="Malgun Gothi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5B6762"/>
                </a:solidFill>
                <a:latin typeface="Malgun Gothic"/>
              </a:rPr>
              <a:t>R&amp;D MAKERS  |  2026.10.14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>
                <a:solidFill>
                  <a:srgbClr val="5B6762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46520" y="822960"/>
            <a:ext cx="507492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alking-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143000"/>
            <a:ext cx="2789326" cy="3383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12280" y="47548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55"/>
              </a:spcAft>
            </a:pPr>
            <a:r>
              <a:rPr sz="1300" b="1">
                <a:solidFill>
                  <a:srgbClr val="349164"/>
                </a:solidFill>
                <a:latin typeface="Malgun Gothic"/>
              </a:rPr>
              <a:t>RS · RhaRa Shoe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507492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84"/>
              </a:spcAft>
            </a:pPr>
            <a:r>
              <a:rPr sz="1100" b="0">
                <a:solidFill>
                  <a:srgbClr val="5B6762"/>
                </a:solidFill>
                <a:latin typeface="Malgun Gothic"/>
              </a:rPr>
              <a:t>쿼드그립 종일편한 워킹화 · 쿼드그립 아치가득 인솔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960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0"/>
              </a:spcAft>
            </a:pPr>
            <a:r>
              <a:rPr sz="1000" b="1">
                <a:solidFill>
                  <a:srgbClr val="349164"/>
                </a:solidFill>
                <a:latin typeface="Malgun Gothic"/>
              </a:rPr>
              <a:t>PROPOSAL  ·  FOR ORTHOPEDIC ADVISOR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554480"/>
            <a:ext cx="5486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60"/>
              </a:spcAft>
            </a:pPr>
            <a:r>
              <a:rPr sz="3600" b="1">
                <a:solidFill>
                  <a:srgbClr val="1B2320"/>
                </a:solidFill>
                <a:latin typeface="Malgun Gothic"/>
              </a:rPr>
              <a:t>기능성 신발 + 인솔</a:t>
            </a:r>
          </a:p>
          <a:p>
            <a:pPr>
              <a:spcAft>
                <a:spcPts val="1260"/>
              </a:spcAft>
            </a:pPr>
            <a:r>
              <a:rPr sz="3600" b="1">
                <a:solidFill>
                  <a:srgbClr val="1B2320"/>
                </a:solidFill>
                <a:latin typeface="Malgun Gothic"/>
              </a:rPr>
              <a:t>설계 자문 의뢰서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89"/>
              </a:spcAft>
            </a:pPr>
            <a:r>
              <a:rPr sz="1400" b="0">
                <a:solidFill>
                  <a:srgbClr val="5B6762"/>
                </a:solidFill>
                <a:latin typeface="Malgun Gothic"/>
              </a:rPr>
              <a:t>외식업·단체급식 현장의 ‘미끄러움’과 ‘발 피로’,</a:t>
            </a:r>
          </a:p>
          <a:p>
            <a:pPr>
              <a:spcAft>
                <a:spcPts val="489"/>
              </a:spcAft>
            </a:pPr>
            <a:r>
              <a:rPr sz="1400" b="0">
                <a:solidFill>
                  <a:srgbClr val="5B6762"/>
                </a:solidFill>
                <a:latin typeface="Malgun Gothic"/>
              </a:rPr>
              <a:t>정형외과 전문의의 시선으로 함께 설계하고 싶습니다.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343400"/>
            <a:ext cx="237744" cy="237744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5568" y="4343400"/>
            <a:ext cx="237744" cy="237744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99616" y="4343400"/>
            <a:ext cx="237744" cy="237744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83664" y="4343400"/>
            <a:ext cx="237744" cy="237744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257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19"/>
              </a:spcAft>
            </a:pPr>
            <a:r>
              <a:rPr sz="1200" b="1">
                <a:solidFill>
                  <a:srgbClr val="1B2320"/>
                </a:solidFill>
                <a:latin typeface="Malgun Gothic"/>
              </a:rPr>
              <a:t>주식회사 알앤디메이커스  ·  대표이사 신동규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0"/>
              </a:spcAft>
            </a:pPr>
            <a:r>
              <a:rPr sz="1000" b="0">
                <a:solidFill>
                  <a:srgbClr val="5B6762"/>
                </a:solidFill>
                <a:latin typeface="Malgun Gothic"/>
              </a:rPr>
              <a:t>2026.10.14  ·  010-6880-2516  ·  rndceo@rndmakers.kr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49164"/>
                </a:solidFill>
                <a:latin typeface="Malgun Gothic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0659"/>
            <a:ext cx="1078992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1B2320"/>
                </a:solidFill>
                <a:latin typeface="Malgun Gothic"/>
              </a:rPr>
              <a:t>워킹화는 바닥부터 다시 설계했습니다.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B6762"/>
                </a:solidFill>
                <a:latin typeface="Malgun Gothic"/>
              </a:rPr>
              <a:t>쿼드그립 4점 패드 · 깔창 없는 일체형 안창 · 초경량 · 국내 제조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5B6762"/>
                </a:solidFill>
                <a:latin typeface="Malgun Gothic"/>
              </a:rPr>
              <a:t>R&amp;D MAKERS  |  2026.10.14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416052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outsole-li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377440"/>
            <a:ext cx="3611880" cy="147485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32688" y="406908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84"/>
              </a:spcAft>
            </a:pPr>
            <a:r>
              <a:rPr sz="1100" b="1">
                <a:solidFill>
                  <a:srgbClr val="1B2320"/>
                </a:solidFill>
                <a:latin typeface="Malgun Gothic"/>
              </a:rPr>
              <a:t>밑창 4점 쿼드그립 패드 (라임)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389120"/>
            <a:ext cx="3611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6"/>
              </a:spcAft>
            </a:pPr>
            <a:r>
              <a:rPr sz="960" b="0">
                <a:solidFill>
                  <a:srgbClr val="5B6762"/>
                </a:solidFill>
                <a:latin typeface="Malgun Gothic"/>
              </a:rPr>
              <a:t>패턴만 새긴 것이 아니라, 폐타이어 재생고무로</a:t>
            </a:r>
          </a:p>
          <a:p>
            <a:pPr>
              <a:spcAft>
                <a:spcPts val="336"/>
              </a:spcAft>
            </a:pPr>
            <a:r>
              <a:rPr sz="960" b="0">
                <a:solidFill>
                  <a:srgbClr val="5B6762"/>
                </a:solidFill>
                <a:latin typeface="Malgun Gothic"/>
              </a:rPr>
              <a:t>따로 배합한 패드를 밑창에 끼워 넣은 구조입니다.</a:t>
            </a:r>
          </a:p>
          <a:p>
            <a:pPr>
              <a:spcAft>
                <a:spcPts val="336"/>
              </a:spcAft>
            </a:pPr>
            <a:r>
              <a:rPr sz="960" b="0">
                <a:solidFill>
                  <a:srgbClr val="5B6762"/>
                </a:solidFill>
                <a:latin typeface="Malgun Gothic"/>
              </a:rPr>
              <a:t/>
            </a:r>
          </a:p>
          <a:p>
            <a:pPr>
              <a:spcAft>
                <a:spcPts val="336"/>
              </a:spcAft>
            </a:pPr>
            <a:r>
              <a:rPr sz="960" b="0">
                <a:solidFill>
                  <a:srgbClr val="5B6762"/>
                </a:solidFill>
                <a:latin typeface="Malgun Gothic"/>
              </a:rPr>
              <a:t>발이 닿는 순서: 뒤꿈치 → 발 중간 → 발볼 → 앞꿈치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874519"/>
            <a:ext cx="644652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21808" y="2103120"/>
            <a:ext cx="384048" cy="3840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21808" y="2112263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2020824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B2320"/>
                </a:solidFill>
                <a:latin typeface="Malgun Gothic"/>
              </a:rPr>
              <a:t>쿼드그립 4점 패드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039112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5B6762"/>
                </a:solidFill>
                <a:latin typeface="Malgun Gothic"/>
              </a:rPr>
              <a:t>특허 출원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872" y="2404872"/>
            <a:ext cx="3337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27312D"/>
                </a:solidFill>
                <a:latin typeface="Malgun Gothic"/>
              </a:rPr>
              <a:t>재생고무 + 재생 PVC 배합 패드 4개를</a:t>
            </a:r>
          </a:p>
          <a:p>
            <a:pPr algn="l"/>
            <a:r>
              <a:rPr sz="1030" b="0">
                <a:solidFill>
                  <a:srgbClr val="27312D"/>
                </a:solidFill>
                <a:latin typeface="Malgun Gothic"/>
              </a:rPr>
              <a:t>밑창에 끼워 넣은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2057400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5B6762"/>
                </a:solidFill>
                <a:latin typeface="Malgun Gothic"/>
              </a:rPr>
              <a:t>원장님께 여쭙고 싶은 점</a:t>
            </a:r>
          </a:p>
          <a:p>
            <a:pPr algn="l"/>
            <a:r>
              <a:rPr sz="940" b="0">
                <a:solidFill>
                  <a:srgbClr val="5B6762"/>
                </a:solidFill>
                <a:latin typeface="Malgun Gothic"/>
              </a:rPr>
              <a:t>처음 딛는 뒤꿈치 바깥 모서리에도</a:t>
            </a:r>
          </a:p>
          <a:p>
            <a:pPr algn="l"/>
            <a:r>
              <a:rPr sz="940" b="0">
                <a:solidFill>
                  <a:srgbClr val="5B6762"/>
                </a:solidFill>
                <a:latin typeface="Malgun Gothic"/>
              </a:rPr>
              <a:t>패드가 필요할까요?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3310128"/>
            <a:ext cx="644652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21808" y="3538728"/>
            <a:ext cx="384048" cy="3840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21808" y="3547872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3456432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B2320"/>
                </a:solidFill>
                <a:latin typeface="Malgun Gothic"/>
              </a:rPr>
              <a:t>깔창 없는 일체형 안창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347472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5B6762"/>
                </a:solidFill>
                <a:latin typeface="Malgun Gothic"/>
              </a:rPr>
              <a:t>E-실리폴리렌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872" y="3840480"/>
            <a:ext cx="3337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27312D"/>
                </a:solidFill>
                <a:latin typeface="Malgun Gothic"/>
              </a:rPr>
              <a:t>EVA + 실리콘 배합 소재로 안창까지 한 몸.</a:t>
            </a:r>
          </a:p>
          <a:p>
            <a:pPr algn="l"/>
            <a:r>
              <a:rPr sz="1030" b="0">
                <a:solidFill>
                  <a:srgbClr val="27312D"/>
                </a:solidFill>
                <a:latin typeface="Malgun Gothic"/>
              </a:rPr>
              <a:t>깔창이 밀리거나 딸려 나오지 않습니다.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3493008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5B6762"/>
                </a:solidFill>
                <a:latin typeface="Malgun Gothic"/>
              </a:rPr>
              <a:t>원장님께 여쭙고 싶은 점</a:t>
            </a:r>
          </a:p>
          <a:p>
            <a:pPr algn="l"/>
            <a:r>
              <a:rPr sz="940" b="0">
                <a:solidFill>
                  <a:srgbClr val="5B6762"/>
                </a:solidFill>
                <a:latin typeface="Malgun Gothic"/>
              </a:rPr>
              <a:t>아치 높이 — 평발·요족에도</a:t>
            </a:r>
          </a:p>
          <a:p>
            <a:pPr algn="l"/>
            <a:r>
              <a:rPr sz="940" b="0">
                <a:solidFill>
                  <a:srgbClr val="5B6762"/>
                </a:solidFill>
                <a:latin typeface="Malgun Gothic"/>
              </a:rPr>
              <a:t>무리 없을까요?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4745736"/>
            <a:ext cx="644652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21808" y="4974336"/>
            <a:ext cx="384048" cy="3840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21808" y="4983479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4892040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B2320"/>
                </a:solidFill>
                <a:latin typeface="Malgun Gothic"/>
              </a:rPr>
              <a:t>초경량 · 국내 제조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910327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5B6762"/>
                </a:solidFill>
                <a:latin typeface="Malgun Gothic"/>
              </a:rPr>
              <a:t>257g · 270mm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872" y="5276088"/>
            <a:ext cx="3337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27312D"/>
                </a:solidFill>
                <a:latin typeface="Malgun Gothic"/>
              </a:rPr>
              <a:t>하루 1만 보면 신발도 1만 번 듭니다.</a:t>
            </a:r>
          </a:p>
          <a:p>
            <a:pPr algn="l"/>
            <a:r>
              <a:rPr sz="1030" b="0">
                <a:solidFill>
                  <a:srgbClr val="27312D"/>
                </a:solidFill>
                <a:latin typeface="Malgun Gothic"/>
              </a:rPr>
              <a:t>사출부터 패드 끼움·검수까지 국내 공장.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4928616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5B6762"/>
                </a:solidFill>
                <a:latin typeface="Malgun Gothic"/>
              </a:rPr>
              <a:t>원장님께 여쭙고 싶은 점</a:t>
            </a:r>
          </a:p>
          <a:p>
            <a:pPr algn="l"/>
            <a:r>
              <a:rPr sz="940" b="0">
                <a:solidFill>
                  <a:srgbClr val="5B6762"/>
                </a:solidFill>
                <a:latin typeface="Malgun Gothic"/>
              </a:rPr>
              <a:t>발볼·클로그 뒤꿈치 형태가</a:t>
            </a:r>
          </a:p>
          <a:p>
            <a:pPr algn="l"/>
            <a:r>
              <a:rPr sz="940" b="0">
                <a:solidFill>
                  <a:srgbClr val="5B6762"/>
                </a:solidFill>
                <a:latin typeface="Malgun Gothic"/>
              </a:rPr>
              <a:t>장시간 근무에 적합할까요?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808" y="6277356"/>
            <a:ext cx="6446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0" dirty="0">
                <a:solidFill>
                  <a:srgbClr val="5B6762"/>
                </a:solidFill>
                <a:latin typeface="Malgun Gothic"/>
              </a:rPr>
              <a:t>※ 미끄럼 저항(KS M ISO 13287 · 세제/글리세린)·반발탄성 시험 의뢰 예정 — 결과는 원장님께 가장 먼저 공유드립니다.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49164"/>
                </a:solidFill>
                <a:latin typeface="Malgun Gothic"/>
              </a:rPr>
              <a:t>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0659"/>
            <a:ext cx="1078992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1B2320"/>
                </a:solidFill>
                <a:latin typeface="Malgun Gothic"/>
              </a:rPr>
              <a:t>원장님께 여쭙고 싶은 것, 그리고 저희의 약속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B6762"/>
                </a:solidFill>
                <a:latin typeface="Malgun Gothic"/>
              </a:rPr>
              <a:t>설계는 함께 보고, 알릴 때는 원장님 기준을 먼저 지키겠습니다.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5B6762"/>
                </a:solidFill>
                <a:latin typeface="Malgun Gothic"/>
              </a:rPr>
              <a:t>R&amp;D MAKERS  |  2026.10.14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539496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525780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2103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0"/>
              </a:spcAft>
            </a:pPr>
            <a:r>
              <a:rPr sz="1000" b="1">
                <a:solidFill>
                  <a:srgbClr val="349164"/>
                </a:solidFill>
                <a:latin typeface="Malgun Gothic"/>
              </a:rPr>
              <a:t>QUESTIONS  ·  착용해 보신 뒤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514600"/>
            <a:ext cx="384048" cy="3840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523744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2551176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2"/>
              </a:spcAft>
            </a:pPr>
            <a:r>
              <a:rPr sz="1150" b="0">
                <a:solidFill>
                  <a:srgbClr val="1B2320"/>
                </a:solidFill>
                <a:latin typeface="Malgun Gothic"/>
              </a:rPr>
              <a:t>패드 4점 위치 — 뒤꿈치 바깥 모서리 보강이 필요할까요?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200400"/>
            <a:ext cx="384048" cy="3840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3209544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3236976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2"/>
              </a:spcAft>
            </a:pPr>
            <a:r>
              <a:rPr sz="1150" b="0">
                <a:solidFill>
                  <a:srgbClr val="1B2320"/>
                </a:solidFill>
                <a:latin typeface="Malgun Gothic"/>
              </a:rPr>
              <a:t>일체형 안창의 아치 높이는 적절할까요?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886200"/>
            <a:ext cx="384048" cy="3840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3895344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3922776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2"/>
              </a:spcAft>
            </a:pPr>
            <a:r>
              <a:rPr sz="1150" b="0">
                <a:solidFill>
                  <a:srgbClr val="1B2320"/>
                </a:solidFill>
                <a:latin typeface="Malgun Gothic"/>
              </a:rPr>
              <a:t>발볼(라스트 폭)과 클로그 뒤꿈치 형태는 어떤가요?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4572000"/>
            <a:ext cx="384048" cy="3840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4581144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608576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2"/>
              </a:spcAft>
            </a:pPr>
            <a:r>
              <a:rPr sz="1150" b="0">
                <a:solidFill>
                  <a:srgbClr val="1B2320"/>
                </a:solidFill>
                <a:latin typeface="Malgun Gothic"/>
              </a:rPr>
              <a:t>인솔의 아치 높이·길이·뒤꿈치 컵 깊이는?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5257800"/>
            <a:ext cx="384048" cy="3840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5266944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294376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2"/>
              </a:spcAft>
            </a:pPr>
            <a:r>
              <a:rPr sz="1150" b="0">
                <a:solidFill>
                  <a:srgbClr val="1B2320"/>
                </a:solidFill>
                <a:latin typeface="Malgun Gothic"/>
              </a:rPr>
              <a:t>오래 서서 일하는 분들이 신발을 고를 때</a:t>
            </a:r>
          </a:p>
          <a:p>
            <a:pPr>
              <a:spcAft>
                <a:spcPts val="402"/>
              </a:spcAft>
            </a:pPr>
            <a:r>
              <a:rPr sz="1150" b="0">
                <a:solidFill>
                  <a:srgbClr val="1B2320"/>
                </a:solidFill>
                <a:latin typeface="Malgun Gothic"/>
              </a:rPr>
              <a:t>꼭 봐야 할 기준 3가지는?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2103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0"/>
              </a:spcAft>
            </a:pPr>
            <a:r>
              <a:rPr sz="1000" b="1">
                <a:solidFill>
                  <a:srgbClr val="349164"/>
                </a:solidFill>
                <a:latin typeface="Malgun Gothic"/>
              </a:rPr>
              <a:t>OUR PROMISE</a:t>
            </a:r>
          </a:p>
        </p:txBody>
      </p:sp>
      <p:sp>
        <p:nvSpPr>
          <p:cNvPr id="10" name="Oval 9"/>
          <p:cNvSpPr/>
          <p:nvPr/>
        </p:nvSpPr>
        <p:spPr>
          <a:xfrm>
            <a:off x="6537960" y="2514600"/>
            <a:ext cx="384048" cy="3840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523744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24963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37"/>
              </a:spcAft>
            </a:pPr>
            <a:r>
              <a:rPr sz="1250" b="1">
                <a:solidFill>
                  <a:srgbClr val="1B2320"/>
                </a:solidFill>
                <a:latin typeface="Malgun Gothic"/>
              </a:rPr>
              <a:t>검증 전 효능 표현 금지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280720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0"/>
              </a:spcAft>
            </a:pPr>
            <a:r>
              <a:rPr sz="1030" b="0">
                <a:solidFill>
                  <a:srgbClr val="5B6762"/>
                </a:solidFill>
                <a:latin typeface="Malgun Gothic"/>
              </a:rPr>
              <a:t>교정·치료·통증·질환명을 광고에 쓰지 않습니다.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537960" y="3383280"/>
            <a:ext cx="384048" cy="3840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3392424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336499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37"/>
              </a:spcAft>
            </a:pPr>
            <a:r>
              <a:rPr sz="1250" b="1">
                <a:solidFill>
                  <a:srgbClr val="1B2320"/>
                </a:solidFill>
                <a:latin typeface="Malgun Gothic"/>
              </a:rPr>
              <a:t>사전 검수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367588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0"/>
              </a:spcAft>
            </a:pPr>
            <a:r>
              <a:rPr sz="1030" b="0">
                <a:solidFill>
                  <a:srgbClr val="5B6762"/>
                </a:solidFill>
                <a:latin typeface="Malgun Gothic"/>
              </a:rPr>
              <a:t>코멘트·사진은 원장님 검수 후에만, 문장 임의 편집 없음</a:t>
            </a:r>
          </a:p>
        </p:txBody>
      </p:sp>
      <p:sp>
        <p:nvSpPr>
          <p:cNvPr id="10" name="Oval 9"/>
          <p:cNvSpPr/>
          <p:nvPr/>
        </p:nvSpPr>
        <p:spPr>
          <a:xfrm>
            <a:off x="6537960" y="4251960"/>
            <a:ext cx="384048" cy="3840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4261104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423367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37"/>
              </a:spcAft>
            </a:pPr>
            <a:r>
              <a:rPr sz="1250" b="1">
                <a:solidFill>
                  <a:srgbClr val="1B2320"/>
                </a:solidFill>
                <a:latin typeface="Malgun Gothic"/>
              </a:rPr>
              <a:t>대가 관계 공개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454456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0"/>
              </a:spcAft>
            </a:pPr>
            <a:r>
              <a:rPr sz="1030" b="0">
                <a:solidFill>
                  <a:srgbClr val="5B6762"/>
                </a:solidFill>
                <a:latin typeface="Malgun Gothic"/>
              </a:rPr>
              <a:t>‘자문료를 받았습니다’를 함께 표기합니다.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537960" y="5120640"/>
            <a:ext cx="384048" cy="3840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5129783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10235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37"/>
              </a:spcAft>
            </a:pPr>
            <a:r>
              <a:rPr sz="1250" b="1">
                <a:solidFill>
                  <a:srgbClr val="1B2320"/>
                </a:solidFill>
                <a:latin typeface="Malgun Gothic"/>
              </a:rPr>
              <a:t>‘추천’이 아닌 ‘설계 자문’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541324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0"/>
              </a:spcAft>
            </a:pPr>
            <a:r>
              <a:rPr sz="1030" b="0">
                <a:solidFill>
                  <a:srgbClr val="5B6762"/>
                </a:solidFill>
                <a:latin typeface="Malgun Gothic"/>
              </a:rPr>
              <a:t>병원명 노출은 원장님 선택, 종료 시 게시물 정리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420</Words>
  <Application>Microsoft Office PowerPoint</Application>
  <PresentationFormat>와이드스크린</PresentationFormat>
  <Paragraphs>85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YONG JOO SHIN</dc:creator>
  <cp:lastModifiedBy>YONG JOO SHIN</cp:lastModifiedBy>
  <cp:revision>4</cp:revision>
  <dcterms:modified xsi:type="dcterms:W3CDTF">2026-09-16T10:29:16Z</dcterms:modified>
</cp:coreProperties>
</file>