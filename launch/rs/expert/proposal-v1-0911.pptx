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0659"/>
            <a:ext cx="1078992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1B2320"/>
                </a:solidFill>
                <a:latin typeface="Malgun Gothic"/>
              </a:rPr>
              <a:t>기능성 신발 </a:t>
            </a:r>
            <a:r>
              <a:rPr lang="en-US" altLang="ko-KR" sz="2700" b="1" dirty="0">
                <a:solidFill>
                  <a:srgbClr val="1B2320"/>
                </a:solidFill>
                <a:latin typeface="Malgun Gothic"/>
              </a:rPr>
              <a:t>+ </a:t>
            </a:r>
            <a:r>
              <a:rPr lang="ko-KR" altLang="en-US" sz="2700" b="1" dirty="0">
                <a:solidFill>
                  <a:srgbClr val="1B2320"/>
                </a:solidFill>
                <a:latin typeface="Malgun Gothic"/>
              </a:rPr>
              <a:t>인솔 자문 의뢰서</a:t>
            </a:r>
            <a:endParaRPr sz="2700" b="1" dirty="0">
              <a:solidFill>
                <a:srgbClr val="1B2320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외식업·단체급식 현장의 ‘미끄러움’과 ‘발 피로’를 동시에 바라보는 기능성 풋웨어 R&amp;D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3154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57984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49164"/>
                </a:solidFill>
                <a:latin typeface="Malgun Gothic"/>
              </a:rPr>
              <a:t>현장의 하루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6517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00" b="1">
                <a:solidFill>
                  <a:srgbClr val="1B2320"/>
                </a:solidFill>
                <a:latin typeface="Malgun Gothic"/>
              </a:rPr>
              <a:t>8시간+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10128"/>
            <a:ext cx="260604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7312D"/>
                </a:solidFill>
                <a:latin typeface="Malgun Gothic"/>
              </a:rPr>
              <a:t>기립·보행 중심의
장시간 근무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4096512"/>
            <a:ext cx="2423160" cy="283464"/>
          </a:xfrm>
          <a:prstGeom prst="roundRect">
            <a:avLst>
              <a:gd name="adj" fmla="val 8000"/>
            </a:avLst>
          </a:prstGeom>
          <a:solidFill>
            <a:srgbClr val="EBF3EF"/>
          </a:solidFill>
          <a:ln>
            <a:solidFill>
              <a:srgbClr val="EB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4096512"/>
            <a:ext cx="21488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B6762"/>
                </a:solidFill>
                <a:latin typeface="Malgun Gothic"/>
              </a:rPr>
              <a:t>딱딱한 바닥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480560"/>
            <a:ext cx="2423160" cy="283464"/>
          </a:xfrm>
          <a:prstGeom prst="roundRect">
            <a:avLst>
              <a:gd name="adj" fmla="val 8000"/>
            </a:avLst>
          </a:prstGeom>
          <a:solidFill>
            <a:srgbClr val="EBF3EF"/>
          </a:solidFill>
          <a:ln>
            <a:solidFill>
              <a:srgbClr val="EB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4480560"/>
            <a:ext cx="21488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B6762"/>
                </a:solidFill>
                <a:latin typeface="Malgun Gothic"/>
              </a:rPr>
              <a:t>물기·기름기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864608"/>
            <a:ext cx="2423160" cy="283464"/>
          </a:xfrm>
          <a:prstGeom prst="roundRect">
            <a:avLst>
              <a:gd name="adj" fmla="val 8000"/>
            </a:avLst>
          </a:prstGeom>
          <a:solidFill>
            <a:srgbClr val="EBF3EF"/>
          </a:solidFill>
          <a:ln>
            <a:solidFill>
              <a:srgbClr val="EB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4864608"/>
            <a:ext cx="21488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B6762"/>
                </a:solidFill>
                <a:latin typeface="Malgun Gothic"/>
              </a:rPr>
              <a:t>반복되는 보행</a:t>
            </a:r>
          </a:p>
        </p:txBody>
      </p:sp>
      <p:sp>
        <p:nvSpPr>
          <p:cNvPr id="16" name="Oval 15"/>
          <p:cNvSpPr/>
          <p:nvPr/>
        </p:nvSpPr>
        <p:spPr>
          <a:xfrm>
            <a:off x="4096512" y="2999232"/>
            <a:ext cx="658368" cy="65836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96512" y="3008375"/>
            <a:ext cx="65836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algun Gothi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79476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5B6762"/>
                </a:solidFill>
                <a:latin typeface="Malgun Gothic"/>
              </a:rPr>
              <a:t>문제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3553" y="1901952"/>
            <a:ext cx="644652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76672" y="21488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49164"/>
                </a:solidFill>
                <a:latin typeface="Malgun Gothic"/>
              </a:rPr>
              <a:t>알앤디메이커스의 개발 방향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655880"/>
            <a:ext cx="448056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 err="1">
                <a:solidFill>
                  <a:srgbClr val="1B2320"/>
                </a:solidFill>
                <a:latin typeface="Malgun Gothic"/>
              </a:rPr>
              <a:t>논슬립</a:t>
            </a:r>
            <a:r>
              <a:rPr sz="22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B2320"/>
                </a:solidFill>
                <a:latin typeface="Malgun Gothic"/>
              </a:rPr>
              <a:t>초경량</a:t>
            </a:r>
            <a:r>
              <a:rPr sz="2200" b="1" dirty="0">
                <a:solidFill>
                  <a:srgbClr val="1B2320"/>
                </a:solidFill>
                <a:latin typeface="Malgun Gothic"/>
              </a:rPr>
              <a:t> </a:t>
            </a:r>
            <a:endParaRPr lang="en-US" sz="2200" b="1" dirty="0">
              <a:solidFill>
                <a:srgbClr val="1B2320"/>
              </a:solidFill>
              <a:latin typeface="Malgun Gothic"/>
            </a:endParaRPr>
          </a:p>
          <a:p>
            <a:pPr algn="l"/>
            <a:r>
              <a:rPr sz="2200" b="1" dirty="0" err="1">
                <a:solidFill>
                  <a:srgbClr val="1B2320"/>
                </a:solidFill>
                <a:latin typeface="Malgun Gothic"/>
              </a:rPr>
              <a:t>기능성</a:t>
            </a:r>
            <a:r>
              <a:rPr sz="22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B2320"/>
                </a:solidFill>
                <a:latin typeface="Malgun Gothic"/>
              </a:rPr>
              <a:t>신발</a:t>
            </a:r>
            <a:endParaRPr sz="2200" b="1" dirty="0">
              <a:solidFill>
                <a:srgbClr val="1B2320"/>
              </a:solidFill>
              <a:latin typeface="Malgun Gothic"/>
            </a:endParaRPr>
          </a:p>
        </p:txBody>
      </p:sp>
      <p:pic>
        <p:nvPicPr>
          <p:cNvPr id="22" name="Picture 21" descr="p4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397" y="3972744"/>
            <a:ext cx="1821214" cy="9288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9720" y="3337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5B6762"/>
                </a:solidFill>
                <a:latin typeface="Malgun Gothic"/>
              </a:rPr>
              <a:t>재생 고무 논슬립</a:t>
            </a:r>
          </a:p>
        </p:txBody>
      </p:sp>
      <p:sp>
        <p:nvSpPr>
          <p:cNvPr id="24" name="Oval 23"/>
          <p:cNvSpPr/>
          <p:nvPr/>
        </p:nvSpPr>
        <p:spPr>
          <a:xfrm>
            <a:off x="5376672" y="3840480"/>
            <a:ext cx="310896" cy="310896"/>
          </a:xfrm>
          <a:prstGeom prst="ellipse">
            <a:avLst/>
          </a:prstGeom>
          <a:solidFill>
            <a:srgbClr val="CF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76672" y="3849624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dirty="0">
                <a:solidFill>
                  <a:srgbClr val="349164"/>
                </a:solidFill>
                <a:latin typeface="Malgun Gothic"/>
              </a:rPr>
              <a:t>01</a:t>
            </a:r>
          </a:p>
        </p:txBody>
      </p:sp>
      <p:sp>
        <p:nvSpPr>
          <p:cNvPr id="27" name="Oval 26"/>
          <p:cNvSpPr/>
          <p:nvPr/>
        </p:nvSpPr>
        <p:spPr>
          <a:xfrm>
            <a:off x="7324344" y="3840480"/>
            <a:ext cx="310896" cy="310896"/>
          </a:xfrm>
          <a:prstGeom prst="ellipse">
            <a:avLst/>
          </a:prstGeom>
          <a:solidFill>
            <a:srgbClr val="CF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24344" y="3849624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349164"/>
                </a:solidFill>
                <a:latin typeface="Malgun Gothic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822191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7312D"/>
                </a:solidFill>
                <a:latin typeface="Malgun Gothic"/>
              </a:rPr>
              <a:t>강력한 접지력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7296" y="3808152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 err="1">
                <a:solidFill>
                  <a:srgbClr val="27312D"/>
                </a:solidFill>
                <a:latin typeface="Malgun Gothic"/>
              </a:rPr>
              <a:t>인체공학</a:t>
            </a:r>
            <a:r>
              <a:rPr sz="1050" b="1" dirty="0">
                <a:solidFill>
                  <a:srgbClr val="27312D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27312D"/>
                </a:solidFill>
                <a:latin typeface="Malgun Gothic"/>
              </a:rPr>
              <a:t>설계</a:t>
            </a:r>
            <a:endParaRPr sz="1050" b="1" dirty="0">
              <a:solidFill>
                <a:srgbClr val="27312D"/>
              </a:solidFill>
              <a:latin typeface="Malgun Gothi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75452" y="4304272"/>
            <a:ext cx="4910697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 err="1">
                <a:solidFill>
                  <a:srgbClr val="1B2320"/>
                </a:solidFill>
                <a:latin typeface="Malgun Gothic"/>
              </a:rPr>
              <a:t>단순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제조를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넘어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,  </a:t>
            </a:r>
            <a:endParaRPr lang="en-US" b="1" dirty="0">
              <a:solidFill>
                <a:srgbClr val="1B2320"/>
              </a:solidFill>
              <a:latin typeface="Malgun Gothic"/>
            </a:endParaRPr>
          </a:p>
          <a:p>
            <a:pPr algn="l"/>
            <a:r>
              <a:rPr b="1" dirty="0" err="1">
                <a:solidFill>
                  <a:srgbClr val="1B2320"/>
                </a:solidFill>
                <a:latin typeface="Malgun Gothic"/>
              </a:rPr>
              <a:t>전문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의료진의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lang="ko-KR" altLang="en-US" b="1" dirty="0">
                <a:solidFill>
                  <a:srgbClr val="1B2320"/>
                </a:solidFill>
                <a:latin typeface="Malgun Gothic"/>
              </a:rPr>
              <a:t>의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견을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
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반영하는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협업을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1B2320"/>
                </a:solidFill>
                <a:latin typeface="Malgun Gothic"/>
              </a:rPr>
              <a:t>제안합니다</a:t>
            </a:r>
            <a:r>
              <a:rPr b="1" dirty="0">
                <a:solidFill>
                  <a:srgbClr val="1B2320"/>
                </a:solidFill>
                <a:latin typeface="Malgun Gothic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2026.09.11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5B6762"/>
                </a:solidFill>
                <a:latin typeface="Malgun Gothic"/>
              </a:rPr>
              <a:t>01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A1E2CE9F-3917-CE77-98D6-4A7D51461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114" y="2192436"/>
            <a:ext cx="1848969" cy="1710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0659"/>
            <a:ext cx="1078992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1B2320"/>
                </a:solidFill>
                <a:latin typeface="Malgun Gothic"/>
              </a:rPr>
              <a:t>인솔은 </a:t>
            </a:r>
            <a:r>
              <a:rPr sz="2700" b="1" dirty="0">
                <a:solidFill>
                  <a:srgbClr val="1B2320"/>
                </a:solidFill>
                <a:latin typeface="Malgun Gothic"/>
              </a:rPr>
              <a:t>3가지 </a:t>
            </a:r>
            <a:r>
              <a:rPr sz="2700" b="1" dirty="0" err="1">
                <a:solidFill>
                  <a:srgbClr val="1B2320"/>
                </a:solidFill>
                <a:latin typeface="Malgun Gothic"/>
              </a:rPr>
              <a:t>설계</a:t>
            </a:r>
            <a:r>
              <a:rPr sz="27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2700" b="1" dirty="0" err="1">
                <a:solidFill>
                  <a:srgbClr val="1B2320"/>
                </a:solidFill>
                <a:latin typeface="Malgun Gothic"/>
              </a:rPr>
              <a:t>원칙으로</a:t>
            </a:r>
            <a:r>
              <a:rPr sz="27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2700" b="1" dirty="0" err="1">
                <a:solidFill>
                  <a:srgbClr val="1B2320"/>
                </a:solidFill>
                <a:latin typeface="Malgun Gothic"/>
              </a:rPr>
              <a:t>정리했습니다</a:t>
            </a:r>
            <a:r>
              <a:rPr sz="2700" b="1" dirty="0">
                <a:solidFill>
                  <a:srgbClr val="1B2320"/>
                </a:solidFill>
                <a:latin typeface="Malgun Gothic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친환경성 · 초경량성 · 인체공학적 지지 + 논슬립 안전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416052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3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67189"/>
            <a:ext cx="3611880" cy="3639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5687568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5B6762"/>
                </a:solidFill>
                <a:latin typeface="Malgun Gothic"/>
              </a:rPr>
              <a:t>60% HALF-GEAR  /  RECOVERY EVA 28g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874519"/>
            <a:ext cx="644652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21808" y="2103120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21808" y="2112263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020824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인체공학적 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03911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349164"/>
                </a:solidFill>
                <a:latin typeface="Malgun Gothic"/>
              </a:rPr>
              <a:t>60% HALF-GEAR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404872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후족부·아치 60%를 정밀하게 받치고,
전족부의 유연한 보행 롤링은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2386584"/>
            <a:ext cx="193852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족저근막의 과도한 신장 억제 · 아치 붕괴 방지 · 발목 흔들림 완화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310127"/>
            <a:ext cx="644652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21808" y="3538727"/>
            <a:ext cx="384048" cy="384048"/>
          </a:xfrm>
          <a:prstGeom prst="ellipse">
            <a:avLst/>
          </a:prstGeom>
          <a:solidFill>
            <a:srgbClr val="273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1808" y="3547871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3456432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극대화된 초경량성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47472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349164"/>
                </a:solidFill>
                <a:latin typeface="Malgun Gothic"/>
              </a:rPr>
              <a:t>RECOVERY EVA 28g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3840479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인솔 무게 28g · 고탄성 리커버리 EVA 폼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3822191"/>
            <a:ext cx="193852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보행 시 지면 반발 충격 흡수 · 장시간 기립 시 하지 피로·부종 완화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745736"/>
            <a:ext cx="64465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321808" y="4974336"/>
            <a:ext cx="384048" cy="3840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21808" y="4983479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2" y="4892040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B2320"/>
                </a:solidFill>
                <a:latin typeface="Malgun Gothic"/>
              </a:rPr>
              <a:t>친환경성 &amp; 논슬립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910327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349164"/>
                </a:solidFill>
                <a:latin typeface="Malgun Gothic"/>
              </a:rPr>
              <a:t>Eco-friendly &amp;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5276088"/>
            <a:ext cx="33375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27312D"/>
                </a:solidFill>
                <a:latin typeface="Malgun Gothic"/>
              </a:rPr>
              <a:t>폐타이어 재생 고무 헤링본 패턴 + 그린 접지 칩
수분·유분 환경 논슬립 설계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5257800"/>
            <a:ext cx="193852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5B6762"/>
                </a:solidFill>
                <a:latin typeface="Malgun Gothic"/>
              </a:rPr>
              <a:t>조리실 낙상 위험 저감 · 통기·위생적 족부 환경 유지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6277356"/>
            <a:ext cx="6446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dirty="0">
                <a:solidFill>
                  <a:srgbClr val="5B6762"/>
                </a:solidFill>
                <a:latin typeface="Malgun Gothic"/>
              </a:rPr>
              <a:t>※ 위 ‘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의학적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기대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효과’는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전문의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자문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및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검증을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통해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구체화할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협업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5B6762"/>
                </a:solidFill>
                <a:latin typeface="Malgun Gothic"/>
              </a:rPr>
              <a:t>항목입니다</a:t>
            </a:r>
            <a:r>
              <a:rPr sz="880" b="0" dirty="0">
                <a:solidFill>
                  <a:srgbClr val="5B6762"/>
                </a:solidFill>
                <a:latin typeface="Malgun Gothic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2026.09.11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B2320"/>
                </a:solidFill>
                <a:latin typeface="Malgun Gothic"/>
              </a:rPr>
              <a:t>의사 이름이 아니라, ‘설계 과정’에 참여하는 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기능성 풋웨어 시장의 전문의 협업 사례에서 착안한 브랜드 신뢰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5285232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349164"/>
                </a:solidFill>
                <a:latin typeface="Malgun Gothic"/>
              </a:rPr>
              <a:t>REFERENCE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1B2320"/>
                </a:solidFill>
                <a:latin typeface="Malgun Gothic"/>
              </a:rPr>
              <a:t>Bark</a:t>
            </a:r>
          </a:p>
        </p:txBody>
      </p:sp>
      <p:pic>
        <p:nvPicPr>
          <p:cNvPr id="9" name="Picture 8" descr="p2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907792"/>
            <a:ext cx="2084831" cy="2761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18688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2320"/>
                </a:solidFill>
                <a:latin typeface="Malgun Gothic"/>
              </a:rPr>
              <a:t>설계 → 개발 → 착화 테스트 →
최종 검증</a:t>
            </a:r>
          </a:p>
        </p:txBody>
      </p:sp>
      <p:sp>
        <p:nvSpPr>
          <p:cNvPr id="11" name="Oval 10"/>
          <p:cNvSpPr/>
          <p:nvPr/>
        </p:nvSpPr>
        <p:spPr>
          <a:xfrm>
            <a:off x="3218688" y="3785615"/>
            <a:ext cx="82296" cy="82296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3703320"/>
            <a:ext cx="2121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320"/>
                </a:solidFill>
                <a:latin typeface="Malgun Gothic"/>
              </a:rPr>
              <a:t>정형외과 전문의와 전 과정 협업</a:t>
            </a:r>
          </a:p>
        </p:txBody>
      </p:sp>
      <p:sp>
        <p:nvSpPr>
          <p:cNvPr id="13" name="Oval 12"/>
          <p:cNvSpPr/>
          <p:nvPr/>
        </p:nvSpPr>
        <p:spPr>
          <a:xfrm>
            <a:off x="3218688" y="4306824"/>
            <a:ext cx="82296" cy="82296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4224528"/>
            <a:ext cx="21214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320"/>
                </a:solidFill>
                <a:latin typeface="Malgun Gothic"/>
              </a:rPr>
              <a:t>‘의사가 검증한 구조’라는 신뢰 형성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4965192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49164"/>
                </a:solidFill>
                <a:latin typeface="Malgun Gothic"/>
              </a:rPr>
              <a:t>핵심은 ‘이름’보다
‘참여 방식’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874519"/>
            <a:ext cx="5321808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130552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349164"/>
                </a:solidFill>
                <a:latin typeface="Malgun Gothic"/>
              </a:rPr>
              <a:t>REFERENCE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4688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1B2320"/>
                </a:solidFill>
                <a:latin typeface="Malgun Gothic"/>
              </a:rPr>
              <a:t>piplu</a:t>
            </a:r>
          </a:p>
        </p:txBody>
      </p:sp>
      <p:pic>
        <p:nvPicPr>
          <p:cNvPr id="19" name="Picture 18" descr="p2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907792"/>
            <a:ext cx="2148840" cy="22585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51392" y="2907792"/>
            <a:ext cx="22402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2320"/>
                </a:solidFill>
                <a:latin typeface="Malgun Gothic"/>
              </a:rPr>
              <a:t>전문가 프로필과
연구 자문 이력 전면화</a:t>
            </a:r>
          </a:p>
        </p:txBody>
      </p:sp>
      <p:sp>
        <p:nvSpPr>
          <p:cNvPr id="21" name="Oval 20"/>
          <p:cNvSpPr/>
          <p:nvPr/>
        </p:nvSpPr>
        <p:spPr>
          <a:xfrm>
            <a:off x="8851392" y="3922776"/>
            <a:ext cx="82296" cy="82296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15984" y="3840480"/>
            <a:ext cx="20756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320"/>
                </a:solidFill>
                <a:latin typeface="Malgun Gothic"/>
              </a:rPr>
              <a:t>재활 족부 전문의·박사 협업</a:t>
            </a:r>
          </a:p>
        </p:txBody>
      </p:sp>
      <p:sp>
        <p:nvSpPr>
          <p:cNvPr id="23" name="Oval 22"/>
          <p:cNvSpPr/>
          <p:nvPr/>
        </p:nvSpPr>
        <p:spPr>
          <a:xfrm>
            <a:off x="8851392" y="4443983"/>
            <a:ext cx="82296" cy="82296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15984" y="4361688"/>
            <a:ext cx="20756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320"/>
                </a:solidFill>
                <a:latin typeface="Malgun Gothic"/>
              </a:rPr>
              <a:t>기능성 신발의 전문성 강조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392" y="5074920"/>
            <a:ext cx="2148840" cy="502920"/>
          </a:xfrm>
          <a:prstGeom prst="roundRect">
            <a:avLst>
              <a:gd name="adj" fmla="val 8000"/>
            </a:avLst>
          </a:prstGeom>
          <a:solidFill>
            <a:srgbClr val="CFEFDE"/>
          </a:solidFill>
          <a:ln>
            <a:solidFill>
              <a:srgbClr val="CFE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507492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349164"/>
                </a:solidFill>
                <a:latin typeface="Malgun Gothic"/>
              </a:rPr>
              <a:t>우리의 방향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6108192"/>
            <a:ext cx="10424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7312D"/>
                </a:solidFill>
                <a:latin typeface="Malgun Gothic"/>
              </a:rPr>
              <a:t>“정형외과 전문의의 자문 공법으로 설계된 족부 맞춤형 신발”이라는 차별화된 가치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2026.09.11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B2320"/>
                </a:solidFill>
                <a:latin typeface="Malgun Gothic"/>
              </a:rPr>
              <a:t>원장님과 함께 만들고, 함께 알립니다.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B6762"/>
                </a:solidFill>
                <a:latin typeface="Malgun Gothic"/>
              </a:rPr>
              <a:t>R&amp;D 자문 → 전문가 콘텐츠 → 패키지 노출까지 하나의 협업 구조로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" y="2834640"/>
            <a:ext cx="10058400" cy="0"/>
          </a:xfrm>
          <a:prstGeom prst="line">
            <a:avLst/>
          </a:prstGeom>
          <a:ln w="254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92807" y="2414016"/>
            <a:ext cx="841248" cy="8412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92807" y="2423160"/>
            <a:ext cx="84124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273552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3568166"/>
            <a:ext cx="2788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1B2320"/>
                </a:solidFill>
                <a:latin typeface="Malgun Gothic"/>
              </a:rPr>
              <a:t>의학</a:t>
            </a:r>
            <a:r>
              <a:rPr sz="1400" b="1" dirty="0">
                <a:solidFill>
                  <a:srgbClr val="1B232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1B2320"/>
                </a:solidFill>
                <a:latin typeface="Malgun Gothic"/>
              </a:rPr>
              <a:t>자문</a:t>
            </a:r>
            <a:endParaRPr sz="1400" b="1" dirty="0">
              <a:solidFill>
                <a:srgbClr val="1B2320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9848" y="40050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B6762"/>
                </a:solidFill>
                <a:latin typeface="Malgun Gothic"/>
              </a:rPr>
              <a:t>구조·경도·하중분산
생체역학적 검토</a:t>
            </a:r>
          </a:p>
        </p:txBody>
      </p:sp>
      <p:sp>
        <p:nvSpPr>
          <p:cNvPr id="12" name="Oval 11"/>
          <p:cNvSpPr/>
          <p:nvPr/>
        </p:nvSpPr>
        <p:spPr>
          <a:xfrm>
            <a:off x="5641848" y="2414016"/>
            <a:ext cx="841248" cy="8412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41848" y="2423160"/>
            <a:ext cx="84124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3273552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3511296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2320"/>
                </a:solidFill>
                <a:latin typeface="Malgun Gothic"/>
              </a:rPr>
              <a:t>상세페이지 &amp;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40050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B6762"/>
                </a:solidFill>
                <a:latin typeface="Malgun Gothic"/>
              </a:rPr>
              <a:t>전문가 코멘트·프로필
15–30초 인터뷰</a:t>
            </a:r>
          </a:p>
        </p:txBody>
      </p:sp>
      <p:sp>
        <p:nvSpPr>
          <p:cNvPr id="17" name="Oval 16"/>
          <p:cNvSpPr/>
          <p:nvPr/>
        </p:nvSpPr>
        <p:spPr>
          <a:xfrm>
            <a:off x="9390888" y="2414016"/>
            <a:ext cx="841248" cy="841248"/>
          </a:xfrm>
          <a:prstGeom prst="ellipse">
            <a:avLst/>
          </a:prstGeom>
          <a:solidFill>
            <a:srgbClr val="34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90888" y="2423160"/>
            <a:ext cx="84124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3273552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11296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B2320"/>
                </a:solidFill>
                <a:latin typeface="Malgun Gothic"/>
              </a:rPr>
              <a:t>패키지 리플렛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40050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B6762"/>
                </a:solidFill>
                <a:latin typeface="Malgun Gothic"/>
              </a:rPr>
              <a:t>사진·성함·소속
자문 참여 내역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19019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49164"/>
                </a:solidFill>
                <a:latin typeface="Malgun Gothic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19019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49164"/>
                </a:solidFill>
                <a:latin typeface="Malgun Gothic"/>
              </a:rP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19019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49164"/>
                </a:solidFill>
                <a:latin typeface="Malgun Gothic"/>
              </a:rPr>
              <a:t>BRAND TRUST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49824"/>
            <a:ext cx="10744200" cy="658368"/>
          </a:xfrm>
          <a:prstGeom prst="roundRect">
            <a:avLst>
              <a:gd name="adj" fmla="val 8000"/>
            </a:avLst>
          </a:prstGeom>
          <a:solidFill>
            <a:srgbClr val="EBF3EF"/>
          </a:solidFill>
          <a:ln>
            <a:solidFill>
              <a:srgbClr val="EB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555955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55955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B2320"/>
                </a:solidFill>
                <a:latin typeface="Malgun Gothic"/>
              </a:rPr>
              <a:t>2026년 9–10월 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55955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진행 방식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555955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B2320"/>
                </a:solidFill>
                <a:latin typeface="Malgun Gothic"/>
              </a:rPr>
              <a:t>원장님 일정 100% 맞춤 조율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555955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349164"/>
                </a:solidFill>
                <a:latin typeface="Malgun Gothic"/>
              </a:rPr>
              <a:t>조건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555955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80" b="1">
                <a:solidFill>
                  <a:srgbClr val="1B2320"/>
                </a:solidFill>
                <a:latin typeface="Malgun Gothic"/>
              </a:rPr>
              <a:t>자문비·출연 사례 협의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6473970"/>
            <a:ext cx="107442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50" dirty="0">
                <a:solidFill>
                  <a:srgbClr val="5B6762"/>
                </a:solidFill>
                <a:latin typeface="Malgun Gothic"/>
              </a:rPr>
              <a:t>감사합니다</a:t>
            </a:r>
            <a:r>
              <a:rPr lang="en-US" altLang="ko-KR" sz="950" dirty="0">
                <a:solidFill>
                  <a:srgbClr val="5B6762"/>
                </a:solidFill>
                <a:latin typeface="Malgun Gothic"/>
              </a:rPr>
              <a:t>.</a:t>
            </a:r>
            <a:endParaRPr sz="950" b="0" dirty="0">
              <a:solidFill>
                <a:srgbClr val="5B6762"/>
              </a:solidFill>
              <a:latin typeface="Malgun Gothi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762"/>
                </a:solidFill>
                <a:latin typeface="Malgun Gothic"/>
              </a:rPr>
              <a:t>R&amp;D MAKERS  |  2026.09.11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5B6762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420</Words>
  <Application>Microsoft Office PowerPoint</Application>
  <PresentationFormat>와이드스크린</PresentationFormat>
  <Paragraphs>85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YONG JOO SHIN</dc:creator>
  <cp:lastModifiedBy>YONG JOO SHIN</cp:lastModifiedBy>
  <cp:revision>4</cp:revision>
  <dcterms:modified xsi:type="dcterms:W3CDTF">2026-09-16T10:29:16Z</dcterms:modified>
</cp:coreProperties>
</file>