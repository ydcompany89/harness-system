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요약" id="{d73580cb-bd79-fdfe-5a66-55e21f53a8be}">
          <p14:sldIdLst>
            <p14:sldId id="256"/>
            <p14:sldId id="257"/>
          </p14:sldIdLst>
        </p14:section>
        <p14:section name="일정" id="{03fc1cd0-9481-8599-8c28-a465fcb2c7bd}">
          <p14:sldIdLst>
            <p14:sldId id="258"/>
          </p14:sldIdLst>
        </p14:section>
        <p14:section name="디자인·문구" id="{651178a5-2034-fb7e-5889-535c6e7197f9}">
          <p14:sldIdLst>
            <p14:sldId id="259"/>
            <p14:sldId id="260"/>
            <p14:sldId id="261"/>
            <p14:sldId id="262"/>
          </p14:sldIdLst>
        </p14:section>
        <p14:section name="법·결제" id="{b226f15f-6d55-5eb8-f073-08a97dc22b3b}">
          <p14:sldIdLst>
            <p14:sldId id="263"/>
          </p14:sldIdLst>
        </p14:section>
        <p14:section name="연동·소유" id="{e869861c-77ca-f8d1-f246-a6723aa91f10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73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6B78"/>
                </a:solidFill>
              </a:rPr>
              <a:t>RHARA SHOE · 자사몰 수정 요청서 · 2026-10-30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라라슈 자사몰 수정 요청서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rharashoe.com · 워킹화 11/25 오픈 기준 · RHARA SHOE → 매스미디어</a:t>
            </a:r>
            <a:endParaRPr lang="en-US" sz="1800" dirty="0"/>
          </a:p>
        </p:txBody>
      </p:sp>
      <p:sp>
        <p:nvSpPr>
          <p:cNvPr id="4" name="dot0"/>
          <p:cNvSpPr/>
          <p:nvPr/>
        </p:nvSpPr>
        <p:spPr>
          <a:xfrm>
            <a:off x="731520" y="822960"/>
            <a:ext cx="292608" cy="292608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5" name="dot1"/>
          <p:cNvSpPr/>
          <p:nvPr/>
        </p:nvSpPr>
        <p:spPr>
          <a:xfrm>
            <a:off x="1115568" y="822960"/>
            <a:ext cx="292608" cy="292608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6" name="dot2"/>
          <p:cNvSpPr/>
          <p:nvPr/>
        </p:nvSpPr>
        <p:spPr>
          <a:xfrm>
            <a:off x="731520" y="1207008"/>
            <a:ext cx="292608" cy="292608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7" name="dot3"/>
          <p:cNvSpPr/>
          <p:nvPr/>
        </p:nvSpPr>
        <p:spPr>
          <a:xfrm>
            <a:off x="1115568" y="1207008"/>
            <a:ext cx="292608" cy="292608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432"/>
                </a:solidFill>
              </a:rPr>
              <a:t>Made for Standing.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한눈에 보기: 11/20까지 결제 테스트 완료가 목표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6B78"/>
                </a:solidFill>
              </a:rPr>
              <a:t>아래 4개 묶음을 우선순위대로 반영 부탁드립니다. 회신 기한: 11/3(월)</a:t>
            </a:r>
            <a:endParaRPr lang="en-US" sz="1500" dirty="0"/>
          </a:p>
        </p:txBody>
      </p:sp>
      <p:sp>
        <p:nvSpPr>
          <p:cNvPr id="4" name="card0"/>
          <p:cNvSpPr/>
          <p:nvPr/>
        </p:nvSpPr>
        <p:spPr>
          <a:xfrm>
            <a:off x="548640" y="1737360"/>
            <a:ext cx="2633472" cy="3291840"/>
          </a:xfrm>
          <a:prstGeom prst="roundRect">
            <a:avLst>
              <a:gd name="adj" fmla="val 5208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3D30"/>
                </a:solidFill>
              </a:rPr>
              <a:t>디자인·문구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4"/>
                </a:solidFill>
              </a:rPr>
              <a:t>메인 인솔 이미지 실물색, 날짜 표기, 브랜드 컬러·표기 통일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6B78"/>
                </a:solidFill>
              </a:rPr>
              <a:t>p.4~6</a:t>
            </a:r>
            <a:endParaRPr lang="en-US" sz="1200" dirty="0"/>
          </a:p>
        </p:txBody>
      </p:sp>
      <p:sp>
        <p:nvSpPr>
          <p:cNvPr id="9" name="card1"/>
          <p:cNvSpPr/>
          <p:nvPr/>
        </p:nvSpPr>
        <p:spPr>
          <a:xfrm>
            <a:off x="3364992" y="1737360"/>
            <a:ext cx="2633472" cy="3291840"/>
          </a:xfrm>
          <a:prstGeom prst="roundRect">
            <a:avLst>
              <a:gd name="adj" fmla="val 5208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3592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3D30"/>
                </a:solidFill>
              </a:rPr>
              <a:t>법·결제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3017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4"/>
                </a:solidFill>
              </a:rPr>
              <a:t>무통장입금 끄기, 에스크로·통신판매업, 처리방침, 발송일 표시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6B78"/>
                </a:solidFill>
              </a:rPr>
              <a:t>p.8</a:t>
            </a:r>
            <a:endParaRPr lang="en-US" sz="1200" dirty="0"/>
          </a:p>
        </p:txBody>
      </p:sp>
      <p:sp>
        <p:nvSpPr>
          <p:cNvPr id="14" name="card2"/>
          <p:cNvSpPr/>
          <p:nvPr/>
        </p:nvSpPr>
        <p:spPr>
          <a:xfrm>
            <a:off x="6181344" y="1737360"/>
            <a:ext cx="2633472" cy="3291840"/>
          </a:xfrm>
          <a:prstGeom prst="roundRect">
            <a:avLst>
              <a:gd name="adj" fmla="val 5208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9944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3D30"/>
                </a:solidFill>
              </a:rPr>
              <a:t>소유·접근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3017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4"/>
                </a:solidFill>
              </a:rPr>
              <a:t>Vercel 접근 승인·공유 링크, 다음 주 프로젝트·저장소 이전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6B78"/>
                </a:solidFill>
              </a:rPr>
              <a:t>p.10</a:t>
            </a:r>
            <a:endParaRPr lang="en-US" sz="1200" dirty="0"/>
          </a:p>
        </p:txBody>
      </p:sp>
      <p:sp>
        <p:nvSpPr>
          <p:cNvPr id="19" name="card3"/>
          <p:cNvSpPr/>
          <p:nvPr/>
        </p:nvSpPr>
        <p:spPr>
          <a:xfrm>
            <a:off x="8997696" y="1737360"/>
            <a:ext cx="2633472" cy="3291840"/>
          </a:xfrm>
          <a:prstGeom prst="roundRect">
            <a:avLst>
              <a:gd name="adj" fmla="val 5208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26296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🟡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3D30"/>
                </a:solidFill>
              </a:rPr>
              <a:t>연동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3017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324"/>
                </a:solidFill>
              </a:rPr>
              <a:t>메타 픽셀, 도메인 연결값, 유입 경로 측정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6B78"/>
                </a:solidFill>
              </a:rPr>
              <a:t>p.9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6B78"/>
                </a:solidFill>
              </a:rPr>
              <a:t>🟡 원장 자문 노출 규칙(p.7)은 상세페이지 제작 시 함께 적용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확정 일정 (두 대표 합의 완료)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6B78"/>
                </a:solidFill>
              </a:rPr>
              <a:t>자사몰 일정은 아래 기준으로 맞춰 주세요. 인솔은 자사몰보다 와디즈가 먼저입니다.</a:t>
            </a:r>
            <a:endParaRPr lang="en-US" sz="1500" dirty="0"/>
          </a:p>
        </p:txBody>
      </p:sp>
      <p:sp>
        <p:nvSpPr>
          <p:cNvPr id="4" name="timeline"/>
          <p:cNvSpPr/>
          <p:nvPr/>
        </p:nvSpPr>
        <p:spPr>
          <a:xfrm>
            <a:off x="822960" y="3063240"/>
            <a:ext cx="10515600" cy="0"/>
          </a:xfrm>
          <a:prstGeom prst="line">
            <a:avLst/>
          </a:prstGeom>
          <a:noFill/>
          <a:ln w="25400">
            <a:solidFill>
              <a:srgbClr val="073D30"/>
            </a:solidFill>
            <a:prstDash val="solid"/>
          </a:ln>
        </p:spPr>
      </p:sp>
      <p:sp>
        <p:nvSpPr>
          <p:cNvPr id="5" name="tl0"/>
          <p:cNvSpPr/>
          <p:nvPr/>
        </p:nvSpPr>
        <p:spPr>
          <a:xfrm>
            <a:off x="1234440" y="2926080"/>
            <a:ext cx="274320" cy="274320"/>
          </a:xfrm>
          <a:prstGeom prst="ellipse">
            <a:avLst/>
          </a:prstGeom>
          <a:solidFill>
            <a:srgbClr val="073D30"/>
          </a:solidFill>
          <a:ln w="19050">
            <a:solidFill>
              <a:srgbClr val="073D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D30"/>
                </a:solidFill>
              </a:rPr>
              <a:t>11/11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24"/>
                </a:solidFill>
              </a:rPr>
              <a:t>인솔 와디즈 오픈예정(알림 신청) 공개</a:t>
            </a:r>
            <a:endParaRPr lang="en-US" sz="1300" dirty="0"/>
          </a:p>
        </p:txBody>
      </p:sp>
      <p:sp>
        <p:nvSpPr>
          <p:cNvPr id="8" name="tl1"/>
          <p:cNvSpPr/>
          <p:nvPr/>
        </p:nvSpPr>
        <p:spPr>
          <a:xfrm>
            <a:off x="3108960" y="2926080"/>
            <a:ext cx="274320" cy="274320"/>
          </a:xfrm>
          <a:prstGeom prst="ellipse">
            <a:avLst/>
          </a:prstGeom>
          <a:solidFill>
            <a:srgbClr val="073D30"/>
          </a:solidFill>
          <a:ln w="19050">
            <a:solidFill>
              <a:srgbClr val="073D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D30"/>
                </a:solidFill>
              </a:rPr>
              <a:t>11/12~15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33832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24"/>
                </a:solidFill>
              </a:rPr>
              <a:t>KINTEX 메가쇼</a:t>
            </a:r>
            <a:endParaRPr lang="en-US" sz="1300" dirty="0"/>
          </a:p>
        </p:txBody>
      </p:sp>
      <p:sp>
        <p:nvSpPr>
          <p:cNvPr id="11" name="tl2"/>
          <p:cNvSpPr/>
          <p:nvPr/>
        </p:nvSpPr>
        <p:spPr>
          <a:xfrm>
            <a:off x="4983480" y="2926080"/>
            <a:ext cx="274320" cy="274320"/>
          </a:xfrm>
          <a:prstGeom prst="ellipse">
            <a:avLst/>
          </a:prstGeom>
          <a:solidFill>
            <a:srgbClr val="073D30"/>
          </a:solidFill>
          <a:ln w="19050">
            <a:solidFill>
              <a:srgbClr val="073D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D30"/>
                </a:solidFill>
              </a:rPr>
              <a:t>11/20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3832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24"/>
                </a:solidFill>
              </a:rPr>
              <a:t>자사몰 결제·환불 테스트 완료</a:t>
            </a:r>
            <a:endParaRPr lang="en-US" sz="1300" dirty="0"/>
          </a:p>
        </p:txBody>
      </p:sp>
      <p:sp>
        <p:nvSpPr>
          <p:cNvPr id="14" name="tl3"/>
          <p:cNvSpPr/>
          <p:nvPr/>
        </p:nvSpPr>
        <p:spPr>
          <a:xfrm>
            <a:off x="6858000" y="2926080"/>
            <a:ext cx="274320" cy="274320"/>
          </a:xfrm>
          <a:prstGeom prst="ellipse">
            <a:avLst/>
          </a:prstGeom>
          <a:solidFill>
            <a:srgbClr val="073D30"/>
          </a:solidFill>
          <a:ln w="19050">
            <a:solidFill>
              <a:srgbClr val="073D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D30"/>
                </a:solidFill>
              </a:rPr>
              <a:t>11/23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3832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24"/>
                </a:solidFill>
              </a:rPr>
              <a:t>워킹화 상세 최종 승인</a:t>
            </a:r>
            <a:endParaRPr lang="en-US" sz="1300" dirty="0"/>
          </a:p>
        </p:txBody>
      </p:sp>
      <p:sp>
        <p:nvSpPr>
          <p:cNvPr id="17" name="tl4"/>
          <p:cNvSpPr/>
          <p:nvPr/>
        </p:nvSpPr>
        <p:spPr>
          <a:xfrm>
            <a:off x="8732520" y="2926080"/>
            <a:ext cx="274320" cy="274320"/>
          </a:xfrm>
          <a:prstGeom prst="ellipse">
            <a:avLst/>
          </a:prstGeom>
          <a:solidFill>
            <a:srgbClr val="C6F432"/>
          </a:solidFill>
          <a:ln w="19050">
            <a:solidFill>
              <a:srgbClr val="073D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D30"/>
                </a:solidFill>
              </a:rPr>
              <a:t>11/25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33832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24"/>
                </a:solidFill>
              </a:rPr>
              <a:t>워킹화 자사몰 오픈</a:t>
            </a:r>
            <a:endParaRPr lang="en-US" sz="1300" dirty="0"/>
          </a:p>
        </p:txBody>
      </p:sp>
      <p:sp>
        <p:nvSpPr>
          <p:cNvPr id="20" name="tl5"/>
          <p:cNvSpPr/>
          <p:nvPr/>
        </p:nvSpPr>
        <p:spPr>
          <a:xfrm>
            <a:off x="10607040" y="2926080"/>
            <a:ext cx="274320" cy="274320"/>
          </a:xfrm>
          <a:prstGeom prst="ellipse">
            <a:avLst/>
          </a:prstGeom>
          <a:solidFill>
            <a:srgbClr val="073D30"/>
          </a:solidFill>
          <a:ln w="19050">
            <a:solidFill>
              <a:srgbClr val="073D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2124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D30"/>
                </a:solidFill>
              </a:rPr>
              <a:t>11/26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921240" y="33832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24"/>
                </a:solidFill>
              </a:rPr>
              <a:t>인솔 와디즈 펀딩 오픈 · 서디페(~29)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261E"/>
                </a:solidFill>
              </a:rPr>
              <a:t>※ 인솔 자사몰 판매 개시일은 와디즈 정책 확인 후 별도 안내 — 그 전까지 "11.11 OPEN" 같은 판매 개시 표현을 쓰지 말아 주세요.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메인 첫 화면 수정</a:t>
            </a:r>
            <a:endParaRPr lang="en-US" sz="3000" dirty="0"/>
          </a:p>
        </p:txBody>
      </p:sp>
      <p:pic>
        <p:nvPicPr>
          <p:cNvPr id="3" name="Image 0" descr="현재 자사몰 메인 화면 캡처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2651760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080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6B78"/>
                </a:solidFill>
              </a:rPr>
              <a:t>현재 (10/30 캡처)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0440" y="1234440"/>
          <a:ext cx="80924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현재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수정 요청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D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인솔이 연두·올리브색으로 렌더링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실제 판매 색상(그레이·모카무스) 사진으로 교체 — 색 보정 금지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쿼드그립 아치가득 인솔 11.11 OPEN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11.11 와디즈 오픈예정 · 11.26 펀딩 오픈 예정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Made for standing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Made for Standing.  (대문자 S, 마침표)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QUADGRIP ARCH-FILL INSOLE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영문 제품명 확정 후 전달 — 그 전까지 국문만 표기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블랙 배경 + 연두 히어로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화이트·크림 바탕 + 포레스트 그린 (p.5 컬러 기준)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CTA "자세히 보기"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제품별 행동 문구: "와디즈 알림 받기"(인솔) / "11.25 오픈 알림 받기"(워킹화)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브랜드 컬러 기준 (패키지·인스타와 통일)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6B78"/>
                </a:solidFill>
              </a:rPr>
              <a:t>인스타 카드뉴스와 새 인솔 패키지가 이미 이 조합입니다. 자사몰만 블랙+연두로 달라 보입니다.</a:t>
            </a:r>
            <a:endParaRPr lang="en-US" sz="1500" dirty="0"/>
          </a:p>
        </p:txBody>
      </p:sp>
      <p:sp>
        <p:nvSpPr>
          <p:cNvPr id="4" name="chip0"/>
          <p:cNvSpPr/>
          <p:nvPr/>
        </p:nvSpPr>
        <p:spPr>
          <a:xfrm>
            <a:off x="548640" y="169164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073D30"/>
          </a:solidFill>
          <a:ln w="12700">
            <a:solidFill>
              <a:srgbClr val="D9DC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606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Forest Green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#073D30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6B78"/>
                </a:solidFill>
              </a:rPr>
              <a:t>메인 · 버튼 · 띠</a:t>
            </a:r>
            <a:endParaRPr lang="en-US" sz="1200" dirty="0"/>
          </a:p>
        </p:txBody>
      </p:sp>
      <p:sp>
        <p:nvSpPr>
          <p:cNvPr id="7" name="chip1"/>
          <p:cNvSpPr/>
          <p:nvPr/>
        </p:nvSpPr>
        <p:spPr>
          <a:xfrm>
            <a:off x="2423160" y="169164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F5F5F0"/>
          </a:solidFill>
          <a:ln w="12700">
            <a:solidFill>
              <a:srgbClr val="D9DC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2606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324"/>
                </a:solidFill>
              </a:rPr>
              <a:t>Clean White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324"/>
                </a:solidFill>
              </a:rPr>
              <a:t>#F5F5F0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3520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6B78"/>
                </a:solidFill>
              </a:rPr>
              <a:t>바탕 · 여백</a:t>
            </a:r>
            <a:endParaRPr lang="en-US" sz="1200" dirty="0"/>
          </a:p>
        </p:txBody>
      </p:sp>
      <p:sp>
        <p:nvSpPr>
          <p:cNvPr id="10" name="chip2"/>
          <p:cNvSpPr/>
          <p:nvPr/>
        </p:nvSpPr>
        <p:spPr>
          <a:xfrm>
            <a:off x="4297680" y="169164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C6F432"/>
          </a:solidFill>
          <a:ln w="12700">
            <a:solidFill>
              <a:srgbClr val="D9DC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2606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324"/>
                </a:solidFill>
              </a:rPr>
              <a:t>Active Lime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324"/>
                </a:solidFill>
              </a:rPr>
              <a:t>#C6F432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520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6B78"/>
                </a:solidFill>
              </a:rPr>
              <a:t>4점 마크 · 강조 한 단어</a:t>
            </a:r>
            <a:endParaRPr lang="en-US" sz="1200" dirty="0"/>
          </a:p>
        </p:txBody>
      </p:sp>
      <p:sp>
        <p:nvSpPr>
          <p:cNvPr id="13" name="chip3"/>
          <p:cNvSpPr/>
          <p:nvPr/>
        </p:nvSpPr>
        <p:spPr>
          <a:xfrm>
            <a:off x="6172200" y="169164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303536"/>
          </a:solidFill>
          <a:ln w="12700">
            <a:solidFill>
              <a:srgbClr val="D9DC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606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Graphite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#303536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520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6B78"/>
                </a:solidFill>
              </a:rPr>
              <a:t>본문 글자</a:t>
            </a:r>
            <a:endParaRPr lang="en-US" sz="1200" dirty="0"/>
          </a:p>
        </p:txBody>
      </p:sp>
      <p:sp>
        <p:nvSpPr>
          <p:cNvPr id="16" name="chip4"/>
          <p:cNvSpPr/>
          <p:nvPr/>
        </p:nvSpPr>
        <p:spPr>
          <a:xfrm>
            <a:off x="8046720" y="169164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626B78"/>
          </a:solidFill>
          <a:ln w="12700">
            <a:solidFill>
              <a:srgbClr val="D9DC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2606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 Gray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#626B78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520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6B78"/>
                </a:solidFill>
              </a:rPr>
              <a:t>인솔 색상 옵션</a:t>
            </a:r>
            <a:endParaRPr lang="en-US" sz="1200" dirty="0"/>
          </a:p>
        </p:txBody>
      </p:sp>
      <p:sp>
        <p:nvSpPr>
          <p:cNvPr id="19" name="chip5"/>
          <p:cNvSpPr/>
          <p:nvPr/>
        </p:nvSpPr>
        <p:spPr>
          <a:xfrm>
            <a:off x="9921240" y="169164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8B7463"/>
          </a:solidFill>
          <a:ln w="12700">
            <a:solidFill>
              <a:srgbClr val="D9DC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0" y="2606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Mocha Mousse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#8B7463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921240" y="3520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6B78"/>
                </a:solidFill>
              </a:rPr>
              <a:t>인솔 색상 옵션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324"/>
                </a:solidFill>
              </a:rPr>
              <a:t>사용 비율  화이트 45% · 포레스트 30% · 그레이/그라파이트 15% · 모카 7% · 라임 3%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324"/>
                </a:solidFill>
              </a:rPr>
              <a:t>라임은 넓은 면적·배경에 쓰지 않습니다. 4점 마크와 강조 한 단어에만 사용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324"/>
                </a:solidFill>
              </a:rPr>
              <a:t>블랙 배경 히어로는 쓰지 않습니다 (그레이·모카 인솔이 칙칙해 보임)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324"/>
                </a:solidFill>
              </a:rPr>
              <a:t>제품 사진은 실물 색·형태 그대로. AI 이미지는 분위기 연출용으로만, "AI 연출" 표기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324"/>
                </a:solidFill>
              </a:rPr>
              <a:t>라임 색값은 패키지 인쇄색과 대조 후 최종 확정 예정 (현재 로고 기준 #C6F432)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표기·문구 통일과 금지 표현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846320"/>
                <a:gridCol w="4480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이렇게 써 주세요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쓰면 안 됨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D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324"/>
                          </a:solidFill>
                        </a:rPr>
                        <a:t>브랜드명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RHARA SHOE (영문 대문자) · 라라슈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RhaRa Shoe, Rhara Shoe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324"/>
                          </a:solidFill>
                        </a:rPr>
                        <a:t>제품명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쿼드그립 종일편한 워킹화 · 쿼드그립 아치가득 인솔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워크슈즈, 쿼드 그립(띄어쓰기)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324"/>
                          </a:solidFill>
                        </a:rPr>
                        <a:t>슬로건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Made for Standing.  /  발이 편해야, 일이 편하다.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서서 일하는 하루를 위해. (폐기)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324"/>
                          </a:solidFill>
                        </a:rPr>
                        <a:t>브랜드 스토리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확정본 v2 (p.11 부록 문장 그대로)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"친구 셋의 가게" 등 구 스토리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324"/>
                          </a:solidFill>
                        </a:rPr>
                        <a:t>효능·성능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구조·소재 사실만: 4점 그립 패드, 일체형 안창, 아치가득 구조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교정·통증·치료·피로 회복, 기능성, 아치 서포트/받쳐준다, 논슬립·미끄럼 방지, 충격 흡수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324"/>
                          </a:solidFill>
                        </a:rPr>
                        <a:t>비교·최상급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더 안정적인 보행, 폭신한 쿠션감, 최고, 100%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324"/>
                          </a:solidFill>
                        </a:rPr>
                        <a:t>환경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폐타이어 고무·실크벽지 PVC를 그립 패드 재생 원료로 사용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친환경, 타이어로 만든 신발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324"/>
                          </a:solidFill>
                        </a:rPr>
                        <a:t>인솔 필수 고지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의료기기가 아닙니다.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고지 누락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정형외과 원장 자문 노출 규칙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6B78"/>
                </a:solidFill>
              </a:rPr>
              <a:t>계약 승인 완료. 아래 위치·표기 규칙만 지켜 주세요.</a:t>
            </a:r>
            <a:endParaRPr lang="en-US" sz="1500" dirty="0"/>
          </a:p>
        </p:txBody>
      </p:sp>
      <p:sp>
        <p:nvSpPr>
          <p:cNvPr id="4" name="doc0"/>
          <p:cNvSpPr/>
          <p:nvPr/>
        </p:nvSpPr>
        <p:spPr>
          <a:xfrm>
            <a:off x="548640" y="169164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3D30"/>
                </a:solidFill>
              </a:rPr>
              <a:t>넣는 곳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324"/>
                </a:solidFill>
              </a:rPr>
              <a:t>메인: 스크롤 중간 텍스트 띠 1줄 (모바일 4~5번째 화면 이후)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324"/>
                </a:solidFill>
              </a:rPr>
              <a:t>상세: 구조 설명 바로 뒤 "왜 이렇게 만들었나" 1블록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324"/>
                </a:solidFill>
              </a:rPr>
              <a:t>브랜드 스토리: 자문 과정 1섹션</a:t>
            </a:r>
            <a:endParaRPr lang="en-US" sz="1400" dirty="0"/>
          </a:p>
        </p:txBody>
      </p:sp>
      <p:sp>
        <p:nvSpPr>
          <p:cNvPr id="7" name="doc1"/>
          <p:cNvSpPr/>
          <p:nvPr/>
        </p:nvSpPr>
        <p:spPr>
          <a:xfrm>
            <a:off x="4297680" y="169164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3D30"/>
                </a:solidFill>
              </a:rPr>
              <a:t>표기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6888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324"/>
                </a:solidFill>
              </a:rPr>
              <a:t>"정형외과 전문의 이문홍 원장 — 설계 자문"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324"/>
                </a:solidFill>
              </a:rPr>
              <a:t>원장 이름 바로 아래 고지: "이문홍 원장은 ㈜알앤디메이커스의 제품 설계 자문에 참여하고 자문료를 받았습니다."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324"/>
                </a:solidFill>
              </a:rPr>
              <a:t>인용문은 원장이 실제로 말하고 검수한 문장만</a:t>
            </a:r>
            <a:endParaRPr lang="en-US" sz="1400" dirty="0"/>
          </a:p>
        </p:txBody>
      </p:sp>
      <p:sp>
        <p:nvSpPr>
          <p:cNvPr id="10" name="doc2"/>
          <p:cNvSpPr/>
          <p:nvPr/>
        </p:nvSpPr>
        <p:spPr>
          <a:xfrm>
            <a:off x="8046720" y="169164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261E"/>
                </a:solidFill>
              </a:rPr>
              <a:t>금지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46888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324"/>
                </a:solidFill>
              </a:rPr>
              <a:t>메인 첫 화면·팝업·대표 이미지·광고 소재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324"/>
                </a:solidFill>
              </a:rPr>
              <a:t>가격·구매 버튼 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324"/>
                </a:solidFill>
              </a:rPr>
              <a:t>"추천·보증·감수" 표현, 정면 흰 가운 단독 컷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오픈 전 필수: 법·결제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94944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요청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D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무통장입금 끄기 → 현금은 토스 가상계좌만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에스크로 적용 불가 방지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토스 가맹·에스크로 → 확인증 → 통신판매업 신고 → 하단 표시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서류는 저희가 준비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개인정보처리방침: 국외 이전 + 수탁자 목록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매스미디어·토스·알림톡·채널톡·택배사·라파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알림톡·문자 발송 연결 (현재 기록만, 실제 발송 0건)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주문·배송 알림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예약구매 시 발송 예정일 표시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전자상거래법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사업자 정보: 공동대표·호스팅 제공자, 약관·청약철회·사이즈 교환/반품 배송비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하단·구매 단계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실결제 시험: 카드·가상계좌 → 현금영수증 → 전액·부분 환불, 알림톡 수신, 백업 복구 1회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4"/>
                          </a:solidFill>
                        </a:rPr>
                        <a:t>11/20까지 완료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연동 요청: 픽셀·도메인·유입 측정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요청 내용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D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324"/>
                          </a:solidFill>
                        </a:rPr>
                        <a:t>메타 픽셀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324"/>
                          </a:solidFill>
                        </a:rPr>
                        <a:t>ID 1122007340240070 설치 (랜딩과 같은 픽셀) · 이벤트: PageView, ViewContent, AddToCart, InitiateCheckout, Purchase(금액·통화 포함)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324"/>
                          </a:solidFill>
                        </a:rPr>
                        <a:t>도메인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324"/>
                          </a:solidFill>
                        </a:rPr>
                        <a:t>rharashoe.com 연결에 필요한 DNS 값(A/CNAME)만 알려 주세요. 입력은 저희가 카페24에서 직접 합니다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324"/>
                          </a:solidFill>
                        </a:rPr>
                        <a:t>랜딩 연결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324"/>
                          </a:solidFill>
                        </a:rPr>
                        <a:t>랜딩 go.rharashoe.com 은 별도 운영 — 자사몰 메뉴·푸터에 링크만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324"/>
                          </a:solidFill>
                        </a:rPr>
                        <a:t>유입 측정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324"/>
                          </a:solidFill>
                        </a:rPr>
                        <a:t>?src= 값(kintex·insta·wadiz 등)을 주문 데이터에 남기기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324"/>
                          </a:solidFill>
                        </a:rPr>
                        <a:t>개인정보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324"/>
                          </a:solidFill>
                        </a:rPr>
                        <a:t>픽셀·애널리틱스 사용을 처리방침 "행태정보" 항목에 반영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소유·접근 정리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26B78"/>
                </a:solidFill>
              </a:rPr>
              <a:t>현재 미리보기(rharashoe.vercel.app)가 Vercel 로그인 보호로 막혀 저희가 확인할 수 없습니다.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B3261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지금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69164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324"/>
                </a:solidFill>
              </a:rPr>
              <a:t>대표 Vercel 계정 접근 요청 승인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324"/>
                </a:solidFill>
              </a:rPr>
              <a:t>내부 공유용 미리보기 링크(Shareable Link) 전달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073D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다음 주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20040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324"/>
                </a:solidFill>
              </a:rPr>
              <a:t>법인 카드 준비 후 프로젝트를 RHARA SHOE Vercel 팀으로 이전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324"/>
                </a:solidFill>
              </a:rPr>
              <a:t>소스코드 GitHub 저장소 소유권 이전, 이후 수정도 그 저장소에서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073D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이전 직후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470916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324"/>
                </a:solidFill>
              </a:rPr>
              <a:t>토스 키·DB 접속정보·이미지 저장소 토큰·환경변수 재발급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324"/>
                </a:solidFill>
              </a:rPr>
              <a:t>로그인 실패 잠금·중복 로그인 제한 켜기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324"/>
                </a:solidFill>
              </a:rPr>
              <a:t>검수 서버(운영 데이터 복사본) 삭제 시점 서면 확인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부록: 브랜드 스토리 v2 (확정본, 문장 수정 없이 사용)</a:t>
            </a:r>
            <a:endParaRPr lang="en-US" sz="3000" dirty="0"/>
          </a:p>
        </p:txBody>
      </p:sp>
      <p:sp>
        <p:nvSpPr>
          <p:cNvPr id="3" name="storyCard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2885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E2324"/>
                </a:solidFill>
              </a:rPr>
              <a:t>하루 7시간, 주방과 매장과 계산대 앞에 서 있는 사람들이 있습니다. 퇴근하면 신발부터 벗게 되는 그 발을 위해 라라슈를 시작했습니다.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E2324"/>
                </a:solidFill>
              </a:rPr>
              <a:t>라라슈는 정형외과 전문의 이문홍 원장의 설계 자문을 받아, 발이 바닥에 닿는 순서를 기준으로 4점 그립 패드의 위치를 정했습니다.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E2324"/>
                </a:solidFill>
              </a:rPr>
              <a:t>작업화처럼 보이지 않게 — 출근길에 신고 나와 근무 중에도, 퇴근길에도 그대로 신을 수 있도록 디자인했습니다.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E2324"/>
                </a:solidFill>
              </a:rPr>
              <a:t>그립 패드에는 폐타이어 고무와 실크벽지에서 분리한 PVC를 다시 원료로 썼습니다. 버려지던 자원이 매일 걷는 길이 되도록.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73D30"/>
                </a:solidFill>
              </a:rPr>
              <a:t>Made for Standing. RHARA SHOE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626B78"/>
                </a:solidFill>
              </a:rPr>
              <a:t>(원장 이름 바로 아래 고지) 이문홍 원장은 ㈜알앤디메이커스의 제품 설계 자문에 참여하고 자문료를 받았습니다.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2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11/3(월)까지 회신 부탁드립니다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① 항목별 반영 가능 일정  ② Vercel 접근 승인·공유 링크  ③ DNS 연결값  ④ 결제 테스트 일정(11/20 이전)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HARA SHOE">
  <a:themeElements>
    <a:clrScheme name="RHARA SHOE">
      <a:dk1>
        <a:srgbClr val="1E2324"/>
      </a:dk1>
      <a:lt1>
        <a:srgbClr val="FFFFFF"/>
      </a:lt1>
      <a:dk2>
        <a:srgbClr val="073D30"/>
      </a:dk2>
      <a:lt2>
        <a:srgbClr val="F5F5F0"/>
      </a:lt2>
      <a:accent1>
        <a:srgbClr val="073D30"/>
      </a:accent1>
      <a:accent2>
        <a:srgbClr val="C6F432"/>
      </a:accent2>
      <a:accent3>
        <a:srgbClr val="626B78"/>
      </a:accent3>
      <a:accent4>
        <a:srgbClr val="8B7463"/>
      </a:accent4>
      <a:accent5>
        <a:srgbClr val="B3261E"/>
      </a:accent5>
      <a:accent6>
        <a:srgbClr val="E8A317"/>
      </a:accent6>
      <a:hlink>
        <a:srgbClr val="073D30"/>
      </a:hlink>
      <a:folHlink>
        <a:srgbClr val="626B78"/>
      </a:folHlink>
    </a:clrScheme>
    <a:fontScheme name="RHARA SHO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라라슈 자사몰 수정 요청서</dc:title>
  <dc:subject>PptxGenJS Presentation</dc:subject>
  <dc:creator>알앤디메이커스 RHARA SHOE</dc:creator>
  <cp:lastModifiedBy>알앤디메이커스 RHARA SHOE</cp:lastModifiedBy>
  <cp:revision>1</cp:revision>
  <dcterms:created xsi:type="dcterms:W3CDTF">2026-10-30T16:25:09Z</dcterms:created>
  <dcterms:modified xsi:type="dcterms:W3CDTF">2026-10-30T16:25:09Z</dcterms:modified>
</cp:coreProperties>
</file>